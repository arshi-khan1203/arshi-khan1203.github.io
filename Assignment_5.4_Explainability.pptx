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36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48640" y="12801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Pre-Trained Model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Matrix for Model Selection Across Domains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|  Generative AI  |  Computer Vision  |  Tabular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  |  Indiana Wesleyan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Introduction: Why Model Selection Matters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395935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of Model Selection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right pre-trained model is one of the most consequential decisions in any AI project. Models differ significantly across three core dimensions: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Number of parameters and memory footprint directly affect deployment feasibility, especially in resource-constrained environments.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Benchmark performance determines whether a model meets the quality threshold required for real-world application.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Inference latency and throughput determine whether a model can operate within acceptable response time requirements.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5097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30368" y="9326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and Generative AI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13441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BERT and GPT-4 excel at language understanding and generation. Trade-offs center on size vs. reasoning depth.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042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2286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00600" y="2697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MobileNet prioritize speed and efficiency for image tasks, balancing accuracy against computational cost.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354787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6576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3639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Tabular Data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00600" y="40507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XGBoost offer strong performance and high interpretability on structured data with minimal resource requirements.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Bommasani et al. (2021). On the opportunities and risks of foundation models. arXiv:2108.07258.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Profiles: Size, Accuracy and Speed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57400" cy="399592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7782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822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143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6002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16002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8328" y="185623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parameters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~440 MB memory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58775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" y="258775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38328" y="28437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F1: 88.5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Score: 79.6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57530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2648" y="357530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338328" y="383133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~10ms per token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latency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423160" y="804672"/>
            <a:ext cx="2057400" cy="399592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2423160" y="804672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877824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880360" y="822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2880360" y="1143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60020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807208" y="16002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2532888" y="185623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~1.8T parameters (est.)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only</a:t>
            </a:r>
            <a:endParaRPr lang="en-US" sz="9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2587752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807208" y="258775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2532888" y="28437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MMLU: 86.4%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HumanEval: 67%</a:t>
            </a:r>
            <a:endParaRPr lang="en-US" sz="9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3575304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807208" y="357530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2532888" y="383133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~500ms avg response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API-dependent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4617720" y="804672"/>
            <a:ext cx="2057400" cy="399592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617720" y="804672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877824"/>
            <a:ext cx="320040" cy="32004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074920" y="822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5074920" y="1143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600200"/>
            <a:ext cx="228600" cy="2286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001768" y="16002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4727448" y="185623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 parameters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MB memory</a:t>
            </a:r>
            <a:endParaRPr lang="en-US" sz="9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587752"/>
            <a:ext cx="228600" cy="22860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001768" y="258775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42" name="Text 29"/>
          <p:cNvSpPr/>
          <p:nvPr/>
        </p:nvSpPr>
        <p:spPr>
          <a:xfrm>
            <a:off x="4727448" y="28437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Top-1: 70.6%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baseline</a:t>
            </a:r>
            <a:endParaRPr lang="en-US" sz="95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575304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001768" y="357530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45" name="Text 31"/>
          <p:cNvSpPr/>
          <p:nvPr/>
        </p:nvSpPr>
        <p:spPr>
          <a:xfrm>
            <a:off x="4727448" y="383133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 on mobile CPU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capable</a:t>
            </a:r>
            <a:endParaRPr lang="en-US" sz="950" dirty="0"/>
          </a:p>
        </p:txBody>
      </p:sp>
      <p:sp>
        <p:nvSpPr>
          <p:cNvPr id="46" name="Shape 32"/>
          <p:cNvSpPr/>
          <p:nvPr/>
        </p:nvSpPr>
        <p:spPr>
          <a:xfrm>
            <a:off x="6812280" y="804672"/>
            <a:ext cx="2057400" cy="404926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3"/>
          <p:cNvSpPr/>
          <p:nvPr/>
        </p:nvSpPr>
        <p:spPr>
          <a:xfrm>
            <a:off x="6812280" y="804672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877824"/>
            <a:ext cx="320040" cy="32004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7269480" y="822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50" name="Text 35"/>
          <p:cNvSpPr/>
          <p:nvPr/>
        </p:nvSpPr>
        <p:spPr>
          <a:xfrm>
            <a:off x="7269480" y="1143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</a:t>
            </a:r>
            <a:endParaRPr lang="en-US" sz="90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600200"/>
            <a:ext cx="228600" cy="22860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7196328" y="16002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53" name="Text 37"/>
          <p:cNvSpPr/>
          <p:nvPr/>
        </p:nvSpPr>
        <p:spPr>
          <a:xfrm>
            <a:off x="6922008" y="185623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parameter count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Tree-based, minimal RAM</a:t>
            </a:r>
            <a:endParaRPr lang="en-US" sz="95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2587752"/>
            <a:ext cx="228600" cy="22860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7196328" y="258775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56" name="Text 39"/>
          <p:cNvSpPr/>
          <p:nvPr/>
        </p:nvSpPr>
        <p:spPr>
          <a:xfrm>
            <a:off x="6922008" y="28437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wins: 100+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Task-dependent AUC 0.85+</a:t>
            </a:r>
            <a:endParaRPr lang="en-US" sz="95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3575304"/>
            <a:ext cx="228600" cy="22860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7196328" y="357530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59" name="Text 41"/>
          <p:cNvSpPr/>
          <p:nvPr/>
        </p:nvSpPr>
        <p:spPr>
          <a:xfrm>
            <a:off x="6922008" y="383133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 per prediction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inference</a:t>
            </a:r>
            <a:endParaRPr lang="en-US" sz="950" dirty="0"/>
          </a:p>
        </p:txBody>
      </p:sp>
      <p:sp>
        <p:nvSpPr>
          <p:cNvPr id="60" name="Text 4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Devlin et al. (2019); OpenAI (2023); Howard &amp; Zoph (2017); Chen &amp; Guestrin (2016).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Matrix: Model Trade-Offs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777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7632" y="777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Fast / Small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777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777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777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777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Slow / Large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03920" cy="32572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(NLP)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(Gen 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(Tabular)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Requirements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coding: Green = favorable, Amber = moderate, Red = less favorable for resource-constrained deployments.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and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418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9144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- Best for NLP Classification Tasks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135331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BERT when the task involves text classification, named entity recognition, or question answering on domain-specific corpora. Its bidirectional context understanding delivers high accuracy at manageable compute cost. Fine-tune with a low learning rate on labeled domain data for best results. Not ideal when generation or long-form output is required.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3440" y="804672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94183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0368" y="9144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GPT-4 - Best for Complex Reasoning and Generation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00600" y="135331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GPT-4 when tasks require nuanced reasoning, multi-step logic, code generation, or creative content. Its scale delivers unmatched performance on complex prompts. However, its size and API dependency make it unsuitable for latency-sensitive or offline deployments. Cost per token should be factored into production planning.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74320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8803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8529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 - Best for Edge and Mobile Vision Tasks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11480" y="32918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MobileNet when deploying image classification on mobile devices, embedded systems, or IoT hardware where memory and battery constraints apply. Its extremely small footprint and real-time inference speed make it ideal for on-device AI. Accuracy trade-offs are acceptable for most consumer-facing visual applications.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663440" y="274320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8803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0368" y="28529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- Best for Structured Data and Interpretability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00600" y="32918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XGBoost when working with tabular or structured data, especially in regulated domains like finance, insurance, or healthcare where model interpretability is required. Its feature importance scores provide built-in explainability, and its speed makes it practical for real-time prediction pipelines. Not suitable for image or text tasks.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Model specifications drawn from published benchmarks, official documentation, and peer-reviewed literature. See References.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Bommasani, R., et al. (2021). On the opportunities and risks of foundation models. arXiv preprint arXiv:2108.07258.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Proceedings of the 22nd ACM SIGKDD, 785-794.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13969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Devlin, J., Chang, M. W., Lee, K., &amp; Toutanova, K. (2019). BERT: Pre-training of deep bidirectional transformers. NAACL-HLT 2019, 4171-4186.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61518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Howard, A. G., et al. (2017). MobileNets: Efficient convolutional neural networks for mobile vision applications. arXiv:1704.04861.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(2023). GPT-4 technical report. https://openai.com/research/gpt-4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S. J., &amp; Yang, Q. (2010). A survey on transfer learning. IEEE Transactions on Knowledge and Data Engineering, 22(10), 1345-1359.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Zhuang, F., et al. (2021). A comprehensive study of transfer learning. Proceedings of the IEEE, 109(1), 43-76.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923</Words>
  <Application>Microsoft Office PowerPoint</Application>
  <PresentationFormat>On-screen Show (16:9)</PresentationFormat>
  <Paragraphs>144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Pre-Trained Model Trade-Offs Decision Matrix</dc:title>
  <dc:subject>PptxGenJS Presentation</dc:subject>
  <dc:creator>PptxGenJS</dc:creator>
  <cp:lastModifiedBy>Arshi Khan</cp:lastModifiedBy>
  <cp:revision>2</cp:revision>
  <dcterms:created xsi:type="dcterms:W3CDTF">2026-06-18T21:09:43Z</dcterms:created>
  <dcterms:modified xsi:type="dcterms:W3CDTF">2026-06-19T20:16:44Z</dcterms:modified>
</cp:coreProperties>
</file>