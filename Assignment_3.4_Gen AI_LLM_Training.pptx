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Est. Cost (M USD)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2FD-47B5-B94F-C69186B9AD24}"/>
              </c:ext>
            </c:extLst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2FD-47B5-B94F-C69186B9AD24}"/>
              </c:ext>
            </c:extLst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2FD-47B5-B94F-C69186B9AD24}"/>
              </c:ext>
            </c:extLst>
          </c:dPt>
          <c:dPt>
            <c:idx val="3"/>
            <c:invertIfNegative val="0"/>
            <c:bubble3D val="0"/>
            <c:spPr>
              <a:solidFill>
                <a:srgbClr val="F6AE2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2FD-47B5-B94F-C69186B9AD2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GPT-4 (OpenAI)</c:v>
                </c:pt>
                <c:pt idx="1">
                  <c:v>Claude (Anthropic)</c:v>
                </c:pt>
                <c:pt idx="2">
                  <c:v>Gemini (Google)</c:v>
                </c:pt>
                <c:pt idx="3">
                  <c:v>LLaMA 2 (Meta)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75</c:v>
                </c:pt>
                <c:pt idx="1">
                  <c:v>60</c:v>
                </c:pt>
                <c:pt idx="2">
                  <c:v>65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2FD-47B5-B94F-C69186B9AD2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GPUs (thousands)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AF1-40FB-A92B-5B694FBE8285}"/>
              </c:ext>
            </c:extLst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AF1-40FB-A92B-5B694FBE8285}"/>
              </c:ext>
            </c:extLst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AF1-40FB-A92B-5B694FBE8285}"/>
              </c:ext>
            </c:extLst>
          </c:dPt>
          <c:dPt>
            <c:idx val="3"/>
            <c:invertIfNegative val="0"/>
            <c:bubble3D val="0"/>
            <c:spPr>
              <a:solidFill>
                <a:srgbClr val="F6AE2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AF1-40FB-A92B-5B694FBE828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GPT-3</c:v>
                </c:pt>
                <c:pt idx="1">
                  <c:v>GPT-4 (est.)</c:v>
                </c:pt>
                <c:pt idx="2">
                  <c:v>LLaMA 2-70B</c:v>
                </c:pt>
                <c:pt idx="3">
                  <c:v>Gemini Ultra (est.)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2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AF1-40FB-A92B-5B694FBE828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BB8C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1A3A4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BB8C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203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0980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1CAC4-C0EB-1AB4-FD51-2CCF89C08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54E9E5-8C22-A22A-110A-42425F03AE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BB288E-EEAC-2BCB-65E7-673FDA918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4069CD-CAA5-DEA6-05AE-20BC380294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3372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725758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36309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935905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5/28/2026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06201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799931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489651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75092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5/28/2026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72662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311245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972551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0456584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7487474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47916603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157647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680447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8098085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30281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0650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help.openai.com/en/articles/7842364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writings.stephenwolfram.com/2023/02" TargetMode="External"/><Relationship Id="rId5" Type="http://schemas.openxmlformats.org/officeDocument/2006/relationships/hyperlink" Target="https://arxiv.org/abs/2302.13971" TargetMode="External"/><Relationship Id="rId4" Type="http://schemas.openxmlformats.org/officeDocument/2006/relationships/hyperlink" Target="https://arxiv.org/abs/2104.1035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84848"/>
            <a:ext cx="1216152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73152"/>
            <a:ext cx="320040" cy="6711696"/>
          </a:xfrm>
          <a:prstGeom prst="rect">
            <a:avLst/>
          </a:prstGeom>
          <a:solidFill>
            <a:srgbClr val="028090">
              <a:alpha val="60000"/>
            </a:srgbClr>
          </a:solidFill>
          <a:ln w="12700">
            <a:solidFill>
              <a:srgbClr val="028090">
                <a:alpha val="6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0" y="457200"/>
            <a:ext cx="3200400" cy="32004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0" y="1097280"/>
            <a:ext cx="2286000" cy="2286000"/>
          </a:xfrm>
          <a:prstGeom prst="ellipse">
            <a:avLst/>
          </a:prstGeom>
          <a:solidFill>
            <a:srgbClr val="02C39A">
              <a:alpha val="25000"/>
            </a:srgbClr>
          </a:solidFill>
          <a:ln w="12700">
            <a:solidFill>
              <a:srgbClr val="02C39A">
                <a:alpha val="4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0" y="3474720"/>
            <a:ext cx="1828800" cy="1828800"/>
          </a:xfrm>
          <a:prstGeom prst="ellipse">
            <a:avLst/>
          </a:prstGeom>
          <a:solidFill>
            <a:srgbClr val="00A896">
              <a:alpha val="20000"/>
            </a:srgbClr>
          </a:solidFill>
          <a:ln w="12700">
            <a:solidFill>
              <a:srgbClr val="00A89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292608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716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PORTFOLIO ARTIFACT  |  AI/ML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Generative AI Large Language Models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548640" y="2633472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 Process &amp; Resource Costs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548640" y="3401568"/>
            <a:ext cx="41148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547872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A8D8E0"/>
                </a:solidFill>
                <a:latin typeface="Trebuchet MS" panose="020B0603020202020204" pitchFamily="34" charset="0"/>
                <a:ea typeface="Calibri" pitchFamily="34" charset="-122"/>
                <a:cs typeface="Calibri" pitchFamily="34" charset="-120"/>
              </a:rPr>
              <a:t>An in-depth analysis of how GPT-4, Claude, Gemini, and LLaMA are built from raw data to deployed intelligence and the extraordinary resources required.</a:t>
            </a:r>
            <a:endParaRPr lang="en-US" sz="1400" dirty="0">
              <a:latin typeface="Trebuchet MS" panose="020B0603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4572000"/>
            <a:ext cx="1554480" cy="411480"/>
          </a:xfrm>
          <a:prstGeom prst="roundRect">
            <a:avLst>
              <a:gd name="adj" fmla="val 17778"/>
            </a:avLst>
          </a:prstGeom>
          <a:solidFill>
            <a:srgbClr val="028090">
              <a:alpha val="80000"/>
            </a:srgbClr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572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GPT-4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377440" y="4572000"/>
            <a:ext cx="1554480" cy="411480"/>
          </a:xfrm>
          <a:prstGeom prst="roundRect">
            <a:avLst>
              <a:gd name="adj" fmla="val 17778"/>
            </a:avLst>
          </a:prstGeom>
          <a:solidFill>
            <a:srgbClr val="00A896">
              <a:alpha val="80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77440" y="4572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Claude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06240" y="4572000"/>
            <a:ext cx="1554480" cy="411480"/>
          </a:xfrm>
          <a:prstGeom prst="roundRect">
            <a:avLst>
              <a:gd name="adj" fmla="val 17778"/>
            </a:avLst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06240" y="4572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Gemini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35040" y="4572000"/>
            <a:ext cx="1554480" cy="411480"/>
          </a:xfrm>
          <a:prstGeom prst="roundRect">
            <a:avLst>
              <a:gd name="adj" fmla="val 17778"/>
            </a:avLst>
          </a:prstGeom>
          <a:solidFill>
            <a:srgbClr val="F6AE2D">
              <a:alpha val="80000"/>
            </a:srgbClr>
          </a:solidFill>
          <a:ln w="12700">
            <a:solidFill>
              <a:srgbClr val="F6AE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5040" y="4572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LLaMA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48640" y="63093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/>
              <a:t>Training Infrastructure  |  Data Acquisition  |  Compute Power  |  Energy  |  Time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LLM TRAINING PIPELINE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2C39A"/>
                </a:solidFill>
              </a:rPr>
              <a:t>From Raw Data to Deployed 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594360"/>
            <a:ext cx="17830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594360"/>
            <a:ext cx="178308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0100" y="1097280"/>
            <a:ext cx="640080" cy="6400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1207008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28600" y="6400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01752" y="1828800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Data Collection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20040" y="228600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Web crawls, books,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code repos, licensed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datasets. Petabytes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of raw text.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020824" y="2331720"/>
            <a:ext cx="118872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84832" y="594360"/>
            <a:ext cx="17830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084832" y="594360"/>
            <a:ext cx="1783080" cy="4572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56332" y="1097280"/>
            <a:ext cx="640080" cy="6400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5204" y="1207008"/>
            <a:ext cx="402336" cy="40233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084832" y="6400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2157984" y="1828800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Data Filtering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2176272" y="228600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Deduplication,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quality filtering,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toxic content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removal.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3877056" y="2331720"/>
            <a:ext cx="118872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941064" y="594360"/>
            <a:ext cx="17830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3941064" y="594360"/>
            <a:ext cx="1783080" cy="457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512564" y="10972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1436" y="1207008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3941064" y="6400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4014216" y="1828800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Pre-Training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4032504" y="228600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</a:rPr>
              <a:t>Self-supervised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</a:rPr>
              <a:t>learning on massive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</a:rPr>
              <a:t>corpus. Next-token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</a:rPr>
              <a:t>prediction.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5733288" y="2331720"/>
            <a:ext cx="118872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797296" y="594360"/>
            <a:ext cx="17830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5797296" y="594360"/>
            <a:ext cx="178308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368796" y="1097280"/>
            <a:ext cx="640080" cy="6400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7668" y="1207008"/>
            <a:ext cx="402336" cy="402336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5797296" y="6400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5870448" y="1828800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Fine-Tuning (SFT)</a:t>
            </a:r>
            <a:endParaRPr lang="en-US" sz="1400" dirty="0"/>
          </a:p>
        </p:txBody>
      </p:sp>
      <p:sp>
        <p:nvSpPr>
          <p:cNvPr id="35" name="Text 29"/>
          <p:cNvSpPr/>
          <p:nvPr/>
        </p:nvSpPr>
        <p:spPr>
          <a:xfrm>
            <a:off x="5888736" y="228600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Supervised learning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on curated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instruction-response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pairs.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7589520" y="2331720"/>
            <a:ext cx="118872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7653528" y="594360"/>
            <a:ext cx="17830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7653528" y="594360"/>
            <a:ext cx="1783080" cy="4572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8225028" y="1097280"/>
            <a:ext cx="640080" cy="6400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3900" y="1207008"/>
            <a:ext cx="402336" cy="40233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7653528" y="6400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42" name="Text 35"/>
          <p:cNvSpPr/>
          <p:nvPr/>
        </p:nvSpPr>
        <p:spPr>
          <a:xfrm>
            <a:off x="7726680" y="1828800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RLHF Alignment</a:t>
            </a:r>
            <a:endParaRPr lang="en-US" sz="1400" dirty="0"/>
          </a:p>
        </p:txBody>
      </p:sp>
      <p:sp>
        <p:nvSpPr>
          <p:cNvPr id="43" name="Text 36"/>
          <p:cNvSpPr/>
          <p:nvPr/>
        </p:nvSpPr>
        <p:spPr>
          <a:xfrm>
            <a:off x="7744968" y="228600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Human feedback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ranks outputs.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Reward model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guides training.</a:t>
            </a:r>
            <a:endParaRPr lang="en-US" sz="1200" dirty="0"/>
          </a:p>
        </p:txBody>
      </p:sp>
      <p:sp>
        <p:nvSpPr>
          <p:cNvPr id="44" name="Shape 37"/>
          <p:cNvSpPr/>
          <p:nvPr/>
        </p:nvSpPr>
        <p:spPr>
          <a:xfrm>
            <a:off x="9445752" y="2331720"/>
            <a:ext cx="118872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9509760" y="594360"/>
            <a:ext cx="17830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9509760" y="594360"/>
            <a:ext cx="1783080" cy="457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7" name="Shape 40"/>
          <p:cNvSpPr/>
          <p:nvPr/>
        </p:nvSpPr>
        <p:spPr>
          <a:xfrm>
            <a:off x="10081260" y="10972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4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00132" y="1207008"/>
            <a:ext cx="402336" cy="402336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9509760" y="6400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50" name="Text 42"/>
          <p:cNvSpPr/>
          <p:nvPr/>
        </p:nvSpPr>
        <p:spPr>
          <a:xfrm>
            <a:off x="9582912" y="1828800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Deployment</a:t>
            </a:r>
            <a:endParaRPr lang="en-US" sz="1400" dirty="0"/>
          </a:p>
        </p:txBody>
      </p:sp>
      <p:sp>
        <p:nvSpPr>
          <p:cNvPr id="51" name="Text 43"/>
          <p:cNvSpPr/>
          <p:nvPr/>
        </p:nvSpPr>
        <p:spPr>
          <a:xfrm>
            <a:off x="9601200" y="228600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Safety testing,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API integration,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scaling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monitoring.</a:t>
            </a:r>
            <a:endParaRPr lang="en-US" sz="1200" dirty="0"/>
          </a:p>
        </p:txBody>
      </p:sp>
      <p:sp>
        <p:nvSpPr>
          <p:cNvPr id="52" name="Shape 44"/>
          <p:cNvSpPr/>
          <p:nvPr/>
        </p:nvSpPr>
        <p:spPr>
          <a:xfrm>
            <a:off x="228600" y="4160520"/>
            <a:ext cx="11704320" cy="1691640"/>
          </a:xfrm>
          <a:prstGeom prst="rect">
            <a:avLst/>
          </a:prstGeom>
          <a:solidFill>
            <a:srgbClr val="0A2342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3" name="Text 45"/>
          <p:cNvSpPr/>
          <p:nvPr/>
        </p:nvSpPr>
        <p:spPr>
          <a:xfrm>
            <a:off x="548640" y="436168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570 GB+</a:t>
            </a:r>
            <a:endParaRPr lang="en-US" sz="2200" dirty="0"/>
          </a:p>
        </p:txBody>
      </p:sp>
      <p:sp>
        <p:nvSpPr>
          <p:cNvPr id="54" name="Text 46"/>
          <p:cNvSpPr/>
          <p:nvPr/>
        </p:nvSpPr>
        <p:spPr>
          <a:xfrm>
            <a:off x="548640" y="49651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BB8C4"/>
                </a:solidFill>
              </a:rPr>
              <a:t>Training Data (GPT-3)</a:t>
            </a:r>
            <a:endParaRPr lang="en-US" sz="1200" dirty="0"/>
          </a:p>
        </p:txBody>
      </p:sp>
      <p:sp>
        <p:nvSpPr>
          <p:cNvPr id="55" name="Shape 47"/>
          <p:cNvSpPr/>
          <p:nvPr/>
        </p:nvSpPr>
        <p:spPr>
          <a:xfrm>
            <a:off x="3337560" y="4480560"/>
            <a:ext cx="18288" cy="1005840"/>
          </a:xfrm>
          <a:prstGeom prst="rect">
            <a:avLst/>
          </a:prstGeom>
          <a:solidFill>
            <a:srgbClr val="028090">
              <a:alpha val="50000"/>
            </a:srgbClr>
          </a:solidFill>
          <a:ln w="12700">
            <a:solidFill>
              <a:srgbClr val="028090">
                <a:alpha val="50000"/>
              </a:srgbClr>
            </a:solidFill>
            <a:prstDash val="solid"/>
          </a:ln>
        </p:spPr>
      </p:sp>
      <p:sp>
        <p:nvSpPr>
          <p:cNvPr id="56" name="Text 48"/>
          <p:cNvSpPr/>
          <p:nvPr/>
        </p:nvSpPr>
        <p:spPr>
          <a:xfrm>
            <a:off x="3474720" y="436168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$50-100M+</a:t>
            </a:r>
            <a:endParaRPr lang="en-US" sz="2200" dirty="0"/>
          </a:p>
        </p:txBody>
      </p:sp>
      <p:sp>
        <p:nvSpPr>
          <p:cNvPr id="57" name="Text 49"/>
          <p:cNvSpPr/>
          <p:nvPr/>
        </p:nvSpPr>
        <p:spPr>
          <a:xfrm>
            <a:off x="3474720" y="49651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BB8C4"/>
                </a:solidFill>
              </a:rPr>
              <a:t>Est. Training Cost (GPT-4)</a:t>
            </a:r>
            <a:endParaRPr lang="en-US" sz="1200" dirty="0"/>
          </a:p>
        </p:txBody>
      </p:sp>
      <p:sp>
        <p:nvSpPr>
          <p:cNvPr id="58" name="Shape 50"/>
          <p:cNvSpPr/>
          <p:nvPr/>
        </p:nvSpPr>
        <p:spPr>
          <a:xfrm>
            <a:off x="6263640" y="4480560"/>
            <a:ext cx="18288" cy="1005840"/>
          </a:xfrm>
          <a:prstGeom prst="rect">
            <a:avLst/>
          </a:prstGeom>
          <a:solidFill>
            <a:srgbClr val="028090">
              <a:alpha val="50000"/>
            </a:srgbClr>
          </a:solidFill>
          <a:ln w="12700">
            <a:solidFill>
              <a:srgbClr val="028090">
                <a:alpha val="50000"/>
              </a:srgbClr>
            </a:solidFill>
            <a:prstDash val="solid"/>
          </a:ln>
        </p:spPr>
      </p:sp>
      <p:sp>
        <p:nvSpPr>
          <p:cNvPr id="59" name="Text 51"/>
          <p:cNvSpPr/>
          <p:nvPr/>
        </p:nvSpPr>
        <p:spPr>
          <a:xfrm>
            <a:off x="6400800" y="436168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1,287 MWh</a:t>
            </a:r>
            <a:endParaRPr lang="en-US" sz="2200" dirty="0"/>
          </a:p>
        </p:txBody>
      </p:sp>
      <p:sp>
        <p:nvSpPr>
          <p:cNvPr id="60" name="Text 52"/>
          <p:cNvSpPr/>
          <p:nvPr/>
        </p:nvSpPr>
        <p:spPr>
          <a:xfrm>
            <a:off x="6400800" y="49651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BB8C4"/>
                </a:solidFill>
              </a:rPr>
              <a:t>Energy Used (GPT-3)</a:t>
            </a:r>
            <a:endParaRPr lang="en-US" sz="1200" dirty="0"/>
          </a:p>
        </p:txBody>
      </p:sp>
      <p:sp>
        <p:nvSpPr>
          <p:cNvPr id="61" name="Shape 53"/>
          <p:cNvSpPr/>
          <p:nvPr/>
        </p:nvSpPr>
        <p:spPr>
          <a:xfrm>
            <a:off x="9189720" y="4480560"/>
            <a:ext cx="18288" cy="1005840"/>
          </a:xfrm>
          <a:prstGeom prst="rect">
            <a:avLst/>
          </a:prstGeom>
          <a:solidFill>
            <a:srgbClr val="028090">
              <a:alpha val="50000"/>
            </a:srgbClr>
          </a:solidFill>
          <a:ln w="12700">
            <a:solidFill>
              <a:srgbClr val="028090">
                <a:alpha val="50000"/>
              </a:srgbClr>
            </a:solidFill>
            <a:prstDash val="solid"/>
          </a:ln>
        </p:spPr>
      </p:sp>
      <p:sp>
        <p:nvSpPr>
          <p:cNvPr id="62" name="Text 54"/>
          <p:cNvSpPr/>
          <p:nvPr/>
        </p:nvSpPr>
        <p:spPr>
          <a:xfrm>
            <a:off x="9326880" y="436168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3-6 Months</a:t>
            </a:r>
            <a:endParaRPr lang="en-US" sz="2200" dirty="0"/>
          </a:p>
        </p:txBody>
      </p:sp>
      <p:sp>
        <p:nvSpPr>
          <p:cNvPr id="63" name="Text 55"/>
          <p:cNvSpPr/>
          <p:nvPr/>
        </p:nvSpPr>
        <p:spPr>
          <a:xfrm>
            <a:off x="9326880" y="49651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BB8C4"/>
                </a:solidFill>
              </a:rPr>
              <a:t>Avg. Training Duration</a:t>
            </a:r>
            <a:endParaRPr lang="en-US" sz="1200" dirty="0"/>
          </a:p>
        </p:txBody>
      </p:sp>
      <p:sp>
        <p:nvSpPr>
          <p:cNvPr id="64" name="Shape 56"/>
          <p:cNvSpPr/>
          <p:nvPr/>
        </p:nvSpPr>
        <p:spPr>
          <a:xfrm>
            <a:off x="0" y="6355080"/>
            <a:ext cx="12161520" cy="502920"/>
          </a:xfrm>
          <a:prstGeom prst="rect">
            <a:avLst/>
          </a:prstGeom>
          <a:solidFill>
            <a:srgbClr val="0A2342">
              <a:alpha val="10000"/>
            </a:srgbClr>
          </a:solidFill>
          <a:ln w="12700">
            <a:solidFill>
              <a:srgbClr val="E0F4F6"/>
            </a:solidFill>
            <a:prstDash val="solid"/>
          </a:ln>
        </p:spPr>
      </p:sp>
      <p:sp>
        <p:nvSpPr>
          <p:cNvPr id="65" name="Text 57"/>
          <p:cNvSpPr/>
          <p:nvPr/>
        </p:nvSpPr>
        <p:spPr>
          <a:xfrm>
            <a:off x="274320" y="6355080"/>
            <a:ext cx="1161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/>
              <a:t>Pre-training alone can take weeks to months on thousands of specialized GPUs, making it the most compute-intensive stage of the entire pipeline.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RESOURCE CATEGORIES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2C39A"/>
                </a:solidFill>
              </a:rPr>
              <a:t>The Four Pillars of LLM Training Cost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594360"/>
            <a:ext cx="5669280" cy="2651760"/>
          </a:xfrm>
          <a:prstGeom prst="rect">
            <a:avLst/>
          </a:prstGeom>
          <a:solidFill>
            <a:srgbClr val="0D3A47"/>
          </a:solidFill>
          <a:ln w="19050">
            <a:solidFill>
              <a:srgbClr val="02809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594360"/>
            <a:ext cx="64008" cy="26517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77724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7589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429000" y="7040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028090"/>
                </a:solidFill>
              </a:rPr>
              <a:t>570 GB+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429000" y="1124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AABB"/>
                </a:solidFill>
              </a:rPr>
              <a:t>filtered training text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65760" y="1344168"/>
            <a:ext cx="5394960" cy="18288"/>
          </a:xfrm>
          <a:prstGeom prst="rect">
            <a:avLst/>
          </a:prstGeom>
          <a:solidFill>
            <a:srgbClr val="028090">
              <a:alpha val="40000"/>
            </a:srgbClr>
          </a:solidFill>
          <a:ln w="12700">
            <a:solidFill>
              <a:srgbClr val="028090">
                <a:alpha val="40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11480" y="143560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  Common Crawl (web scrapes)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11480" y="1563624"/>
            <a:ext cx="82296" cy="822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11480" y="184708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  Books, Wikipedia, Reddit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11480" y="1975104"/>
            <a:ext cx="82296" cy="822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1480" y="225856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  Code repositories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11480" y="2386584"/>
            <a:ext cx="82296" cy="822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267004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  Licensed proprietary data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11480" y="2798064"/>
            <a:ext cx="82296" cy="822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45352" y="594360"/>
            <a:ext cx="5669280" cy="2651760"/>
          </a:xfrm>
          <a:prstGeom prst="rect">
            <a:avLst/>
          </a:prstGeom>
          <a:solidFill>
            <a:srgbClr val="0A3040"/>
          </a:solidFill>
          <a:ln w="19050">
            <a:solidFill>
              <a:srgbClr val="00A89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245352" y="594360"/>
            <a:ext cx="64008" cy="26517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777240"/>
            <a:ext cx="502920" cy="5029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022592" y="7589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</a:t>
            </a:r>
            <a:endParaRPr lang="en-US" sz="1500" dirty="0"/>
          </a:p>
        </p:txBody>
      </p:sp>
      <p:sp>
        <p:nvSpPr>
          <p:cNvPr id="24" name="Text 20"/>
          <p:cNvSpPr/>
          <p:nvPr/>
        </p:nvSpPr>
        <p:spPr>
          <a:xfrm>
            <a:off x="9445752" y="7040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00A896"/>
                </a:solidFill>
              </a:rPr>
              <a:t>$100M+</a:t>
            </a:r>
            <a:endParaRPr lang="en-US" sz="2000" dirty="0"/>
          </a:p>
        </p:txBody>
      </p:sp>
      <p:sp>
        <p:nvSpPr>
          <p:cNvPr id="25" name="Text 21"/>
          <p:cNvSpPr/>
          <p:nvPr/>
        </p:nvSpPr>
        <p:spPr>
          <a:xfrm>
            <a:off x="9445752" y="112471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AABB"/>
                </a:solidFill>
              </a:rPr>
              <a:t>estimated GPT-4 compute cost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382512" y="1344168"/>
            <a:ext cx="5394960" cy="18288"/>
          </a:xfrm>
          <a:prstGeom prst="rect">
            <a:avLst/>
          </a:prstGeom>
          <a:solidFill>
            <a:srgbClr val="00A896">
              <a:alpha val="40000"/>
            </a:srgbClr>
          </a:solidFill>
          <a:ln w="12700">
            <a:solidFill>
              <a:srgbClr val="00A896">
                <a:alpha val="4000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28232" y="143560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  Thousands of NVIDIA A100/H100 GPUs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428232" y="1563624"/>
            <a:ext cx="82296" cy="8229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428232" y="184708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  Custom TPU clusters (Google)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428232" y="1975104"/>
            <a:ext cx="82296" cy="8229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428232" y="225856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  Months of continuous runtime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28232" y="2386584"/>
            <a:ext cx="82296" cy="8229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428232" y="267004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  Distributed training across data centers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428232" y="2798064"/>
            <a:ext cx="82296" cy="8229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28600" y="3429000"/>
            <a:ext cx="5669280" cy="2651760"/>
          </a:xfrm>
          <a:prstGeom prst="rect">
            <a:avLst/>
          </a:prstGeom>
          <a:solidFill>
            <a:srgbClr val="2A2010"/>
          </a:solidFill>
          <a:ln w="19050">
            <a:solidFill>
              <a:srgbClr val="F6AE2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228600" y="3429000"/>
            <a:ext cx="64008" cy="2651760"/>
          </a:xfrm>
          <a:prstGeom prst="rect">
            <a:avLst/>
          </a:prstGeom>
          <a:solidFill>
            <a:srgbClr val="F6AE2D"/>
          </a:solidFill>
          <a:ln w="12700">
            <a:solidFill>
              <a:srgbClr val="F6AE2D"/>
            </a:solidFill>
            <a:prstDash val="solid"/>
          </a:ln>
        </p:spPr>
      </p:sp>
      <p:pic>
        <p:nvPicPr>
          <p:cNvPr id="3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611880"/>
            <a:ext cx="502920" cy="502920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1005840" y="35935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6AE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ENERGY</a:t>
            </a:r>
            <a:endParaRPr lang="en-US" sz="1500" dirty="0"/>
          </a:p>
        </p:txBody>
      </p:sp>
      <p:sp>
        <p:nvSpPr>
          <p:cNvPr id="39" name="Text 34"/>
          <p:cNvSpPr/>
          <p:nvPr/>
        </p:nvSpPr>
        <p:spPr>
          <a:xfrm>
            <a:off x="3429000" y="35387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F6AE2D"/>
                </a:solidFill>
              </a:rPr>
              <a:t>1,287 MWh</a:t>
            </a:r>
            <a:endParaRPr lang="en-US" sz="2000" dirty="0"/>
          </a:p>
        </p:txBody>
      </p:sp>
      <p:sp>
        <p:nvSpPr>
          <p:cNvPr id="40" name="Text 35"/>
          <p:cNvSpPr/>
          <p:nvPr/>
        </p:nvSpPr>
        <p:spPr>
          <a:xfrm>
            <a:off x="3429000" y="395935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AABB"/>
                </a:solidFill>
              </a:rPr>
              <a:t>GPT-3 training energy use</a:t>
            </a:r>
            <a:endParaRPr lang="en-US" sz="1200" dirty="0"/>
          </a:p>
        </p:txBody>
      </p:sp>
      <p:sp>
        <p:nvSpPr>
          <p:cNvPr id="41" name="Shape 36"/>
          <p:cNvSpPr/>
          <p:nvPr/>
        </p:nvSpPr>
        <p:spPr>
          <a:xfrm>
            <a:off x="365760" y="4178808"/>
            <a:ext cx="5394960" cy="18288"/>
          </a:xfrm>
          <a:prstGeom prst="rect">
            <a:avLst/>
          </a:prstGeom>
          <a:solidFill>
            <a:srgbClr val="F6AE2D">
              <a:alpha val="40000"/>
            </a:srgbClr>
          </a:solidFill>
          <a:ln w="12700">
            <a:solidFill>
              <a:srgbClr val="F6AE2D">
                <a:alpha val="40000"/>
              </a:srgbClr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411480" y="427024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  Equivalent to ~120 US homes/year</a:t>
            </a:r>
            <a:endParaRPr lang="en-US" sz="1400" dirty="0"/>
          </a:p>
        </p:txBody>
      </p:sp>
      <p:sp>
        <p:nvSpPr>
          <p:cNvPr id="43" name="Shape 38"/>
          <p:cNvSpPr/>
          <p:nvPr/>
        </p:nvSpPr>
        <p:spPr>
          <a:xfrm>
            <a:off x="411480" y="4398264"/>
            <a:ext cx="82296" cy="82296"/>
          </a:xfrm>
          <a:prstGeom prst="ellipse">
            <a:avLst/>
          </a:prstGeom>
          <a:solidFill>
            <a:srgbClr val="F6AE2D"/>
          </a:solidFill>
          <a:ln w="12700">
            <a:solidFill>
              <a:srgbClr val="F6AE2D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411480" y="468172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  Significant CO2 carbon footprint</a:t>
            </a:r>
            <a:endParaRPr lang="en-US" sz="1400" dirty="0"/>
          </a:p>
        </p:txBody>
      </p:sp>
      <p:sp>
        <p:nvSpPr>
          <p:cNvPr id="45" name="Shape 40"/>
          <p:cNvSpPr/>
          <p:nvPr/>
        </p:nvSpPr>
        <p:spPr>
          <a:xfrm>
            <a:off x="411480" y="4809744"/>
            <a:ext cx="82296" cy="82296"/>
          </a:xfrm>
          <a:prstGeom prst="ellipse">
            <a:avLst/>
          </a:prstGeom>
          <a:solidFill>
            <a:srgbClr val="F6AE2D"/>
          </a:solidFill>
          <a:ln w="12700">
            <a:solidFill>
              <a:srgbClr val="F6AE2D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411480" y="509320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  Cooling infrastructure costs</a:t>
            </a:r>
            <a:endParaRPr lang="en-US" sz="1400" dirty="0"/>
          </a:p>
        </p:txBody>
      </p:sp>
      <p:sp>
        <p:nvSpPr>
          <p:cNvPr id="47" name="Shape 42"/>
          <p:cNvSpPr/>
          <p:nvPr/>
        </p:nvSpPr>
        <p:spPr>
          <a:xfrm>
            <a:off x="411480" y="5221224"/>
            <a:ext cx="82296" cy="82296"/>
          </a:xfrm>
          <a:prstGeom prst="ellipse">
            <a:avLst/>
          </a:prstGeom>
          <a:solidFill>
            <a:srgbClr val="F6AE2D"/>
          </a:solidFill>
          <a:ln w="12700">
            <a:solidFill>
              <a:srgbClr val="F6AE2D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411480" y="550468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  Renewable energy initiatives underway</a:t>
            </a:r>
            <a:endParaRPr lang="en-US" sz="1400" dirty="0"/>
          </a:p>
        </p:txBody>
      </p:sp>
      <p:sp>
        <p:nvSpPr>
          <p:cNvPr id="49" name="Shape 44"/>
          <p:cNvSpPr/>
          <p:nvPr/>
        </p:nvSpPr>
        <p:spPr>
          <a:xfrm>
            <a:off x="411480" y="5632704"/>
            <a:ext cx="82296" cy="82296"/>
          </a:xfrm>
          <a:prstGeom prst="ellipse">
            <a:avLst/>
          </a:prstGeom>
          <a:solidFill>
            <a:srgbClr val="F6AE2D"/>
          </a:solidFill>
          <a:ln w="12700">
            <a:solidFill>
              <a:srgbClr val="F6AE2D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6245352" y="3429000"/>
            <a:ext cx="5669280" cy="2651760"/>
          </a:xfrm>
          <a:prstGeom prst="rect">
            <a:avLst/>
          </a:prstGeom>
          <a:solidFill>
            <a:srgbClr val="0A2E2A"/>
          </a:solidFill>
          <a:ln w="19050">
            <a:solidFill>
              <a:srgbClr val="02C39A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1" name="Shape 46"/>
          <p:cNvSpPr/>
          <p:nvPr/>
        </p:nvSpPr>
        <p:spPr>
          <a:xfrm>
            <a:off x="6245352" y="3429000"/>
            <a:ext cx="64008" cy="26517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5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611880"/>
            <a:ext cx="502920" cy="502920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7022592" y="35935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445752" y="35387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02C39A"/>
                </a:solidFill>
              </a:rPr>
              <a:t>Weeks–Months</a:t>
            </a:r>
            <a:endParaRPr lang="en-US" sz="2000" dirty="0"/>
          </a:p>
        </p:txBody>
      </p:sp>
      <p:sp>
        <p:nvSpPr>
          <p:cNvPr id="55" name="Text 49"/>
          <p:cNvSpPr/>
          <p:nvPr/>
        </p:nvSpPr>
        <p:spPr>
          <a:xfrm>
            <a:off x="9445752" y="395935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AABB"/>
                </a:solidFill>
              </a:rPr>
              <a:t>pre-training duration</a:t>
            </a:r>
            <a:endParaRPr lang="en-US" sz="1200" dirty="0"/>
          </a:p>
        </p:txBody>
      </p:sp>
      <p:sp>
        <p:nvSpPr>
          <p:cNvPr id="56" name="Shape 50"/>
          <p:cNvSpPr/>
          <p:nvPr/>
        </p:nvSpPr>
        <p:spPr>
          <a:xfrm>
            <a:off x="6382512" y="4178808"/>
            <a:ext cx="5394960" cy="18288"/>
          </a:xfrm>
          <a:prstGeom prst="rect">
            <a:avLst/>
          </a:prstGeom>
          <a:solidFill>
            <a:srgbClr val="02C39A">
              <a:alpha val="40000"/>
            </a:srgbClr>
          </a:solidFill>
          <a:ln w="12700">
            <a:solidFill>
              <a:srgbClr val="02C39A">
                <a:alpha val="40000"/>
              </a:srgbClr>
            </a:solidFill>
            <a:prstDash val="solid"/>
          </a:ln>
        </p:spPr>
      </p:sp>
      <p:sp>
        <p:nvSpPr>
          <p:cNvPr id="57" name="Text 51"/>
          <p:cNvSpPr/>
          <p:nvPr/>
        </p:nvSpPr>
        <p:spPr>
          <a:xfrm>
            <a:off x="6428232" y="427024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  Pre-training: weeks to months</a:t>
            </a:r>
            <a:endParaRPr lang="en-US" sz="1400" dirty="0"/>
          </a:p>
        </p:txBody>
      </p:sp>
      <p:sp>
        <p:nvSpPr>
          <p:cNvPr id="58" name="Shape 52"/>
          <p:cNvSpPr/>
          <p:nvPr/>
        </p:nvSpPr>
        <p:spPr>
          <a:xfrm>
            <a:off x="6428232" y="4398264"/>
            <a:ext cx="82296" cy="822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9" name="Text 53"/>
          <p:cNvSpPr/>
          <p:nvPr/>
        </p:nvSpPr>
        <p:spPr>
          <a:xfrm>
            <a:off x="6428232" y="468172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  Fine-tuning: days to weeks</a:t>
            </a:r>
            <a:endParaRPr lang="en-US" sz="1400" dirty="0"/>
          </a:p>
        </p:txBody>
      </p:sp>
      <p:sp>
        <p:nvSpPr>
          <p:cNvPr id="60" name="Shape 54"/>
          <p:cNvSpPr/>
          <p:nvPr/>
        </p:nvSpPr>
        <p:spPr>
          <a:xfrm>
            <a:off x="6428232" y="4809744"/>
            <a:ext cx="82296" cy="822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1" name="Text 55"/>
          <p:cNvSpPr/>
          <p:nvPr/>
        </p:nvSpPr>
        <p:spPr>
          <a:xfrm>
            <a:off x="6428232" y="509320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  RLHF: iterative, ongoing</a:t>
            </a:r>
            <a:endParaRPr lang="en-US" sz="1400" dirty="0"/>
          </a:p>
        </p:txBody>
      </p:sp>
      <p:sp>
        <p:nvSpPr>
          <p:cNvPr id="62" name="Shape 56"/>
          <p:cNvSpPr/>
          <p:nvPr/>
        </p:nvSpPr>
        <p:spPr>
          <a:xfrm>
            <a:off x="6428232" y="5221224"/>
            <a:ext cx="82296" cy="822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3" name="Text 57"/>
          <p:cNvSpPr/>
          <p:nvPr/>
        </p:nvSpPr>
        <p:spPr>
          <a:xfrm>
            <a:off x="6428232" y="550468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  Total cycle: 6–18+ months</a:t>
            </a:r>
            <a:endParaRPr lang="en-US" sz="1400" dirty="0"/>
          </a:p>
        </p:txBody>
      </p:sp>
      <p:sp>
        <p:nvSpPr>
          <p:cNvPr id="64" name="Shape 58"/>
          <p:cNvSpPr/>
          <p:nvPr/>
        </p:nvSpPr>
        <p:spPr>
          <a:xfrm>
            <a:off x="6428232" y="5632704"/>
            <a:ext cx="82296" cy="822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COMPARISON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02C39A"/>
                </a:solidFill>
              </a:rPr>
              <a:t>GPT-4 | Claude | Gemini | LLaMA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28600" y="594360"/>
            <a:ext cx="1463040" cy="411480"/>
          </a:xfrm>
          <a:prstGeom prst="rect">
            <a:avLst/>
          </a:prstGeom>
          <a:solidFill>
            <a:srgbClr val="0A2342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5943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Model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691640" y="594360"/>
            <a:ext cx="1463040" cy="411480"/>
          </a:xfrm>
          <a:prstGeom prst="rect">
            <a:avLst/>
          </a:prstGeom>
          <a:solidFill>
            <a:srgbClr val="0A2342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91640" y="5943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Developer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54680" y="594360"/>
            <a:ext cx="1554480" cy="411480"/>
          </a:xfrm>
          <a:prstGeom prst="rect">
            <a:avLst/>
          </a:prstGeom>
          <a:solidFill>
            <a:srgbClr val="0A2342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54680" y="5943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Parameters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709160" y="594360"/>
            <a:ext cx="2011680" cy="411480"/>
          </a:xfrm>
          <a:prstGeom prst="rect">
            <a:avLst/>
          </a:prstGeom>
          <a:solidFill>
            <a:srgbClr val="0A2342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594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Est. Training Cost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720840" y="594360"/>
            <a:ext cx="1828800" cy="411480"/>
          </a:xfrm>
          <a:prstGeom prst="rect">
            <a:avLst/>
          </a:prstGeom>
          <a:solidFill>
            <a:srgbClr val="0A2342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0840" y="594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Energy Use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49640" y="594360"/>
            <a:ext cx="3520440" cy="411480"/>
          </a:xfrm>
          <a:prstGeom prst="rect">
            <a:avLst/>
          </a:prstGeom>
          <a:solidFill>
            <a:srgbClr val="0A2342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49640" y="5943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Key Data Sources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28600" y="1078992"/>
            <a:ext cx="1463040" cy="914400"/>
          </a:xfrm>
          <a:prstGeom prst="rect">
            <a:avLst/>
          </a:prstGeom>
          <a:solidFill>
            <a:srgbClr val="F8FFFE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" y="1078992"/>
            <a:ext cx="64008" cy="9144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" y="1078992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GPT-4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691640" y="1078992"/>
            <a:ext cx="1463040" cy="914400"/>
          </a:xfrm>
          <a:prstGeom prst="rect">
            <a:avLst/>
          </a:prstGeom>
          <a:solidFill>
            <a:srgbClr val="F8FFFE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737360" y="1078992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OpenAI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54680" y="1078992"/>
            <a:ext cx="1554480" cy="914400"/>
          </a:xfrm>
          <a:prstGeom prst="rect">
            <a:avLst/>
          </a:prstGeom>
          <a:solidFill>
            <a:srgbClr val="F8FFFE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0" y="1078992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~1 Trillion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(est.)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709160" y="1078992"/>
            <a:ext cx="2011680" cy="914400"/>
          </a:xfrm>
          <a:prstGeom prst="rect">
            <a:avLst/>
          </a:prstGeom>
          <a:solidFill>
            <a:srgbClr val="F8FFFE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107899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$50M–$100M+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720840" y="1078992"/>
            <a:ext cx="1828800" cy="914400"/>
          </a:xfrm>
          <a:prstGeom prst="rect">
            <a:avLst/>
          </a:prstGeom>
          <a:solidFill>
            <a:srgbClr val="F8FFFE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1078992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Very High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549640" y="1078992"/>
            <a:ext cx="3520440" cy="914400"/>
          </a:xfrm>
          <a:prstGeom prst="rect">
            <a:avLst/>
          </a:prstGeom>
          <a:solidFill>
            <a:srgbClr val="F8FFFE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0" y="1078992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CommonCrawl, Books,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Code, Web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28600" y="2103120"/>
            <a:ext cx="1463040" cy="914400"/>
          </a:xfrm>
          <a:prstGeom prst="rect">
            <a:avLst/>
          </a:prstGeom>
          <a:solidFill>
            <a:srgbClr val="EDF7F8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8600" y="2103120"/>
            <a:ext cx="64008" cy="9144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" y="2103120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Claude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691640" y="2103120"/>
            <a:ext cx="1463040" cy="914400"/>
          </a:xfrm>
          <a:prstGeom prst="rect">
            <a:avLst/>
          </a:prstGeom>
          <a:solidFill>
            <a:srgbClr val="EDF7F8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37360" y="21031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Anthropic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154680" y="2103120"/>
            <a:ext cx="1554480" cy="914400"/>
          </a:xfrm>
          <a:prstGeom prst="rect">
            <a:avLst/>
          </a:prstGeom>
          <a:solidFill>
            <a:srgbClr val="EDF7F8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Undisclosed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709160" y="2103120"/>
            <a:ext cx="2011680" cy="914400"/>
          </a:xfrm>
          <a:prstGeom prst="rect">
            <a:avLst/>
          </a:prstGeom>
          <a:solidFill>
            <a:srgbClr val="EDF7F8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1031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Not disclosed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720840" y="2103120"/>
            <a:ext cx="1828800" cy="914400"/>
          </a:xfrm>
          <a:prstGeom prst="rect">
            <a:avLst/>
          </a:prstGeom>
          <a:solidFill>
            <a:srgbClr val="EDF7F8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66560" y="21031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Very High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8549640" y="2103120"/>
            <a:ext cx="3520440" cy="914400"/>
          </a:xfrm>
          <a:prstGeom prst="rect">
            <a:avLst/>
          </a:prstGeom>
          <a:solidFill>
            <a:srgbClr val="EDF7F8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595360" y="210312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Web, Books, RLHF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curated data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28600" y="3127248"/>
            <a:ext cx="1463040" cy="914400"/>
          </a:xfrm>
          <a:prstGeom prst="rect">
            <a:avLst/>
          </a:prstGeom>
          <a:solidFill>
            <a:srgbClr val="F8FFFE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28600" y="3127248"/>
            <a:ext cx="64008" cy="9144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" y="3127248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Gemini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1691640" y="3127248"/>
            <a:ext cx="1463040" cy="914400"/>
          </a:xfrm>
          <a:prstGeom prst="rect">
            <a:avLst/>
          </a:prstGeom>
          <a:solidFill>
            <a:srgbClr val="F8FFFE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737360" y="3127248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Google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154680" y="3127248"/>
            <a:ext cx="1554480" cy="914400"/>
          </a:xfrm>
          <a:prstGeom prst="rect">
            <a:avLst/>
          </a:prstGeom>
          <a:solidFill>
            <a:srgbClr val="F8FFFE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00400" y="3127248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Multimodal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(est. 1T+)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09160" y="3127248"/>
            <a:ext cx="2011680" cy="914400"/>
          </a:xfrm>
          <a:prstGeom prst="rect">
            <a:avLst/>
          </a:prstGeom>
          <a:solidFill>
            <a:srgbClr val="F8FFFE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54880" y="312724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Not disclosed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6720840" y="3127248"/>
            <a:ext cx="1828800" cy="914400"/>
          </a:xfrm>
          <a:prstGeom prst="rect">
            <a:avLst/>
          </a:prstGeom>
          <a:solidFill>
            <a:srgbClr val="F8FFFE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66560" y="3127248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Very High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8549640" y="3127248"/>
            <a:ext cx="3520440" cy="914400"/>
          </a:xfrm>
          <a:prstGeom prst="rect">
            <a:avLst/>
          </a:prstGeom>
          <a:solidFill>
            <a:srgbClr val="F8FFFE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595360" y="3127248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Web, YouTube,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Books, Code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228600" y="4151376"/>
            <a:ext cx="1463040" cy="914400"/>
          </a:xfrm>
          <a:prstGeom prst="rect">
            <a:avLst/>
          </a:prstGeom>
          <a:solidFill>
            <a:srgbClr val="EDF7F8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28600" y="4151376"/>
            <a:ext cx="64008" cy="914400"/>
          </a:xfrm>
          <a:prstGeom prst="rect">
            <a:avLst/>
          </a:prstGeom>
          <a:solidFill>
            <a:srgbClr val="F6AE2D"/>
          </a:solidFill>
          <a:ln w="12700">
            <a:solidFill>
              <a:srgbClr val="F6AE2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8328" y="4151376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LLaMA 2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1691640" y="4151376"/>
            <a:ext cx="1463040" cy="914400"/>
          </a:xfrm>
          <a:prstGeom prst="rect">
            <a:avLst/>
          </a:prstGeom>
          <a:solidFill>
            <a:srgbClr val="EDF7F8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737360" y="4151376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Meta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3154680" y="4151376"/>
            <a:ext cx="1554480" cy="914400"/>
          </a:xfrm>
          <a:prstGeom prst="rect">
            <a:avLst/>
          </a:prstGeom>
          <a:solidFill>
            <a:srgbClr val="EDF7F8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200400" y="4151376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7B–70B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4709160" y="4151376"/>
            <a:ext cx="2011680" cy="914400"/>
          </a:xfrm>
          <a:prstGeom prst="rect">
            <a:avLst/>
          </a:prstGeom>
          <a:solidFill>
            <a:srgbClr val="EDF7F8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754880" y="4151376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~$20M (est.)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6720840" y="4151376"/>
            <a:ext cx="1828800" cy="914400"/>
          </a:xfrm>
          <a:prstGeom prst="rect">
            <a:avLst/>
          </a:prstGeom>
          <a:solidFill>
            <a:srgbClr val="EDF7F8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66560" y="4151376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High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8549640" y="4151376"/>
            <a:ext cx="3520440" cy="914400"/>
          </a:xfrm>
          <a:prstGeom prst="rect">
            <a:avLst/>
          </a:prstGeom>
          <a:solidFill>
            <a:srgbClr val="EDF7F8"/>
          </a:solidFill>
          <a:ln w="6350">
            <a:solidFill>
              <a:srgbClr val="D1E8E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595360" y="4151376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CommonCrawl, C4,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Wikipedia, Books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228600" y="4892040"/>
            <a:ext cx="11841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320040" y="4956048"/>
            <a:ext cx="11521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Estimated Training Cost Comparison (USD Millions)</a:t>
            </a:r>
            <a:endParaRPr lang="en-US" sz="1400" dirty="0"/>
          </a:p>
        </p:txBody>
      </p:sp>
      <p:graphicFrame>
        <p:nvGraphicFramePr>
          <p:cNvPr id="71" name="Chart 0"/>
          <p:cNvGraphicFramePr/>
          <p:nvPr/>
        </p:nvGraphicFramePr>
        <p:xfrm>
          <a:off x="320040" y="5230368"/>
          <a:ext cx="11521440" cy="1234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2" name="Text 69"/>
          <p:cNvSpPr/>
          <p:nvPr/>
        </p:nvSpPr>
        <p:spPr>
          <a:xfrm>
            <a:off x="228600" y="6583680"/>
            <a:ext cx="1170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/>
              <a:t>* Estimates based on publicly available reports. Exact figures not disclosed by all companies.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3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 &amp; ENERGY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0A2342"/>
                </a:solidFill>
              </a:rPr>
              <a:t>The Hidden Cost of Intelligence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28600" y="685800"/>
            <a:ext cx="2743200" cy="1325880"/>
          </a:xfrm>
          <a:prstGeom prst="rect">
            <a:avLst/>
          </a:prstGeom>
          <a:solidFill>
            <a:srgbClr val="0D2035"/>
          </a:solidFill>
          <a:ln w="19050">
            <a:solidFill>
              <a:srgbClr val="02809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685800"/>
            <a:ext cx="27432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144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822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</a:rPr>
              <a:t>25,000+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38328" y="13716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BB8C4"/>
                </a:solidFill>
              </a:rPr>
              <a:t>NVIDIA A100 GPUs used for GPT-4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46120" y="685800"/>
            <a:ext cx="2743200" cy="1325880"/>
          </a:xfrm>
          <a:prstGeom prst="rect">
            <a:avLst/>
          </a:prstGeom>
          <a:solidFill>
            <a:srgbClr val="0D2035"/>
          </a:solidFill>
          <a:ln w="19050">
            <a:solidFill>
              <a:srgbClr val="02C39A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46120" y="685800"/>
            <a:ext cx="27432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9144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31920" y="822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</a:rPr>
              <a:t>~3 months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355848" y="13716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BB8C4"/>
                </a:solidFill>
              </a:rPr>
              <a:t>Estimated GPT-4 pre-training duration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228600" y="2194560"/>
            <a:ext cx="2743200" cy="1325880"/>
          </a:xfrm>
          <a:prstGeom prst="rect">
            <a:avLst/>
          </a:prstGeom>
          <a:solidFill>
            <a:srgbClr val="0D2035"/>
          </a:solidFill>
          <a:ln w="19050">
            <a:solidFill>
              <a:srgbClr val="F6AE2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228600" y="2194560"/>
            <a:ext cx="2743200" cy="54864"/>
          </a:xfrm>
          <a:prstGeom prst="rect">
            <a:avLst/>
          </a:prstGeom>
          <a:solidFill>
            <a:srgbClr val="F6AE2D"/>
          </a:solidFill>
          <a:ln w="12700">
            <a:solidFill>
              <a:srgbClr val="F6AE2D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242316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14400" y="2331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6AE2D"/>
                </a:solidFill>
              </a:rPr>
              <a:t>1,287 MWh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338328" y="28803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BB8C4"/>
                </a:solidFill>
              </a:rPr>
              <a:t>GPT-3 energy consumption during training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3246120" y="2194560"/>
            <a:ext cx="2743200" cy="1325880"/>
          </a:xfrm>
          <a:prstGeom prst="rect">
            <a:avLst/>
          </a:prstGeom>
          <a:solidFill>
            <a:srgbClr val="0D2035"/>
          </a:solidFill>
          <a:ln w="19050">
            <a:solidFill>
              <a:srgbClr val="00A89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46120" y="2194560"/>
            <a:ext cx="274320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2423160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3931920" y="2331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896"/>
                </a:solidFill>
              </a:rPr>
              <a:t>552 tCO2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3355848" y="28803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BB8C4"/>
                </a:solidFill>
              </a:rPr>
              <a:t>Estimated carbon footprint of GPT-3 training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6400800" y="594360"/>
            <a:ext cx="5532120" cy="3017520"/>
          </a:xfrm>
          <a:prstGeom prst="rect">
            <a:avLst/>
          </a:prstGeom>
          <a:solidFill>
            <a:srgbClr val="0D2035"/>
          </a:solidFill>
          <a:ln w="12700">
            <a:solidFill>
              <a:srgbClr val="02809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6492240" y="658368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GPU Requirements by Model</a:t>
            </a:r>
            <a:endParaRPr lang="en-US" sz="1100" dirty="0"/>
          </a:p>
        </p:txBody>
      </p:sp>
      <p:graphicFrame>
        <p:nvGraphicFramePr>
          <p:cNvPr id="27" name="Chart 0"/>
          <p:cNvGraphicFramePr/>
          <p:nvPr/>
        </p:nvGraphicFramePr>
        <p:xfrm>
          <a:off x="6492240" y="987552"/>
          <a:ext cx="534924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8" name="Shape 21"/>
          <p:cNvSpPr/>
          <p:nvPr/>
        </p:nvSpPr>
        <p:spPr>
          <a:xfrm>
            <a:off x="228600" y="3840480"/>
            <a:ext cx="11704320" cy="2651760"/>
          </a:xfrm>
          <a:prstGeom prst="rect">
            <a:avLst/>
          </a:prstGeom>
          <a:solidFill>
            <a:srgbClr val="0D2035"/>
          </a:solidFill>
          <a:ln w="12700">
            <a:solidFill>
              <a:srgbClr val="F6AE2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228600" y="3840480"/>
            <a:ext cx="11704320" cy="54864"/>
          </a:xfrm>
          <a:prstGeom prst="rect">
            <a:avLst/>
          </a:prstGeom>
          <a:solidFill>
            <a:srgbClr val="F6AE2D"/>
          </a:solidFill>
          <a:ln w="12700">
            <a:solidFill>
              <a:srgbClr val="F6AE2D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320040" y="391363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6AE2D"/>
                </a:solidFill>
              </a:rPr>
              <a:t>Energy &amp; Environmental Context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347472" y="4343400"/>
            <a:ext cx="109728" cy="109728"/>
          </a:xfrm>
          <a:prstGeom prst="ellipse">
            <a:avLst/>
          </a:prstGeom>
          <a:solidFill>
            <a:srgbClr val="F6AE2D"/>
          </a:solidFill>
          <a:ln w="12700">
            <a:solidFill>
              <a:srgbClr val="F6AE2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530352" y="427024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Training GPT-3 consumed energy equivalent to driving a car 700,000 miles.</a:t>
            </a:r>
            <a:endParaRPr lang="en-US" sz="1400" dirty="0"/>
          </a:p>
        </p:txBody>
      </p:sp>
      <p:sp>
        <p:nvSpPr>
          <p:cNvPr id="33" name="Shape 26"/>
          <p:cNvSpPr/>
          <p:nvPr/>
        </p:nvSpPr>
        <p:spPr>
          <a:xfrm>
            <a:off x="347472" y="4837176"/>
            <a:ext cx="109728" cy="1097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530352" y="4764024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GPT-4 training is estimated to have used over 50 million kWh of electricity.</a:t>
            </a:r>
            <a:endParaRPr lang="en-US" sz="1400" dirty="0"/>
          </a:p>
        </p:txBody>
      </p:sp>
      <p:sp>
        <p:nvSpPr>
          <p:cNvPr id="35" name="Shape 28"/>
          <p:cNvSpPr/>
          <p:nvPr/>
        </p:nvSpPr>
        <p:spPr>
          <a:xfrm>
            <a:off x="347472" y="5330952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530352" y="52578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Inference (running the model) also consumes significant energy often exceeding training costs over time</a:t>
            </a:r>
            <a:r>
              <a:rPr lang="en-US" sz="1050" dirty="0">
                <a:solidFill>
                  <a:srgbClr val="C8E0E8"/>
                </a:solidFill>
              </a:rPr>
              <a:t>.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347472" y="5824728"/>
            <a:ext cx="109728" cy="10972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530352" y="5751576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0E8"/>
                </a:solidFill>
              </a:rPr>
              <a:t>Major AI companies are investing in renewable energy and carbon offset programs to address this footprint.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457200"/>
            <a:ext cx="4114800" cy="4114800"/>
          </a:xfrm>
          <a:prstGeom prst="ellipse">
            <a:avLst/>
          </a:prstGeom>
          <a:solidFill>
            <a:srgbClr val="028090">
              <a:alpha val="1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3200400"/>
            <a:ext cx="2743200" cy="2743200"/>
          </a:xfrm>
          <a:prstGeom prst="ellipse">
            <a:avLst/>
          </a:prstGeom>
          <a:solidFill>
            <a:srgbClr val="02C39A">
              <a:alpha val="15000"/>
            </a:srgbClr>
          </a:solidFill>
          <a:ln w="12700">
            <a:solidFill>
              <a:srgbClr val="02C39A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80467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2C39A"/>
                </a:solidFill>
              </a:rPr>
              <a:t>What We Learned About LLM Training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9052560" cy="1143000"/>
          </a:xfrm>
          <a:prstGeom prst="rect">
            <a:avLst/>
          </a:prstGeom>
          <a:solidFill>
            <a:srgbClr val="0D2035"/>
          </a:solidFill>
          <a:ln w="12700">
            <a:solidFill>
              <a:srgbClr val="02809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325880"/>
            <a:ext cx="64008" cy="1143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581912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581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13258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</a:rPr>
              <a:t>Scale Demands Massive Resources</a:t>
            </a:r>
          </a:p>
        </p:txBody>
      </p:sp>
      <p:sp>
        <p:nvSpPr>
          <p:cNvPr id="12" name="Text 10"/>
          <p:cNvSpPr/>
          <p:nvPr/>
        </p:nvSpPr>
        <p:spPr>
          <a:xfrm>
            <a:off x="1280160" y="178308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DD6"/>
                </a:solidFill>
              </a:rPr>
              <a:t>Training frontier LLMs requires thousands of specialized GPUs, months of runtime, and investments exceeding $50-100M. This barrier limits who can build foundation models.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624328"/>
            <a:ext cx="9052560" cy="1143000"/>
          </a:xfrm>
          <a:prstGeom prst="rect">
            <a:avLst/>
          </a:prstGeom>
          <a:solidFill>
            <a:srgbClr val="0D2035"/>
          </a:solidFill>
          <a:ln w="12700">
            <a:solidFill>
              <a:srgbClr val="00A89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624328"/>
            <a:ext cx="64008" cy="11430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80160" y="2734056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</a:rPr>
              <a:t>Data Quality Drives 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3081528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DD6"/>
                </a:solidFill>
              </a:rPr>
              <a:t>More data is not always better. Curated, filtered, high-quality datasets consistently outperform larger but noisier corpora in producing reliable model outputs.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922776"/>
            <a:ext cx="9052560" cy="1143000"/>
          </a:xfrm>
          <a:prstGeom prst="rect">
            <a:avLst/>
          </a:prstGeom>
          <a:solidFill>
            <a:srgbClr val="0D2035"/>
          </a:solidFill>
          <a:ln w="12700">
            <a:solidFill>
              <a:srgbClr val="02C39A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922776"/>
            <a:ext cx="64008" cy="1143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178808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80160" y="4032504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</a:rPr>
              <a:t>RLHF is Essential for Safety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80160" y="4379976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DD6"/>
                </a:solidFill>
              </a:rPr>
              <a:t>Human feedback alignment (RLHF) is what transforms a raw language model into a helpful, safe, and usable product. It is iterative, expensive, and ongoing.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221224"/>
            <a:ext cx="9052560" cy="1143000"/>
          </a:xfrm>
          <a:prstGeom prst="rect">
            <a:avLst/>
          </a:prstGeom>
          <a:solidFill>
            <a:srgbClr val="0D2035"/>
          </a:solidFill>
          <a:ln w="12700">
            <a:solidFill>
              <a:srgbClr val="F6AE2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26" name="Shape 24"/>
          <p:cNvSpPr/>
          <p:nvPr/>
        </p:nvSpPr>
        <p:spPr>
          <a:xfrm>
            <a:off x="548640" y="5221224"/>
            <a:ext cx="64008" cy="1143000"/>
          </a:xfrm>
          <a:prstGeom prst="rect">
            <a:avLst/>
          </a:prstGeom>
          <a:solidFill>
            <a:srgbClr val="F6AE2D"/>
          </a:solidFill>
          <a:ln w="12700">
            <a:solidFill>
              <a:srgbClr val="F6AE2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5800" y="5477256"/>
            <a:ext cx="457200" cy="457200"/>
          </a:xfrm>
          <a:prstGeom prst="ellipse">
            <a:avLst/>
          </a:prstGeom>
          <a:solidFill>
            <a:srgbClr val="F6AE2D"/>
          </a:solidFill>
          <a:ln w="12700">
            <a:solidFill>
              <a:srgbClr val="F6AE2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5477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80160" y="5330952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6AE2D"/>
                </a:solidFill>
              </a:rPr>
              <a:t>Energy Costs Are Real and Growing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80160" y="5678424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DD6"/>
                </a:solidFill>
              </a:rPr>
              <a:t>The environmental footprint of AI training is significant and increasing. Responsible AI development requires transparency about energy use and investment in cleaner infrastructure.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028090">
              <a:alpha val="80000"/>
            </a:srgbClr>
          </a:solidFill>
          <a:ln w="12700">
            <a:solidFill>
              <a:srgbClr val="028090">
                <a:alpha val="8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649224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/>
              <a:t>Sources: OpenAI Technical Reports | Patterson et al. (2021) | Strubell et al. (2019) | Meta AI Research | Google DeepMind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8DC2D-9822-AEBA-9471-EBF5C2BC4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B161BC5-4892-604F-CAFB-934DC8B0DC5F}"/>
              </a:ext>
            </a:extLst>
          </p:cNvPr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239B085-6309-428C-B3D4-5BF910C95222}"/>
              </a:ext>
            </a:extLst>
          </p:cNvPr>
          <p:cNvSpPr/>
          <p:nvPr/>
        </p:nvSpPr>
        <p:spPr>
          <a:xfrm>
            <a:off x="0" y="6784848"/>
            <a:ext cx="1216152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51B2ECF-CED5-CD28-22C5-86E58F029608}"/>
              </a:ext>
            </a:extLst>
          </p:cNvPr>
          <p:cNvSpPr/>
          <p:nvPr/>
        </p:nvSpPr>
        <p:spPr>
          <a:xfrm>
            <a:off x="0" y="73152"/>
            <a:ext cx="320040" cy="6711696"/>
          </a:xfrm>
          <a:prstGeom prst="rect">
            <a:avLst/>
          </a:prstGeom>
          <a:solidFill>
            <a:srgbClr val="028090">
              <a:alpha val="60000"/>
            </a:srgbClr>
          </a:solidFill>
          <a:ln w="12700">
            <a:solidFill>
              <a:srgbClr val="028090">
                <a:alpha val="60000"/>
              </a:srgbClr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4556A59-F830-1A02-8711-4C93C69A959F}"/>
              </a:ext>
            </a:extLst>
          </p:cNvPr>
          <p:cNvSpPr/>
          <p:nvPr/>
        </p:nvSpPr>
        <p:spPr>
          <a:xfrm>
            <a:off x="8686800" y="457200"/>
            <a:ext cx="3200400" cy="32004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40000"/>
              </a:srgbClr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42BF08E-89D9-FFA1-2F75-EC97E972E80C}"/>
              </a:ext>
            </a:extLst>
          </p:cNvPr>
          <p:cNvSpPr/>
          <p:nvPr/>
        </p:nvSpPr>
        <p:spPr>
          <a:xfrm>
            <a:off x="9326880" y="1097280"/>
            <a:ext cx="2286000" cy="2286000"/>
          </a:xfrm>
          <a:prstGeom prst="ellipse">
            <a:avLst/>
          </a:prstGeom>
          <a:solidFill>
            <a:srgbClr val="02C39A">
              <a:alpha val="25000"/>
            </a:srgbClr>
          </a:solidFill>
          <a:ln w="12700">
            <a:solidFill>
              <a:srgbClr val="02C39A">
                <a:alpha val="4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6101CA5-9E42-215A-EB3E-4C4A01BE9505}"/>
              </a:ext>
            </a:extLst>
          </p:cNvPr>
          <p:cNvSpPr/>
          <p:nvPr/>
        </p:nvSpPr>
        <p:spPr>
          <a:xfrm>
            <a:off x="9875520" y="3474720"/>
            <a:ext cx="1828800" cy="1828800"/>
          </a:xfrm>
          <a:prstGeom prst="ellipse">
            <a:avLst/>
          </a:prstGeom>
          <a:solidFill>
            <a:srgbClr val="00A896">
              <a:alpha val="20000"/>
            </a:srgbClr>
          </a:solidFill>
          <a:ln w="12700">
            <a:solidFill>
              <a:srgbClr val="00A896">
                <a:alpha val="40000"/>
              </a:srgbClr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B6D8F15-8412-056B-137D-83D3DED29F9B}"/>
              </a:ext>
            </a:extLst>
          </p:cNvPr>
          <p:cNvSpPr/>
          <p:nvPr/>
        </p:nvSpPr>
        <p:spPr>
          <a:xfrm>
            <a:off x="640080" y="1366520"/>
            <a:ext cx="292608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26C27F2-F143-5088-9383-323A37B6EEEF}"/>
              </a:ext>
            </a:extLst>
          </p:cNvPr>
          <p:cNvSpPr/>
          <p:nvPr/>
        </p:nvSpPr>
        <p:spPr>
          <a:xfrm>
            <a:off x="548640" y="13716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References</a:t>
            </a:r>
            <a:endParaRPr lang="en-US" sz="1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140D937-9349-470D-BF6C-06AAFD8318F1}"/>
              </a:ext>
            </a:extLst>
          </p:cNvPr>
          <p:cNvSpPr/>
          <p:nvPr/>
        </p:nvSpPr>
        <p:spPr>
          <a:xfrm>
            <a:off x="548640" y="18745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Generative AI Large Language Models</a:t>
            </a:r>
            <a:endParaRPr lang="en-US" sz="38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C2A53A2-8DA3-8671-9ABD-4C1A92AEBD9F}"/>
              </a:ext>
            </a:extLst>
          </p:cNvPr>
          <p:cNvSpPr/>
          <p:nvPr/>
        </p:nvSpPr>
        <p:spPr>
          <a:xfrm>
            <a:off x="548640" y="3401568"/>
            <a:ext cx="41148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185D62B-6D45-10D8-025E-B7BFB9E56CCB}"/>
              </a:ext>
            </a:extLst>
          </p:cNvPr>
          <p:cNvSpPr/>
          <p:nvPr/>
        </p:nvSpPr>
        <p:spPr>
          <a:xfrm>
            <a:off x="594360" y="2204720"/>
            <a:ext cx="8046720" cy="3616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IN" sz="1400" dirty="0"/>
              <a:t>Brown, T., Mann, B., et al. (2020). Language models are few-shot learners. </a:t>
            </a:r>
            <a:r>
              <a:rPr lang="en-IN" sz="1400" i="1" dirty="0"/>
              <a:t>Advances in Neural Information Processing Systems, 33</a:t>
            </a:r>
            <a:r>
              <a:rPr lang="en-IN" sz="1400" dirty="0"/>
              <a:t>, 1877-1901.</a:t>
            </a:r>
          </a:p>
          <a:p>
            <a:endParaRPr lang="en-IN" sz="1400" dirty="0"/>
          </a:p>
          <a:p>
            <a:r>
              <a:rPr lang="en-IN" sz="1400" dirty="0"/>
              <a:t>OpenAI. (2025). How ChatGPT and our foundation models are developed. </a:t>
            </a:r>
            <a:r>
              <a:rPr lang="en-IN" sz="1400" dirty="0">
                <a:hlinkClick r:id="rId3"/>
              </a:rPr>
              <a:t>https://help.openai.com/en/articles/7842364</a:t>
            </a:r>
            <a:endParaRPr lang="en-IN" sz="1400" dirty="0"/>
          </a:p>
          <a:p>
            <a:endParaRPr lang="en-IN" sz="1400" dirty="0"/>
          </a:p>
          <a:p>
            <a:r>
              <a:rPr lang="en-IN" sz="1400" dirty="0"/>
              <a:t>Patterson, D., et al. (2021). Carbon emissions and large neural network training. </a:t>
            </a:r>
            <a:r>
              <a:rPr lang="en-IN" sz="1400" i="1" dirty="0" err="1"/>
              <a:t>arXiv</a:t>
            </a:r>
            <a:r>
              <a:rPr lang="en-IN" sz="1400" dirty="0"/>
              <a:t>. </a:t>
            </a:r>
            <a:r>
              <a:rPr lang="en-IN" sz="1400" dirty="0">
                <a:hlinkClick r:id="rId4"/>
              </a:rPr>
              <a:t>https://arxiv.org/abs/2104.10350</a:t>
            </a:r>
            <a:endParaRPr lang="en-IN" sz="1400" dirty="0"/>
          </a:p>
          <a:p>
            <a:endParaRPr lang="en-IN" sz="1400" dirty="0"/>
          </a:p>
          <a:p>
            <a:r>
              <a:rPr lang="en-IN" sz="1400" dirty="0" err="1"/>
              <a:t>Strubell</a:t>
            </a:r>
            <a:r>
              <a:rPr lang="en-IN" sz="1400" dirty="0"/>
              <a:t>, E., Ganesh, A., &amp; McCallum, A. (2019). Energy and policy considerations for deep learning in NLP. </a:t>
            </a:r>
            <a:r>
              <a:rPr lang="en-IN" sz="1400" i="1" dirty="0"/>
              <a:t>ACL 2019</a:t>
            </a:r>
            <a:r>
              <a:rPr lang="en-IN" sz="1400" dirty="0"/>
              <a:t>, 3645-3650.</a:t>
            </a:r>
          </a:p>
          <a:p>
            <a:endParaRPr lang="en-IN" sz="1400" dirty="0"/>
          </a:p>
          <a:p>
            <a:r>
              <a:rPr lang="en-IN" sz="1400" dirty="0" err="1"/>
              <a:t>Touvron</a:t>
            </a:r>
            <a:r>
              <a:rPr lang="en-IN" sz="1400" dirty="0"/>
              <a:t>, H., et al. (2023). </a:t>
            </a:r>
            <a:r>
              <a:rPr lang="en-IN" sz="1400" dirty="0" err="1"/>
              <a:t>LLaMA</a:t>
            </a:r>
            <a:r>
              <a:rPr lang="en-IN" sz="1400" dirty="0"/>
              <a:t>: Open and efficient foundation language models. </a:t>
            </a:r>
            <a:r>
              <a:rPr lang="en-IN" sz="1400" i="1" dirty="0" err="1"/>
              <a:t>arXiv</a:t>
            </a:r>
            <a:r>
              <a:rPr lang="en-IN" sz="1400" dirty="0"/>
              <a:t>. </a:t>
            </a:r>
            <a:r>
              <a:rPr lang="en-IN" sz="1400" dirty="0">
                <a:hlinkClick r:id="rId5"/>
              </a:rPr>
              <a:t>https://arxiv.org/abs/2302.13971</a:t>
            </a:r>
            <a:endParaRPr lang="en-IN" sz="1400" dirty="0"/>
          </a:p>
          <a:p>
            <a:endParaRPr lang="en-IN" sz="1400" dirty="0"/>
          </a:p>
          <a:p>
            <a:r>
              <a:rPr lang="en-IN" sz="1400" dirty="0"/>
              <a:t>Wolfram, S. (2023). What is ChatGPT doing and why does it work? </a:t>
            </a:r>
            <a:r>
              <a:rPr lang="en-IN" sz="1400" dirty="0">
                <a:hlinkClick r:id="rId6"/>
              </a:rPr>
              <a:t>https://writings.stephenwolfram.com/2023/02</a:t>
            </a:r>
            <a:endParaRPr lang="en-IN" sz="14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59A5BEB-C2BC-11D0-672F-595196C8F5FE}"/>
              </a:ext>
            </a:extLst>
          </p:cNvPr>
          <p:cNvSpPr/>
          <p:nvPr/>
        </p:nvSpPr>
        <p:spPr>
          <a:xfrm>
            <a:off x="548640" y="4572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GP4</a:t>
            </a:r>
            <a:endParaRPr lang="en-US" sz="12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97D1D1C-F1F3-3D33-762E-F55C8578DFA7}"/>
              </a:ext>
            </a:extLst>
          </p:cNvPr>
          <p:cNvSpPr/>
          <p:nvPr/>
        </p:nvSpPr>
        <p:spPr>
          <a:xfrm>
            <a:off x="6035040" y="4572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LLaMA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1403698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39</TotalTime>
  <Words>917</Words>
  <Application>Microsoft Office PowerPoint</Application>
  <PresentationFormat>Widescreen</PresentationFormat>
  <Paragraphs>179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Trebuchet MS</vt:lpstr>
      <vt:lpstr>Wingdings 3</vt:lpstr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Generative AI LLM Training: Process &amp; Resource Costs</dc:title>
  <dc:subject>PptxGenJS Presentation</dc:subject>
  <dc:creator>PptxGenJS</dc:creator>
  <cp:lastModifiedBy>Arshi Khan</cp:lastModifiedBy>
  <cp:revision>7</cp:revision>
  <dcterms:created xsi:type="dcterms:W3CDTF">2026-05-28T20:16:17Z</dcterms:created>
  <dcterms:modified xsi:type="dcterms:W3CDTF">2026-05-28T21:51:55Z</dcterms:modified>
</cp:coreProperties>
</file>