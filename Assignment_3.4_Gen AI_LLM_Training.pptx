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4" d="100"/>
          <a:sy n="64" d="100"/>
        </p:scale>
        <p:origin x="7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Est. Cost (M USD)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2FD-47B5-B94F-C69186B9AD24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2FD-47B5-B94F-C69186B9AD24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2FD-47B5-B94F-C69186B9AD24}"/>
              </c:ext>
            </c:extLst>
          </c:dPt>
          <c:dPt>
            <c:idx val="3"/>
            <c:invertIfNegative val="0"/>
            <c:bubble3D val="0"/>
            <c:spPr>
              <a:solidFill>
                <a:srgbClr val="F6AE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2FD-47B5-B94F-C69186B9AD2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GPT-4 (OpenAI)</c:v>
                </c:pt>
                <c:pt idx="1">
                  <c:v>Claude (Anthropic)</c:v>
                </c:pt>
                <c:pt idx="2">
                  <c:v>Gemini (Google)</c:v>
                </c:pt>
                <c:pt idx="3">
                  <c:v>LLaMA 2 (Meta)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60</c:v>
                </c:pt>
                <c:pt idx="2">
                  <c:v>65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2FD-47B5-B94F-C69186B9AD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GPUs (thousands)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AF1-40FB-A92B-5B694FBE8285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AF1-40FB-A92B-5B694FBE8285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AF1-40FB-A92B-5B694FBE8285}"/>
              </c:ext>
            </c:extLst>
          </c:dPt>
          <c:dPt>
            <c:idx val="3"/>
            <c:invertIfNegative val="0"/>
            <c:bubble3D val="0"/>
            <c:spPr>
              <a:solidFill>
                <a:srgbClr val="F6AE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AF1-40FB-A92B-5B694FBE828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GPT-3</c:v>
                </c:pt>
                <c:pt idx="1">
                  <c:v>GPT-4 (est.)</c:v>
                </c:pt>
                <c:pt idx="2">
                  <c:v>LLaMA 2-70B</c:v>
                </c:pt>
                <c:pt idx="3">
                  <c:v>Gemini Ultra (est.)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2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AF1-40FB-A92B-5B694FBE82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B8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B8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20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980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25758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3630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35905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5/28/2026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06201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9993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89651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7509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5/28/2026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72662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1124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7255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456584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48747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791660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15764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8044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09808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028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65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320040" cy="6711696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45720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1097280"/>
            <a:ext cx="2286000" cy="228600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0" y="3474720"/>
            <a:ext cx="1828800" cy="18288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71600"/>
            <a:ext cx="29260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PORTFOLIO ARTIFACT  |  AI/ML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 Large Language Models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48640" y="263347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Process &amp; Resource Costs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41148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4787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A8D8E0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An in-depth analysis of how GPT-4, Claude, Gemini, and LLaMA are built from raw data to deployed intelligence and the extraordinary resources required.</a:t>
            </a:r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572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GPT-4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77440" y="457200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4572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06240" y="457200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4572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Gemini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457200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F6AE2D">
              <a:alpha val="80000"/>
            </a:srgbClr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4572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LLaMA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/>
              <a:t>Training Infrastructure  |  Data Acquisition  |  Compute Power  |  Energy  |  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LLM TRAINING PIPELINE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2C39A"/>
                </a:solidFill>
              </a:rPr>
              <a:t>From Raw Data to Deployed Model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594360"/>
            <a:ext cx="1783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594360"/>
            <a:ext cx="17830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0100" y="109728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1207008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" y="640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01752" y="182880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Data Collection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0040" y="22860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Web crawls, books,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code repos, licensed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datasets. Petabytes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of raw text.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20824" y="2331720"/>
            <a:ext cx="11887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84832" y="594360"/>
            <a:ext cx="1783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084832" y="594360"/>
            <a:ext cx="178308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56332" y="1097280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5204" y="1207008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84832" y="640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157984" y="182880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Data Filtering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176272" y="22860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Deduplication,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quality filtering,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toxic content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removal.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877056" y="2331720"/>
            <a:ext cx="11887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941064" y="594360"/>
            <a:ext cx="1783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941064" y="594360"/>
            <a:ext cx="178308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512564" y="1097280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1436" y="1207008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941064" y="640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4014216" y="182880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Pre-Training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4032504" y="22860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Self-supervised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learning on massive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corpus. Next-token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prediction.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5733288" y="2331720"/>
            <a:ext cx="11887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797296" y="594360"/>
            <a:ext cx="1783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797296" y="594360"/>
            <a:ext cx="17830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68796" y="109728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7668" y="1207008"/>
            <a:ext cx="402336" cy="40233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797296" y="640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5870448" y="182880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Fine-Tuning (SFT)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5888736" y="22860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Supervised learning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on curated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instruction-response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pairs.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7589520" y="2331720"/>
            <a:ext cx="11887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653528" y="594360"/>
            <a:ext cx="1783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653528" y="594360"/>
            <a:ext cx="178308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8225028" y="1097280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900" y="1207008"/>
            <a:ext cx="402336" cy="40233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653528" y="640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7726680" y="182880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RLHF Alignment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7744968" y="22860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Human feedback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ranks outputs.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Reward 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guides training.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9445752" y="2331720"/>
            <a:ext cx="11887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9509760" y="594360"/>
            <a:ext cx="1783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9509760" y="594360"/>
            <a:ext cx="178308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10081260" y="1097280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0132" y="1207008"/>
            <a:ext cx="402336" cy="402336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9509760" y="640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50" name="Text 42"/>
          <p:cNvSpPr/>
          <p:nvPr/>
        </p:nvSpPr>
        <p:spPr>
          <a:xfrm>
            <a:off x="9582912" y="182880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Deployment</a:t>
            </a:r>
            <a:endParaRPr lang="en-US" sz="1400" dirty="0"/>
          </a:p>
        </p:txBody>
      </p:sp>
      <p:sp>
        <p:nvSpPr>
          <p:cNvPr id="51" name="Text 43"/>
          <p:cNvSpPr/>
          <p:nvPr/>
        </p:nvSpPr>
        <p:spPr>
          <a:xfrm>
            <a:off x="9601200" y="22860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Safety testing,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API integration,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scaling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monitoring.</a:t>
            </a:r>
            <a:endParaRPr lang="en-US" sz="1200" dirty="0"/>
          </a:p>
        </p:txBody>
      </p:sp>
      <p:sp>
        <p:nvSpPr>
          <p:cNvPr id="52" name="Shape 44"/>
          <p:cNvSpPr/>
          <p:nvPr/>
        </p:nvSpPr>
        <p:spPr>
          <a:xfrm>
            <a:off x="228600" y="4160520"/>
            <a:ext cx="11704320" cy="1691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548640" y="436168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570 GB+</a:t>
            </a:r>
            <a:endParaRPr lang="en-US" sz="2200" dirty="0"/>
          </a:p>
        </p:txBody>
      </p:sp>
      <p:sp>
        <p:nvSpPr>
          <p:cNvPr id="54" name="Text 46"/>
          <p:cNvSpPr/>
          <p:nvPr/>
        </p:nvSpPr>
        <p:spPr>
          <a:xfrm>
            <a:off x="548640" y="4965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B8C4"/>
                </a:solidFill>
              </a:rPr>
              <a:t>Training Data (GPT-3)</a:t>
            </a:r>
            <a:endParaRPr lang="en-US" sz="1200" dirty="0"/>
          </a:p>
        </p:txBody>
      </p:sp>
      <p:sp>
        <p:nvSpPr>
          <p:cNvPr id="55" name="Shape 47"/>
          <p:cNvSpPr/>
          <p:nvPr/>
        </p:nvSpPr>
        <p:spPr>
          <a:xfrm>
            <a:off x="3337560" y="4480560"/>
            <a:ext cx="18288" cy="100584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3474720" y="436168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$50-100M+</a:t>
            </a:r>
            <a:endParaRPr lang="en-US" sz="2200" dirty="0"/>
          </a:p>
        </p:txBody>
      </p:sp>
      <p:sp>
        <p:nvSpPr>
          <p:cNvPr id="57" name="Text 49"/>
          <p:cNvSpPr/>
          <p:nvPr/>
        </p:nvSpPr>
        <p:spPr>
          <a:xfrm>
            <a:off x="3474720" y="4965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B8C4"/>
                </a:solidFill>
              </a:rPr>
              <a:t>Est. Training Cost (GPT-4)</a:t>
            </a:r>
            <a:endParaRPr lang="en-US" sz="1200" dirty="0"/>
          </a:p>
        </p:txBody>
      </p:sp>
      <p:sp>
        <p:nvSpPr>
          <p:cNvPr id="58" name="Shape 50"/>
          <p:cNvSpPr/>
          <p:nvPr/>
        </p:nvSpPr>
        <p:spPr>
          <a:xfrm>
            <a:off x="6263640" y="4480560"/>
            <a:ext cx="18288" cy="100584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6400800" y="436168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1,287 MWh</a:t>
            </a:r>
            <a:endParaRPr lang="en-US" sz="2200" dirty="0"/>
          </a:p>
        </p:txBody>
      </p:sp>
      <p:sp>
        <p:nvSpPr>
          <p:cNvPr id="60" name="Text 52"/>
          <p:cNvSpPr/>
          <p:nvPr/>
        </p:nvSpPr>
        <p:spPr>
          <a:xfrm>
            <a:off x="6400800" y="4965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B8C4"/>
                </a:solidFill>
              </a:rPr>
              <a:t>Energy Used (GPT-3)</a:t>
            </a:r>
            <a:endParaRPr lang="en-US" sz="1200" dirty="0"/>
          </a:p>
        </p:txBody>
      </p:sp>
      <p:sp>
        <p:nvSpPr>
          <p:cNvPr id="61" name="Shape 53"/>
          <p:cNvSpPr/>
          <p:nvPr/>
        </p:nvSpPr>
        <p:spPr>
          <a:xfrm>
            <a:off x="9189720" y="4480560"/>
            <a:ext cx="18288" cy="100584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62" name="Text 54"/>
          <p:cNvSpPr/>
          <p:nvPr/>
        </p:nvSpPr>
        <p:spPr>
          <a:xfrm>
            <a:off x="9326880" y="436168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3-6 Months</a:t>
            </a:r>
            <a:endParaRPr lang="en-US" sz="2200" dirty="0"/>
          </a:p>
        </p:txBody>
      </p:sp>
      <p:sp>
        <p:nvSpPr>
          <p:cNvPr id="63" name="Text 55"/>
          <p:cNvSpPr/>
          <p:nvPr/>
        </p:nvSpPr>
        <p:spPr>
          <a:xfrm>
            <a:off x="9326880" y="4965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B8C4"/>
                </a:solidFill>
              </a:rPr>
              <a:t>Avg. Training Duration</a:t>
            </a:r>
            <a:endParaRPr lang="en-US" sz="1200" dirty="0"/>
          </a:p>
        </p:txBody>
      </p:sp>
      <p:sp>
        <p:nvSpPr>
          <p:cNvPr id="64" name="Shape 56"/>
          <p:cNvSpPr/>
          <p:nvPr/>
        </p:nvSpPr>
        <p:spPr>
          <a:xfrm>
            <a:off x="0" y="6355080"/>
            <a:ext cx="12161520" cy="502920"/>
          </a:xfrm>
          <a:prstGeom prst="rect">
            <a:avLst/>
          </a:prstGeom>
          <a:solidFill>
            <a:srgbClr val="0A2342">
              <a:alpha val="10000"/>
            </a:srgbClr>
          </a:solidFill>
          <a:ln w="12700">
            <a:solidFill>
              <a:srgbClr val="E0F4F6"/>
            </a:solidFill>
            <a:prstDash val="solid"/>
          </a:ln>
        </p:spPr>
      </p:sp>
      <p:sp>
        <p:nvSpPr>
          <p:cNvPr id="65" name="Text 57"/>
          <p:cNvSpPr/>
          <p:nvPr/>
        </p:nvSpPr>
        <p:spPr>
          <a:xfrm>
            <a:off x="274320" y="6355080"/>
            <a:ext cx="1161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/>
              <a:t>Pre-training alone can take weeks to months on thousands of specialized GPUs, making it the most compute-intensive stage of the entire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 CATEGORIES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2C39A"/>
                </a:solidFill>
              </a:rPr>
              <a:t>The Four Pillars of LLM Training Cost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594360"/>
            <a:ext cx="5669280" cy="2651760"/>
          </a:xfrm>
          <a:prstGeom prst="rect">
            <a:avLst/>
          </a:prstGeom>
          <a:solidFill>
            <a:srgbClr val="0D3A47"/>
          </a:solidFill>
          <a:ln w="1905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594360"/>
            <a:ext cx="64008" cy="2651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7772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758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429000" y="7040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28090"/>
                </a:solidFill>
              </a:rPr>
              <a:t>570 GB+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429000" y="11247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AABB"/>
                </a:solidFill>
              </a:rPr>
              <a:t>filtered training text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1344168"/>
            <a:ext cx="5394960" cy="18288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143560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0E8"/>
                </a:solidFill>
              </a:rPr>
              <a:t>  Common Crawl (web scrapes)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11480" y="1563624"/>
            <a:ext cx="82296" cy="822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184708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0E8"/>
                </a:solidFill>
              </a:rPr>
              <a:t>  Books, Wikipedia, Reddit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11480" y="1975104"/>
            <a:ext cx="82296" cy="822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225856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0E8"/>
                </a:solidFill>
              </a:rPr>
              <a:t>  Code repositories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1480" y="2386584"/>
            <a:ext cx="82296" cy="822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26700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0E8"/>
                </a:solidFill>
              </a:rPr>
              <a:t>  Licensed proprietary data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" y="2798064"/>
            <a:ext cx="82296" cy="822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45352" y="594360"/>
            <a:ext cx="5669280" cy="2651760"/>
          </a:xfrm>
          <a:prstGeom prst="rect">
            <a:avLst/>
          </a:prstGeom>
          <a:solidFill>
            <a:srgbClr val="0A3040"/>
          </a:solidFill>
          <a:ln w="19050">
            <a:solidFill>
              <a:srgbClr val="00A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45352" y="594360"/>
            <a:ext cx="64008" cy="2651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777240"/>
            <a:ext cx="502920" cy="5029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022592" y="758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9445752" y="7040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A896"/>
                </a:solidFill>
              </a:rPr>
              <a:t>$100M+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9445752" y="11247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AABB"/>
                </a:solidFill>
              </a:rPr>
              <a:t>estimated GPT-4 compute cost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382512" y="1344168"/>
            <a:ext cx="5394960" cy="18288"/>
          </a:xfrm>
          <a:prstGeom prst="rect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28232" y="143560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0E8"/>
                </a:solidFill>
              </a:rPr>
              <a:t>  Thousands of NVIDIA A100/H100 GPUs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6428232" y="1563624"/>
            <a:ext cx="82296" cy="822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428232" y="184708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0E8"/>
                </a:solidFill>
              </a:rPr>
              <a:t>  Custom TPU clusters (Google)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6428232" y="1975104"/>
            <a:ext cx="82296" cy="822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428232" y="225856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0E8"/>
                </a:solidFill>
              </a:rPr>
              <a:t>  Months of continuous runtime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28232" y="2386584"/>
            <a:ext cx="82296" cy="822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428232" y="26700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0E8"/>
                </a:solidFill>
              </a:rPr>
              <a:t>  Distributed training across data centers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6428232" y="2798064"/>
            <a:ext cx="82296" cy="822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228600" y="3429000"/>
            <a:ext cx="5669280" cy="2651760"/>
          </a:xfrm>
          <a:prstGeom prst="rect">
            <a:avLst/>
          </a:prstGeom>
          <a:solidFill>
            <a:srgbClr val="2A2010"/>
          </a:solidFill>
          <a:ln w="19050">
            <a:solidFill>
              <a:srgbClr val="F6AE2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228600" y="3429000"/>
            <a:ext cx="64008" cy="2651760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611880"/>
            <a:ext cx="502920" cy="50292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005840" y="3593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A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</a:t>
            </a:r>
            <a:endParaRPr lang="en-US" sz="1500" dirty="0"/>
          </a:p>
        </p:txBody>
      </p:sp>
      <p:sp>
        <p:nvSpPr>
          <p:cNvPr id="39" name="Text 34"/>
          <p:cNvSpPr/>
          <p:nvPr/>
        </p:nvSpPr>
        <p:spPr>
          <a:xfrm>
            <a:off x="3429000" y="3538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6AE2D"/>
                </a:solidFill>
              </a:rPr>
              <a:t>1,287 MWh</a:t>
            </a:r>
            <a:endParaRPr lang="en-US" sz="2000" dirty="0"/>
          </a:p>
        </p:txBody>
      </p:sp>
      <p:sp>
        <p:nvSpPr>
          <p:cNvPr id="40" name="Text 35"/>
          <p:cNvSpPr/>
          <p:nvPr/>
        </p:nvSpPr>
        <p:spPr>
          <a:xfrm>
            <a:off x="3429000" y="39593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AABB"/>
                </a:solidFill>
              </a:rPr>
              <a:t>GPT-3 training energy use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365760" y="4178808"/>
            <a:ext cx="5394960" cy="18288"/>
          </a:xfrm>
          <a:prstGeom prst="rect">
            <a:avLst/>
          </a:prstGeom>
          <a:solidFill>
            <a:srgbClr val="F6AE2D">
              <a:alpha val="40000"/>
            </a:srgbClr>
          </a:solidFill>
          <a:ln w="12700">
            <a:solidFill>
              <a:srgbClr val="F6AE2D">
                <a:alpha val="40000"/>
              </a:srgbClr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411480" y="42702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0E8"/>
                </a:solidFill>
              </a:rPr>
              <a:t>  Equivalent to ~120 US homes/year</a:t>
            </a:r>
            <a:endParaRPr lang="en-US" sz="1400" dirty="0"/>
          </a:p>
        </p:txBody>
      </p:sp>
      <p:sp>
        <p:nvSpPr>
          <p:cNvPr id="43" name="Shape 38"/>
          <p:cNvSpPr/>
          <p:nvPr/>
        </p:nvSpPr>
        <p:spPr>
          <a:xfrm>
            <a:off x="411480" y="4398264"/>
            <a:ext cx="82296" cy="822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11480" y="468172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0E8"/>
                </a:solidFill>
              </a:rPr>
              <a:t>  Significant CO2 carbon footprint</a:t>
            </a:r>
            <a:endParaRPr lang="en-US" sz="1400" dirty="0"/>
          </a:p>
        </p:txBody>
      </p:sp>
      <p:sp>
        <p:nvSpPr>
          <p:cNvPr id="45" name="Shape 40"/>
          <p:cNvSpPr/>
          <p:nvPr/>
        </p:nvSpPr>
        <p:spPr>
          <a:xfrm>
            <a:off x="411480" y="4809744"/>
            <a:ext cx="82296" cy="822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11480" y="509320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0E8"/>
                </a:solidFill>
              </a:rPr>
              <a:t>  Cooling infrastructure costs</a:t>
            </a:r>
            <a:endParaRPr lang="en-US" sz="1400" dirty="0"/>
          </a:p>
        </p:txBody>
      </p:sp>
      <p:sp>
        <p:nvSpPr>
          <p:cNvPr id="47" name="Shape 42"/>
          <p:cNvSpPr/>
          <p:nvPr/>
        </p:nvSpPr>
        <p:spPr>
          <a:xfrm>
            <a:off x="411480" y="5221224"/>
            <a:ext cx="82296" cy="822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411480" y="550468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0E8"/>
                </a:solidFill>
              </a:rPr>
              <a:t>  Renewable energy initiatives underway</a:t>
            </a:r>
            <a:endParaRPr lang="en-US" sz="1400" dirty="0"/>
          </a:p>
        </p:txBody>
      </p:sp>
      <p:sp>
        <p:nvSpPr>
          <p:cNvPr id="49" name="Shape 44"/>
          <p:cNvSpPr/>
          <p:nvPr/>
        </p:nvSpPr>
        <p:spPr>
          <a:xfrm>
            <a:off x="411480" y="5632704"/>
            <a:ext cx="82296" cy="822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6245352" y="3429000"/>
            <a:ext cx="5669280" cy="2651760"/>
          </a:xfrm>
          <a:prstGeom prst="rect">
            <a:avLst/>
          </a:prstGeom>
          <a:solidFill>
            <a:srgbClr val="0A2E2A"/>
          </a:solidFill>
          <a:ln w="19050">
            <a:solidFill>
              <a:srgbClr val="02C39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6"/>
          <p:cNvSpPr/>
          <p:nvPr/>
        </p:nvSpPr>
        <p:spPr>
          <a:xfrm>
            <a:off x="6245352" y="3429000"/>
            <a:ext cx="64008" cy="2651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3611880"/>
            <a:ext cx="502920" cy="502920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7022592" y="3593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</a:t>
            </a:r>
            <a:endParaRPr lang="en-US" sz="1500" dirty="0"/>
          </a:p>
        </p:txBody>
      </p:sp>
      <p:sp>
        <p:nvSpPr>
          <p:cNvPr id="54" name="Text 48"/>
          <p:cNvSpPr/>
          <p:nvPr/>
        </p:nvSpPr>
        <p:spPr>
          <a:xfrm>
            <a:off x="9445752" y="3538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2C39A"/>
                </a:solidFill>
              </a:rPr>
              <a:t>Weeks–Months</a:t>
            </a:r>
            <a:endParaRPr lang="en-US" sz="2000" dirty="0"/>
          </a:p>
        </p:txBody>
      </p:sp>
      <p:sp>
        <p:nvSpPr>
          <p:cNvPr id="55" name="Text 49"/>
          <p:cNvSpPr/>
          <p:nvPr/>
        </p:nvSpPr>
        <p:spPr>
          <a:xfrm>
            <a:off x="9445752" y="39593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AABB"/>
                </a:solidFill>
              </a:rPr>
              <a:t>pre-training duration</a:t>
            </a:r>
            <a:endParaRPr lang="en-US" sz="1200" dirty="0"/>
          </a:p>
        </p:txBody>
      </p:sp>
      <p:sp>
        <p:nvSpPr>
          <p:cNvPr id="56" name="Shape 50"/>
          <p:cNvSpPr/>
          <p:nvPr/>
        </p:nvSpPr>
        <p:spPr>
          <a:xfrm>
            <a:off x="6382512" y="4178808"/>
            <a:ext cx="5394960" cy="18288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6428232" y="42702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0E8"/>
                </a:solidFill>
              </a:rPr>
              <a:t>  Pre-training: weeks to months</a:t>
            </a:r>
            <a:endParaRPr lang="en-US" sz="1400" dirty="0"/>
          </a:p>
        </p:txBody>
      </p:sp>
      <p:sp>
        <p:nvSpPr>
          <p:cNvPr id="58" name="Shape 52"/>
          <p:cNvSpPr/>
          <p:nvPr/>
        </p:nvSpPr>
        <p:spPr>
          <a:xfrm>
            <a:off x="6428232" y="4398264"/>
            <a:ext cx="82296" cy="822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6428232" y="468172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0E8"/>
                </a:solidFill>
              </a:rPr>
              <a:t>  Fine-tuning: days to weeks</a:t>
            </a:r>
            <a:endParaRPr lang="en-US" sz="1400" dirty="0"/>
          </a:p>
        </p:txBody>
      </p:sp>
      <p:sp>
        <p:nvSpPr>
          <p:cNvPr id="60" name="Shape 54"/>
          <p:cNvSpPr/>
          <p:nvPr/>
        </p:nvSpPr>
        <p:spPr>
          <a:xfrm>
            <a:off x="6428232" y="4809744"/>
            <a:ext cx="82296" cy="822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6428232" y="509320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0E8"/>
                </a:solidFill>
              </a:rPr>
              <a:t>  RLHF: iterative, ongoing</a:t>
            </a:r>
            <a:endParaRPr lang="en-US" sz="1400" dirty="0"/>
          </a:p>
        </p:txBody>
      </p:sp>
      <p:sp>
        <p:nvSpPr>
          <p:cNvPr id="62" name="Shape 56"/>
          <p:cNvSpPr/>
          <p:nvPr/>
        </p:nvSpPr>
        <p:spPr>
          <a:xfrm>
            <a:off x="6428232" y="5221224"/>
            <a:ext cx="82296" cy="822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6428232" y="550468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0E8"/>
                </a:solidFill>
              </a:rPr>
              <a:t>  Total cycle: 6–18+ months</a:t>
            </a:r>
            <a:endParaRPr lang="en-US" sz="1400" dirty="0"/>
          </a:p>
        </p:txBody>
      </p:sp>
      <p:sp>
        <p:nvSpPr>
          <p:cNvPr id="64" name="Shape 58"/>
          <p:cNvSpPr/>
          <p:nvPr/>
        </p:nvSpPr>
        <p:spPr>
          <a:xfrm>
            <a:off x="6428232" y="5632704"/>
            <a:ext cx="82296" cy="822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COMPARISON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2C39A"/>
                </a:solidFill>
              </a:rPr>
              <a:t>GPT-4 | Claude | Gemini | LLaMA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594360"/>
            <a:ext cx="1463040" cy="411480"/>
          </a:xfrm>
          <a:prstGeom prst="rect">
            <a:avLst/>
          </a:prstGeom>
          <a:solidFill>
            <a:srgbClr val="0A2342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5943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91640" y="594360"/>
            <a:ext cx="1463040" cy="411480"/>
          </a:xfrm>
          <a:prstGeom prst="rect">
            <a:avLst/>
          </a:prstGeom>
          <a:solidFill>
            <a:srgbClr val="0A2342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5943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Developer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54680" y="594360"/>
            <a:ext cx="1554480" cy="411480"/>
          </a:xfrm>
          <a:prstGeom prst="rect">
            <a:avLst/>
          </a:prstGeom>
          <a:solidFill>
            <a:srgbClr val="0A2342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594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Parameters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594360"/>
            <a:ext cx="2011680" cy="411480"/>
          </a:xfrm>
          <a:prstGeom prst="rect">
            <a:avLst/>
          </a:prstGeom>
          <a:solidFill>
            <a:srgbClr val="0A2342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594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Est. Training Cost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20840" y="594360"/>
            <a:ext cx="1828800" cy="411480"/>
          </a:xfrm>
          <a:prstGeom prst="rect">
            <a:avLst/>
          </a:prstGeom>
          <a:solidFill>
            <a:srgbClr val="0A2342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594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Energy Use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49640" y="594360"/>
            <a:ext cx="3520440" cy="411480"/>
          </a:xfrm>
          <a:prstGeom prst="rect">
            <a:avLst/>
          </a:prstGeom>
          <a:solidFill>
            <a:srgbClr val="0A2342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594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Data Sources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28600" y="1078992"/>
            <a:ext cx="1463040" cy="914400"/>
          </a:xfrm>
          <a:prstGeom prst="rect">
            <a:avLst/>
          </a:prstGeom>
          <a:solidFill>
            <a:srgbClr val="F8FFFE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1078992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1078992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GPT-4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91640" y="1078992"/>
            <a:ext cx="1463040" cy="914400"/>
          </a:xfrm>
          <a:prstGeom prst="rect">
            <a:avLst/>
          </a:prstGeom>
          <a:solidFill>
            <a:srgbClr val="F8FFFE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107899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OpenAI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54680" y="1078992"/>
            <a:ext cx="1554480" cy="914400"/>
          </a:xfrm>
          <a:prstGeom prst="rect">
            <a:avLst/>
          </a:prstGeom>
          <a:solidFill>
            <a:srgbClr val="F8FFFE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107899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~1 Trillion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(est.)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09160" y="1078992"/>
            <a:ext cx="2011680" cy="914400"/>
          </a:xfrm>
          <a:prstGeom prst="rect">
            <a:avLst/>
          </a:prstGeom>
          <a:solidFill>
            <a:srgbClr val="F8FFFE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07899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$50M–$100M+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720840" y="1078992"/>
            <a:ext cx="1828800" cy="914400"/>
          </a:xfrm>
          <a:prstGeom prst="rect">
            <a:avLst/>
          </a:prstGeom>
          <a:solidFill>
            <a:srgbClr val="F8FFFE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107899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Very High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49640" y="1078992"/>
            <a:ext cx="3520440" cy="914400"/>
          </a:xfrm>
          <a:prstGeom prst="rect">
            <a:avLst/>
          </a:prstGeom>
          <a:solidFill>
            <a:srgbClr val="F8FFFE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107899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CommonCrawl, Books,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Code, Web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28600" y="2103120"/>
            <a:ext cx="1463040" cy="914400"/>
          </a:xfrm>
          <a:prstGeom prst="rect">
            <a:avLst/>
          </a:prstGeom>
          <a:solidFill>
            <a:srgbClr val="EDF7F8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2103120"/>
            <a:ext cx="64008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" y="2103120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Claude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691640" y="2103120"/>
            <a:ext cx="1463040" cy="914400"/>
          </a:xfrm>
          <a:prstGeom prst="rect">
            <a:avLst/>
          </a:prstGeom>
          <a:solidFill>
            <a:srgbClr val="EDF7F8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0" y="2103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Anthropic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154680" y="2103120"/>
            <a:ext cx="1554480" cy="914400"/>
          </a:xfrm>
          <a:prstGeom prst="rect">
            <a:avLst/>
          </a:prstGeom>
          <a:solidFill>
            <a:srgbClr val="EDF7F8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21031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Undisclosed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09160" y="2103120"/>
            <a:ext cx="2011680" cy="914400"/>
          </a:xfrm>
          <a:prstGeom prst="rect">
            <a:avLst/>
          </a:prstGeom>
          <a:solidFill>
            <a:srgbClr val="EDF7F8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1031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Not disclosed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720840" y="2103120"/>
            <a:ext cx="1828800" cy="914400"/>
          </a:xfrm>
          <a:prstGeom prst="rect">
            <a:avLst/>
          </a:prstGeom>
          <a:solidFill>
            <a:srgbClr val="EDF7F8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2103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Very High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549640" y="2103120"/>
            <a:ext cx="3520440" cy="914400"/>
          </a:xfrm>
          <a:prstGeom prst="rect">
            <a:avLst/>
          </a:prstGeom>
          <a:solidFill>
            <a:srgbClr val="EDF7F8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95360" y="210312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Web, Books, RLHF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curated data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28600" y="3127248"/>
            <a:ext cx="1463040" cy="914400"/>
          </a:xfrm>
          <a:prstGeom prst="rect">
            <a:avLst/>
          </a:prstGeom>
          <a:solidFill>
            <a:srgbClr val="F8FFFE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8600" y="3127248"/>
            <a:ext cx="6400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8328" y="3127248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Gemini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1691640" y="3127248"/>
            <a:ext cx="1463040" cy="914400"/>
          </a:xfrm>
          <a:prstGeom prst="rect">
            <a:avLst/>
          </a:prstGeom>
          <a:solidFill>
            <a:srgbClr val="F8FFFE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37360" y="312724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Google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154680" y="3127248"/>
            <a:ext cx="1554480" cy="914400"/>
          </a:xfrm>
          <a:prstGeom prst="rect">
            <a:avLst/>
          </a:prstGeom>
          <a:solidFill>
            <a:srgbClr val="F8FFFE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0" y="312724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Multimodal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(est. 1T+)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709160" y="3127248"/>
            <a:ext cx="2011680" cy="914400"/>
          </a:xfrm>
          <a:prstGeom prst="rect">
            <a:avLst/>
          </a:prstGeom>
          <a:solidFill>
            <a:srgbClr val="F8FFFE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12724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Not disclosed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720840" y="3127248"/>
            <a:ext cx="1828800" cy="914400"/>
          </a:xfrm>
          <a:prstGeom prst="rect">
            <a:avLst/>
          </a:prstGeom>
          <a:solidFill>
            <a:srgbClr val="F8FFFE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66560" y="312724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Very High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549640" y="3127248"/>
            <a:ext cx="3520440" cy="914400"/>
          </a:xfrm>
          <a:prstGeom prst="rect">
            <a:avLst/>
          </a:prstGeom>
          <a:solidFill>
            <a:srgbClr val="F8FFFE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95360" y="3127248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Web, YouTube,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Books, Code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228600" y="4151376"/>
            <a:ext cx="1463040" cy="914400"/>
          </a:xfrm>
          <a:prstGeom prst="rect">
            <a:avLst/>
          </a:prstGeom>
          <a:solidFill>
            <a:srgbClr val="EDF7F8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28600" y="4151376"/>
            <a:ext cx="64008" cy="914400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8328" y="4151376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LLaMA 2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1691640" y="4151376"/>
            <a:ext cx="1463040" cy="914400"/>
          </a:xfrm>
          <a:prstGeom prst="rect">
            <a:avLst/>
          </a:prstGeom>
          <a:solidFill>
            <a:srgbClr val="EDF7F8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37360" y="4151376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Meta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3154680" y="4151376"/>
            <a:ext cx="1554480" cy="914400"/>
          </a:xfrm>
          <a:prstGeom prst="rect">
            <a:avLst/>
          </a:prstGeom>
          <a:solidFill>
            <a:srgbClr val="EDF7F8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0" y="4151376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7B–70B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4709160" y="4151376"/>
            <a:ext cx="2011680" cy="914400"/>
          </a:xfrm>
          <a:prstGeom prst="rect">
            <a:avLst/>
          </a:prstGeom>
          <a:solidFill>
            <a:srgbClr val="EDF7F8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0" y="4151376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~$20M (est.)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6720840" y="4151376"/>
            <a:ext cx="1828800" cy="914400"/>
          </a:xfrm>
          <a:prstGeom prst="rect">
            <a:avLst/>
          </a:prstGeom>
          <a:solidFill>
            <a:srgbClr val="EDF7F8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66560" y="4151376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High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8549640" y="4151376"/>
            <a:ext cx="3520440" cy="914400"/>
          </a:xfrm>
          <a:prstGeom prst="rect">
            <a:avLst/>
          </a:prstGeom>
          <a:solidFill>
            <a:srgbClr val="EDF7F8"/>
          </a:solidFill>
          <a:ln w="6350">
            <a:solidFill>
              <a:srgbClr val="D1E8E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595360" y="4151376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CommonCrawl, C4,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Wikipedia, Books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228600" y="4892040"/>
            <a:ext cx="11841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320040" y="4956048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Estimated Training Cost Comparison (USD Millions)</a:t>
            </a:r>
            <a:endParaRPr lang="en-US" sz="1400" dirty="0"/>
          </a:p>
        </p:txBody>
      </p:sp>
      <p:graphicFrame>
        <p:nvGraphicFramePr>
          <p:cNvPr id="71" name="Chart 0"/>
          <p:cNvGraphicFramePr/>
          <p:nvPr/>
        </p:nvGraphicFramePr>
        <p:xfrm>
          <a:off x="320040" y="5230368"/>
          <a:ext cx="1152144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2" name="Text 69"/>
          <p:cNvSpPr/>
          <p:nvPr/>
        </p:nvSpPr>
        <p:spPr>
          <a:xfrm>
            <a:off x="228600" y="6583680"/>
            <a:ext cx="1170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/>
              <a:t>* Estimates based on publicly available reports. Exact figures not disclosed by all companies.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&amp; ENERGY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A2342"/>
                </a:solidFill>
              </a:rPr>
              <a:t>The Hidden Cost of Intelligence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2743200" cy="1325880"/>
          </a:xfrm>
          <a:prstGeom prst="rect">
            <a:avLst/>
          </a:prstGeom>
          <a:solidFill>
            <a:srgbClr val="0D2035"/>
          </a:solidFill>
          <a:ln w="1905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68580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822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25,000+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38328" y="1371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BB8C4"/>
                </a:solidFill>
              </a:rPr>
              <a:t>NVIDIA A100 GPUs used for GPT-4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46120" y="685800"/>
            <a:ext cx="2743200" cy="1325880"/>
          </a:xfrm>
          <a:prstGeom prst="rect">
            <a:avLst/>
          </a:prstGeom>
          <a:solidFill>
            <a:srgbClr val="0D2035"/>
          </a:solidFill>
          <a:ln w="19050">
            <a:solidFill>
              <a:srgbClr val="02C39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685800"/>
            <a:ext cx="2743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9144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822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~3 months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355848" y="1371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BB8C4"/>
                </a:solidFill>
              </a:rPr>
              <a:t>Estimated GPT-4 pre-training duration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228600" y="2194560"/>
            <a:ext cx="2743200" cy="1325880"/>
          </a:xfrm>
          <a:prstGeom prst="rect">
            <a:avLst/>
          </a:prstGeom>
          <a:solidFill>
            <a:srgbClr val="0D2035"/>
          </a:solidFill>
          <a:ln w="19050">
            <a:solidFill>
              <a:srgbClr val="F6AE2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28600" y="2194560"/>
            <a:ext cx="2743200" cy="54864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4231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6AE2D"/>
                </a:solidFill>
              </a:rPr>
              <a:t>1,287 MWh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338328" y="28803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BB8C4"/>
                </a:solidFill>
              </a:rPr>
              <a:t>GPT-3 energy consumption during training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3246120" y="2194560"/>
            <a:ext cx="2743200" cy="1325880"/>
          </a:xfrm>
          <a:prstGeom prst="rect">
            <a:avLst/>
          </a:prstGeom>
          <a:solidFill>
            <a:srgbClr val="0D2035"/>
          </a:solidFill>
          <a:ln w="19050">
            <a:solidFill>
              <a:srgbClr val="00A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46120" y="219456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242316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93192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</a:rPr>
              <a:t>552 tCO2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3355848" y="28803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BB8C4"/>
                </a:solidFill>
              </a:rPr>
              <a:t>Estimated carbon footprint of GPT-3 training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400800" y="594360"/>
            <a:ext cx="5532120" cy="3017520"/>
          </a:xfrm>
          <a:prstGeom prst="rect">
            <a:avLst/>
          </a:prstGeom>
          <a:solidFill>
            <a:srgbClr val="0D2035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6492240" y="65836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GPU Requirements by Model</a:t>
            </a:r>
            <a:endParaRPr lang="en-US" sz="11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6492240" y="987552"/>
          <a:ext cx="53492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8" name="Shape 21"/>
          <p:cNvSpPr/>
          <p:nvPr/>
        </p:nvSpPr>
        <p:spPr>
          <a:xfrm>
            <a:off x="228600" y="3840480"/>
            <a:ext cx="11704320" cy="2651760"/>
          </a:xfrm>
          <a:prstGeom prst="rect">
            <a:avLst/>
          </a:prstGeom>
          <a:solidFill>
            <a:srgbClr val="0D2035"/>
          </a:solidFill>
          <a:ln w="12700">
            <a:solidFill>
              <a:srgbClr val="F6AE2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228600" y="3840480"/>
            <a:ext cx="11704320" cy="54864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320040" y="39136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AE2D"/>
                </a:solidFill>
              </a:rPr>
              <a:t>Energy &amp; Environmental Context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347472" y="4343400"/>
            <a:ext cx="109728" cy="109728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30352" y="4270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0E8"/>
                </a:solidFill>
              </a:rPr>
              <a:t>Training GPT-3 consumed energy equivalent to driving a car 700,000 miles.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347472" y="4837176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530352" y="4764024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0E8"/>
                </a:solidFill>
              </a:rPr>
              <a:t>GPT-4 training is estimated to have used over 50 million kWh of electricity.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347472" y="533095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30352" y="52578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0E8"/>
                </a:solidFill>
              </a:rPr>
              <a:t>Inference (running the model) also consumes significant energy often exceeding training costs over time</a:t>
            </a:r>
            <a:r>
              <a:rPr lang="en-US" sz="1050" dirty="0">
                <a:solidFill>
                  <a:srgbClr val="C8E0E8"/>
                </a:solidFill>
              </a:rPr>
              <a:t>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347472" y="582472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30352" y="5751576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0E8"/>
                </a:solidFill>
              </a:rPr>
              <a:t>Major AI companies are investing in renewable energy and carbon offset programs to address this footprint.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457200"/>
            <a:ext cx="4114800" cy="41148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3200400"/>
            <a:ext cx="2743200" cy="27432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</a:rPr>
              <a:t>What We Learned About LLM Training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9052560" cy="1143000"/>
          </a:xfrm>
          <a:prstGeom prst="rect">
            <a:avLst/>
          </a:prstGeom>
          <a:solidFill>
            <a:srgbClr val="0D2035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25880"/>
            <a:ext cx="6400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819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325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Scale Demands Massive Resources</a:t>
            </a:r>
          </a:p>
        </p:txBody>
      </p:sp>
      <p:sp>
        <p:nvSpPr>
          <p:cNvPr id="12" name="Text 10"/>
          <p:cNvSpPr/>
          <p:nvPr/>
        </p:nvSpPr>
        <p:spPr>
          <a:xfrm>
            <a:off x="1280160" y="17830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DD6"/>
                </a:solidFill>
              </a:rPr>
              <a:t>Training frontier LLMs requires thousands of specialized GPUs, months of runtime, and investments exceeding $50-100M. This barrier limits who can build foundation models.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24328"/>
            <a:ext cx="9052560" cy="1143000"/>
          </a:xfrm>
          <a:prstGeom prst="rect">
            <a:avLst/>
          </a:prstGeom>
          <a:solidFill>
            <a:srgbClr val="0D2035"/>
          </a:solidFill>
          <a:ln w="12700">
            <a:solidFill>
              <a:srgbClr val="00A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624328"/>
            <a:ext cx="64008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273405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</a:rPr>
              <a:t>Data Quality Drives Performance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08152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DD6"/>
                </a:solidFill>
              </a:rPr>
              <a:t>More data is not always better. Curated, filtered, high-quality datasets consistently outperform larger but noisier corpora in producing reliable model outputs.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22776"/>
            <a:ext cx="9052560" cy="1143000"/>
          </a:xfrm>
          <a:prstGeom prst="rect">
            <a:avLst/>
          </a:prstGeom>
          <a:solidFill>
            <a:srgbClr val="0D2035"/>
          </a:solidFill>
          <a:ln w="12700">
            <a:solidFill>
              <a:srgbClr val="02C39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922776"/>
            <a:ext cx="64008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178808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03250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RLHF is Essential for Safety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4379976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DD6"/>
                </a:solidFill>
              </a:rPr>
              <a:t>Human feedback alignment (RLHF) is what transforms a raw language model into a helpful, safe, and usable product. It is iterative, expensive, and ongoing.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221224"/>
            <a:ext cx="9052560" cy="1143000"/>
          </a:xfrm>
          <a:prstGeom prst="rect">
            <a:avLst/>
          </a:prstGeom>
          <a:solidFill>
            <a:srgbClr val="0D2035"/>
          </a:solidFill>
          <a:ln w="12700">
            <a:solidFill>
              <a:srgbClr val="F6AE2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6" name="Shape 24"/>
          <p:cNvSpPr/>
          <p:nvPr/>
        </p:nvSpPr>
        <p:spPr>
          <a:xfrm>
            <a:off x="548640" y="5221224"/>
            <a:ext cx="64008" cy="1143000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5477256"/>
            <a:ext cx="457200" cy="457200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477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53309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AE2D"/>
                </a:solidFill>
              </a:rPr>
              <a:t>Energy Costs Are Real and Growing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80160" y="567842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DD6"/>
                </a:solidFill>
              </a:rPr>
              <a:t>The environmental footprint of AI training is significant and increasing. Responsible AI development requires transparency about energy use and investment in cleaner infrastructure.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649224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/>
              <a:t>Sources: OpenAI Technical Reports | Patterson et al. (2021) | Strubell et al. (2019) | Meta AI Research | Google DeepMind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</TotalTime>
  <Words>734</Words>
  <Application>Microsoft Office PowerPoint</Application>
  <PresentationFormat>Widescreen</PresentationFormat>
  <Paragraphs>163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 LLM Training: Process &amp; Resource Costs</dc:title>
  <dc:subject>PptxGenJS Presentation</dc:subject>
  <dc:creator>PptxGenJS</dc:creator>
  <cp:lastModifiedBy>Arshi Khan</cp:lastModifiedBy>
  <cp:revision>5</cp:revision>
  <dcterms:created xsi:type="dcterms:W3CDTF">2026-05-28T20:16:17Z</dcterms:created>
  <dcterms:modified xsi:type="dcterms:W3CDTF">2026-05-28T21:08:29Z</dcterms:modified>
</cp:coreProperties>
</file>