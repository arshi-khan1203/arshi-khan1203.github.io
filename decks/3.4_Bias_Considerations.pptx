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206D18-A116-4051-8DCF-17216ABA5270}" v="3" dt="2026-09-12T05:17:59.4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 K" userId="506a500b3ebd784a" providerId="LiveId" clId="{7FC67F69-89D5-4D0E-ADE7-A8EB38C8C51C}"/>
    <pc:docChg chg="undo custSel modSld">
      <pc:chgData name="A K" userId="506a500b3ebd784a" providerId="LiveId" clId="{7FC67F69-89D5-4D0E-ADE7-A8EB38C8C51C}" dt="2026-09-12T05:20:01.445" v="61" actId="14100"/>
      <pc:docMkLst>
        <pc:docMk/>
      </pc:docMkLst>
      <pc:sldChg chg="modSp mod">
        <pc:chgData name="A K" userId="506a500b3ebd784a" providerId="LiveId" clId="{7FC67F69-89D5-4D0E-ADE7-A8EB38C8C51C}" dt="2026-09-12T05:20:01.445" v="61" actId="14100"/>
        <pc:sldMkLst>
          <pc:docMk/>
          <pc:sldMk cId="0" sldId="256"/>
        </pc:sldMkLst>
        <pc:spChg chg="mod">
          <ac:chgData name="A K" userId="506a500b3ebd784a" providerId="LiveId" clId="{7FC67F69-89D5-4D0E-ADE7-A8EB38C8C51C}" dt="2026-09-12T05:20:01.445" v="61" actId="14100"/>
          <ac:spMkLst>
            <pc:docMk/>
            <pc:sldMk cId="0" sldId="256"/>
            <ac:spMk id="4" creationId="{00000000-0000-0000-0000-000000000000}"/>
          </ac:spMkLst>
        </pc:spChg>
      </pc:sldChg>
      <pc:sldChg chg="modSp mod">
        <pc:chgData name="A K" userId="506a500b3ebd784a" providerId="LiveId" clId="{7FC67F69-89D5-4D0E-ADE7-A8EB38C8C51C}" dt="2026-09-12T05:17:19.140" v="43" actId="5793"/>
        <pc:sldMkLst>
          <pc:docMk/>
          <pc:sldMk cId="0" sldId="263"/>
        </pc:sldMkLst>
        <pc:spChg chg="mod">
          <ac:chgData name="A K" userId="506a500b3ebd784a" providerId="LiveId" clId="{7FC67F69-89D5-4D0E-ADE7-A8EB38C8C51C}" dt="2026-09-12T05:17:19.140" v="43" actId="5793"/>
          <ac:spMkLst>
            <pc:docMk/>
            <pc:sldMk cId="0" sldId="263"/>
            <ac:spMk id="5" creationId="{00000000-0000-0000-0000-000000000000}"/>
          </ac:spMkLst>
        </pc:spChg>
      </pc:sldChg>
      <pc:sldChg chg="modSp mod">
        <pc:chgData name="A K" userId="506a500b3ebd784a" providerId="LiveId" clId="{7FC67F69-89D5-4D0E-ADE7-A8EB38C8C51C}" dt="2026-09-12T05:19:24.442" v="49" actId="5793"/>
        <pc:sldMkLst>
          <pc:docMk/>
          <pc:sldMk cId="0" sldId="264"/>
        </pc:sldMkLst>
        <pc:spChg chg="mod">
          <ac:chgData name="A K" userId="506a500b3ebd784a" providerId="LiveId" clId="{7FC67F69-89D5-4D0E-ADE7-A8EB38C8C51C}" dt="2026-09-12T05:19:24.442" v="49" actId="5793"/>
          <ac:spMkLst>
            <pc:docMk/>
            <pc:sldMk cId="0" sldId="264"/>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7058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doi.org/10.6028/NIST.SP.1270"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a:effectLst/>
      </p:bgPr>
    </p:bg>
    <p:spTree>
      <p:nvGrpSpPr>
        <p:cNvPr id="1" name=""/>
        <p:cNvGrpSpPr/>
        <p:nvPr/>
      </p:nvGrpSpPr>
      <p:grpSpPr>
        <a:xfrm>
          <a:off x="0" y="0"/>
          <a:ext cx="0" cy="0"/>
          <a:chOff x="0" y="0"/>
          <a:chExt cx="0" cy="0"/>
        </a:xfrm>
      </p:grpSpPr>
      <p:sp>
        <p:nvSpPr>
          <p:cNvPr id="2" name="Text 0"/>
          <p:cNvSpPr txBox="1"/>
          <p:nvPr/>
        </p:nvSpPr>
        <p:spPr>
          <a:xfrm>
            <a:off x="914400" y="1920240"/>
            <a:ext cx="10360152" cy="182880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Responsible AI Framework:</a:t>
            </a:r>
            <a:endParaRPr lang="en-US" sz="3400" dirty="0"/>
          </a:p>
          <a:p>
            <a:pPr marL="0" indent="0" algn="ctr">
              <a:buNone/>
            </a:pPr>
            <a:r>
              <a:rPr lang="en-US" sz="3400" b="1" dirty="0">
                <a:solidFill>
                  <a:srgbClr val="FFFFFF"/>
                </a:solidFill>
                <a:latin typeface="Cambria" pitchFamily="34" charset="0"/>
                <a:ea typeface="Cambria" pitchFamily="34" charset="-122"/>
                <a:cs typeface="Cambria" pitchFamily="34" charset="-120"/>
              </a:rPr>
              <a:t>Data &amp; Algorithmic Bias Considerations</a:t>
            </a:r>
            <a:endParaRPr lang="en-US" sz="3400" dirty="0"/>
          </a:p>
        </p:txBody>
      </p:sp>
      <p:sp>
        <p:nvSpPr>
          <p:cNvPr id="3" name="Text 1"/>
          <p:cNvSpPr txBox="1"/>
          <p:nvPr/>
        </p:nvSpPr>
        <p:spPr>
          <a:xfrm>
            <a:off x="914400" y="3749040"/>
            <a:ext cx="10360152" cy="548640"/>
          </a:xfrm>
          <a:prstGeom prst="rect">
            <a:avLst/>
          </a:prstGeom>
          <a:noFill/>
          <a:ln/>
        </p:spPr>
        <p:txBody>
          <a:bodyPr wrap="square" lIns="0" tIns="0" rIns="0" bIns="0" rtlCol="0" anchor="ctr"/>
          <a:lstStyle/>
          <a:p>
            <a:pPr marL="0" indent="0" algn="ctr">
              <a:buNone/>
            </a:pPr>
            <a:r>
              <a:rPr lang="en-US" sz="2000" dirty="0">
                <a:solidFill>
                  <a:srgbClr val="DDEBF7"/>
                </a:solidFill>
                <a:latin typeface="Calibri" pitchFamily="34" charset="0"/>
                <a:ea typeface="Calibri" pitchFamily="34" charset="-122"/>
                <a:cs typeface="Calibri" pitchFamily="34" charset="-120"/>
              </a:rPr>
              <a:t>NovaCare Health Systems</a:t>
            </a:r>
            <a:endParaRPr lang="en-US" sz="2000" dirty="0"/>
          </a:p>
        </p:txBody>
      </p:sp>
      <p:sp>
        <p:nvSpPr>
          <p:cNvPr id="4" name="Text 2"/>
          <p:cNvSpPr txBox="1"/>
          <p:nvPr/>
        </p:nvSpPr>
        <p:spPr>
          <a:xfrm>
            <a:off x="914400" y="4572000"/>
            <a:ext cx="10360152" cy="1087120"/>
          </a:xfrm>
          <a:prstGeom prst="rect">
            <a:avLst/>
          </a:prstGeom>
          <a:noFill/>
          <a:ln/>
        </p:spPr>
        <p:txBody>
          <a:bodyPr wrap="square" lIns="0" tIns="0" rIns="0" bIns="0" rtlCol="0" anchor="ctr"/>
          <a:lstStyle/>
          <a:p>
            <a:pPr marL="0" indent="0" algn="ctr">
              <a:lnSpc>
                <a:spcPct val="130000"/>
              </a:lnSpc>
              <a:buNone/>
            </a:pPr>
            <a:r>
              <a:rPr lang="en-US" sz="1400" dirty="0">
                <a:solidFill>
                  <a:srgbClr val="FFFFFF"/>
                </a:solidFill>
                <a:latin typeface="Calibri" pitchFamily="34" charset="0"/>
                <a:ea typeface="Calibri" pitchFamily="34" charset="-122"/>
                <a:cs typeface="Calibri" pitchFamily="34" charset="-120"/>
              </a:rPr>
              <a:t>Course: Responsible Appl of AI (AIML-510-01R4A)</a:t>
            </a:r>
            <a:endParaRPr lang="en-US" sz="1400" dirty="0"/>
          </a:p>
          <a:p>
            <a:pPr marL="0" indent="0" algn="ctr">
              <a:lnSpc>
                <a:spcPct val="130000"/>
              </a:lnSpc>
              <a:buNone/>
            </a:pPr>
            <a:r>
              <a:rPr lang="en-US" sz="1400" dirty="0">
                <a:solidFill>
                  <a:srgbClr val="FFFFFF"/>
                </a:solidFill>
                <a:latin typeface="Calibri" pitchFamily="34" charset="0"/>
                <a:ea typeface="Calibri" pitchFamily="34" charset="-122"/>
                <a:cs typeface="Calibri" pitchFamily="34" charset="-120"/>
              </a:rPr>
              <a:t>Assignment: 3.4 RAI Framework Project: Data and Algorithmic Bias</a:t>
            </a:r>
          </a:p>
          <a:p>
            <a:pPr marL="0" indent="0" algn="ctr">
              <a:lnSpc>
                <a:spcPct val="130000"/>
              </a:lnSpc>
              <a:buNone/>
            </a:pPr>
            <a:r>
              <a:rPr lang="en-US" sz="1400" dirty="0">
                <a:solidFill>
                  <a:srgbClr val="FFFFFF"/>
                </a:solidFill>
                <a:latin typeface="Calibri" pitchFamily="34" charset="0"/>
                <a:ea typeface="Calibri" pitchFamily="34" charset="-122"/>
                <a:cs typeface="Calibri" pitchFamily="34" charset="-120"/>
              </a:rPr>
              <a:t>Arshi Khan</a:t>
            </a:r>
            <a:endParaRPr lang="en-US" sz="1400" dirty="0"/>
          </a:p>
          <a:p>
            <a:pPr marL="0" indent="0" algn="ctr">
              <a:lnSpc>
                <a:spcPct val="130000"/>
              </a:lnSpc>
              <a:buNone/>
            </a:pPr>
            <a:r>
              <a:rPr lang="en-US" sz="1400" dirty="0">
                <a:solidFill>
                  <a:srgbClr val="FFFFFF"/>
                </a:solidFill>
                <a:latin typeface="Calibri" pitchFamily="34" charset="0"/>
                <a:ea typeface="Calibri" pitchFamily="34" charset="-122"/>
                <a:cs typeface="Calibri" pitchFamily="34" charset="-120"/>
              </a:rPr>
              <a:t>Date: September 12,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800" b="1" dirty="0">
                <a:solidFill>
                  <a:srgbClr val="1F4E79"/>
                </a:solidFill>
                <a:latin typeface="Cambria" pitchFamily="34" charset="0"/>
                <a:ea typeface="Cambria" pitchFamily="34" charset="-122"/>
                <a:cs typeface="Cambria" pitchFamily="34" charset="-120"/>
              </a:rPr>
              <a:t>NovaCare Health Systems</a:t>
            </a:r>
            <a:endParaRPr lang="en-US" sz="28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300" i="1" dirty="0">
                <a:solidFill>
                  <a:srgbClr val="2E75B6"/>
                </a:solidFill>
                <a:latin typeface="Calibri" pitchFamily="34" charset="0"/>
                <a:ea typeface="Calibri" pitchFamily="34" charset="-122"/>
                <a:cs typeface="Calibri" pitchFamily="34" charset="-120"/>
              </a:rPr>
              <a:t>Fictional healthcare enterprise (consistent with Assignments 1.3 and 1.4)</a:t>
            </a:r>
            <a:endParaRPr lang="en-US" sz="1300" dirty="0"/>
          </a:p>
        </p:txBody>
      </p:sp>
      <p:sp>
        <p:nvSpPr>
          <p:cNvPr id="4" name="Shape 2"/>
          <p:cNvSpPr/>
          <p:nvPr/>
        </p:nvSpPr>
        <p:spPr>
          <a:xfrm>
            <a:off x="457200" y="1627632"/>
            <a:ext cx="320040" cy="320040"/>
          </a:xfrm>
          <a:prstGeom prst="ellipse">
            <a:avLst/>
          </a:prstGeom>
          <a:solidFill>
            <a:srgbClr val="2E75B6"/>
          </a:solidFill>
          <a:ln/>
        </p:spPr>
      </p:sp>
      <p:sp>
        <p:nvSpPr>
          <p:cNvPr id="5" name="Text 3"/>
          <p:cNvSpPr txBox="1"/>
          <p:nvPr/>
        </p:nvSpPr>
        <p:spPr>
          <a:xfrm>
            <a:off x="960120" y="1554480"/>
            <a:ext cx="2377440" cy="457200"/>
          </a:xfrm>
          <a:prstGeom prst="rect">
            <a:avLst/>
          </a:prstGeom>
          <a:noFill/>
          <a:ln/>
        </p:spPr>
        <p:txBody>
          <a:bodyPr wrap="square" lIns="0" tIns="0" rIns="0" bIns="0" rtlCol="0" anchor="t"/>
          <a:lstStyle/>
          <a:p>
            <a:pPr marL="0" indent="0">
              <a:buNone/>
            </a:pPr>
            <a:r>
              <a:rPr lang="en-US" sz="1500" b="1" dirty="0">
                <a:solidFill>
                  <a:srgbClr val="1F4E79"/>
                </a:solidFill>
                <a:latin typeface="Calibri" pitchFamily="34" charset="0"/>
                <a:ea typeface="Calibri" pitchFamily="34" charset="-122"/>
                <a:cs typeface="Calibri" pitchFamily="34" charset="-120"/>
              </a:rPr>
              <a:t>Scale</a:t>
            </a:r>
            <a:endParaRPr lang="en-US" sz="1500" dirty="0"/>
          </a:p>
        </p:txBody>
      </p:sp>
      <p:sp>
        <p:nvSpPr>
          <p:cNvPr id="6" name="Text 4"/>
          <p:cNvSpPr txBox="1"/>
          <p:nvPr/>
        </p:nvSpPr>
        <p:spPr>
          <a:xfrm>
            <a:off x="3474720" y="1554480"/>
            <a:ext cx="8259775" cy="1051560"/>
          </a:xfrm>
          <a:prstGeom prst="rect">
            <a:avLst/>
          </a:prstGeom>
          <a:noFill/>
          <a:ln/>
        </p:spPr>
        <p:txBody>
          <a:bodyPr wrap="square" lIns="0" tIns="0" rIns="0" bIns="0" rtlCol="0" anchor="t"/>
          <a:lstStyle/>
          <a:p>
            <a:pPr marL="0" indent="0">
              <a:buNone/>
            </a:pPr>
            <a:r>
              <a:rPr lang="en-US" sz="1400" dirty="0">
                <a:solidFill>
                  <a:srgbClr val="262626"/>
                </a:solidFill>
                <a:latin typeface="Calibri" pitchFamily="34" charset="0"/>
                <a:ea typeface="Calibri" pitchFamily="34" charset="-122"/>
                <a:cs typeface="Calibri" pitchFamily="34" charset="-120"/>
              </a:rPr>
              <a:t>30 hospitals, 150+ outpatient facilities, approximately 45,000 employees</a:t>
            </a:r>
            <a:endParaRPr lang="en-US" sz="1400" dirty="0"/>
          </a:p>
        </p:txBody>
      </p:sp>
      <p:sp>
        <p:nvSpPr>
          <p:cNvPr id="7" name="Shape 5"/>
          <p:cNvSpPr/>
          <p:nvPr/>
        </p:nvSpPr>
        <p:spPr>
          <a:xfrm>
            <a:off x="457200" y="2679192"/>
            <a:ext cx="320040" cy="320040"/>
          </a:xfrm>
          <a:prstGeom prst="ellipse">
            <a:avLst/>
          </a:prstGeom>
          <a:solidFill>
            <a:srgbClr val="2E75B6"/>
          </a:solidFill>
          <a:ln/>
        </p:spPr>
      </p:sp>
      <p:sp>
        <p:nvSpPr>
          <p:cNvPr id="8" name="Text 6"/>
          <p:cNvSpPr txBox="1"/>
          <p:nvPr/>
        </p:nvSpPr>
        <p:spPr>
          <a:xfrm>
            <a:off x="960120" y="2606040"/>
            <a:ext cx="2377440" cy="457200"/>
          </a:xfrm>
          <a:prstGeom prst="rect">
            <a:avLst/>
          </a:prstGeom>
          <a:noFill/>
          <a:ln/>
        </p:spPr>
        <p:txBody>
          <a:bodyPr wrap="square" lIns="0" tIns="0" rIns="0" bIns="0" rtlCol="0" anchor="t"/>
          <a:lstStyle/>
          <a:p>
            <a:pPr marL="0" indent="0">
              <a:buNone/>
            </a:pPr>
            <a:r>
              <a:rPr lang="en-US" sz="1500" b="1" dirty="0">
                <a:solidFill>
                  <a:srgbClr val="1F4E79"/>
                </a:solidFill>
                <a:latin typeface="Calibri" pitchFamily="34" charset="0"/>
                <a:ea typeface="Calibri" pitchFamily="34" charset="-122"/>
                <a:cs typeface="Calibri" pitchFamily="34" charset="-120"/>
              </a:rPr>
              <a:t>Reach</a:t>
            </a:r>
            <a:endParaRPr lang="en-US" sz="1500" dirty="0"/>
          </a:p>
        </p:txBody>
      </p:sp>
      <p:sp>
        <p:nvSpPr>
          <p:cNvPr id="9" name="Text 7"/>
          <p:cNvSpPr txBox="1"/>
          <p:nvPr/>
        </p:nvSpPr>
        <p:spPr>
          <a:xfrm>
            <a:off x="3474720" y="2606040"/>
            <a:ext cx="8259775" cy="1051560"/>
          </a:xfrm>
          <a:prstGeom prst="rect">
            <a:avLst/>
          </a:prstGeom>
          <a:noFill/>
          <a:ln/>
        </p:spPr>
        <p:txBody>
          <a:bodyPr wrap="square" lIns="0" tIns="0" rIns="0" bIns="0" rtlCol="0" anchor="t"/>
          <a:lstStyle/>
          <a:p>
            <a:pPr marL="0" indent="0">
              <a:buNone/>
            </a:pPr>
            <a:r>
              <a:rPr lang="en-US" sz="1400" dirty="0">
                <a:solidFill>
                  <a:srgbClr val="262626"/>
                </a:solidFill>
                <a:latin typeface="Calibri" pitchFamily="34" charset="0"/>
                <a:ea typeface="Calibri" pitchFamily="34" charset="-122"/>
                <a:cs typeface="Calibri" pitchFamily="34" charset="-120"/>
              </a:rPr>
              <a:t>Serves about 6 million patients annually through hospitals, clinics, diagnostic centers, and telehealth</a:t>
            </a:r>
            <a:endParaRPr lang="en-US" sz="1400" dirty="0"/>
          </a:p>
        </p:txBody>
      </p:sp>
      <p:sp>
        <p:nvSpPr>
          <p:cNvPr id="10" name="Shape 8"/>
          <p:cNvSpPr/>
          <p:nvPr/>
        </p:nvSpPr>
        <p:spPr>
          <a:xfrm>
            <a:off x="457200" y="3730752"/>
            <a:ext cx="320040" cy="320040"/>
          </a:xfrm>
          <a:prstGeom prst="ellipse">
            <a:avLst/>
          </a:prstGeom>
          <a:solidFill>
            <a:srgbClr val="2E75B6"/>
          </a:solidFill>
          <a:ln/>
        </p:spPr>
      </p:sp>
      <p:sp>
        <p:nvSpPr>
          <p:cNvPr id="11" name="Text 9"/>
          <p:cNvSpPr txBox="1"/>
          <p:nvPr/>
        </p:nvSpPr>
        <p:spPr>
          <a:xfrm>
            <a:off x="960120" y="3657600"/>
            <a:ext cx="2377440" cy="457200"/>
          </a:xfrm>
          <a:prstGeom prst="rect">
            <a:avLst/>
          </a:prstGeom>
          <a:noFill/>
          <a:ln/>
        </p:spPr>
        <p:txBody>
          <a:bodyPr wrap="square" lIns="0" tIns="0" rIns="0" bIns="0" rtlCol="0" anchor="t"/>
          <a:lstStyle/>
          <a:p>
            <a:pPr marL="0" indent="0">
              <a:buNone/>
            </a:pPr>
            <a:r>
              <a:rPr lang="en-US" sz="1500" b="1" dirty="0">
                <a:solidFill>
                  <a:srgbClr val="1F4E79"/>
                </a:solidFill>
                <a:latin typeface="Calibri" pitchFamily="34" charset="0"/>
                <a:ea typeface="Calibri" pitchFamily="34" charset="-122"/>
                <a:cs typeface="Calibri" pitchFamily="34" charset="-120"/>
              </a:rPr>
              <a:t>Technology footprint</a:t>
            </a:r>
            <a:endParaRPr lang="en-US" sz="1500" dirty="0"/>
          </a:p>
        </p:txBody>
      </p:sp>
      <p:sp>
        <p:nvSpPr>
          <p:cNvPr id="12" name="Text 10"/>
          <p:cNvSpPr txBox="1"/>
          <p:nvPr/>
        </p:nvSpPr>
        <p:spPr>
          <a:xfrm>
            <a:off x="3474720" y="3657600"/>
            <a:ext cx="8259775" cy="1051560"/>
          </a:xfrm>
          <a:prstGeom prst="rect">
            <a:avLst/>
          </a:prstGeom>
          <a:noFill/>
          <a:ln/>
        </p:spPr>
        <p:txBody>
          <a:bodyPr wrap="square" lIns="0" tIns="0" rIns="0" bIns="0" rtlCol="0" anchor="t"/>
          <a:lstStyle/>
          <a:p>
            <a:pPr marL="0" indent="0">
              <a:buNone/>
            </a:pPr>
            <a:r>
              <a:rPr lang="en-US" sz="1400" dirty="0">
                <a:solidFill>
                  <a:srgbClr val="262626"/>
                </a:solidFill>
                <a:latin typeface="Calibri" pitchFamily="34" charset="0"/>
                <a:ea typeface="Calibri" pitchFamily="34" charset="-122"/>
                <a:cs typeface="Calibri" pitchFamily="34" charset="-120"/>
              </a:rPr>
              <a:t>Enterprise EHR, cloud analytics, imaging, patient portals, and digital care platforms</a:t>
            </a:r>
            <a:endParaRPr lang="en-US" sz="1400" dirty="0"/>
          </a:p>
        </p:txBody>
      </p:sp>
      <p:sp>
        <p:nvSpPr>
          <p:cNvPr id="13" name="Shape 11"/>
          <p:cNvSpPr/>
          <p:nvPr/>
        </p:nvSpPr>
        <p:spPr>
          <a:xfrm>
            <a:off x="457200" y="4782312"/>
            <a:ext cx="320040" cy="320040"/>
          </a:xfrm>
          <a:prstGeom prst="ellipse">
            <a:avLst/>
          </a:prstGeom>
          <a:solidFill>
            <a:srgbClr val="2E75B6"/>
          </a:solidFill>
          <a:ln/>
        </p:spPr>
      </p:sp>
      <p:sp>
        <p:nvSpPr>
          <p:cNvPr id="14" name="Text 12"/>
          <p:cNvSpPr txBox="1"/>
          <p:nvPr/>
        </p:nvSpPr>
        <p:spPr>
          <a:xfrm>
            <a:off x="960120" y="4709160"/>
            <a:ext cx="2377440" cy="457200"/>
          </a:xfrm>
          <a:prstGeom prst="rect">
            <a:avLst/>
          </a:prstGeom>
          <a:noFill/>
          <a:ln/>
        </p:spPr>
        <p:txBody>
          <a:bodyPr wrap="square" lIns="0" tIns="0" rIns="0" bIns="0" rtlCol="0" anchor="t"/>
          <a:lstStyle/>
          <a:p>
            <a:pPr marL="0" indent="0">
              <a:buNone/>
            </a:pPr>
            <a:r>
              <a:rPr lang="en-US" sz="1500" b="1" dirty="0">
                <a:solidFill>
                  <a:srgbClr val="1F4E79"/>
                </a:solidFill>
                <a:latin typeface="Calibri" pitchFamily="34" charset="0"/>
                <a:ea typeface="Calibri" pitchFamily="34" charset="-122"/>
                <a:cs typeface="Calibri" pitchFamily="34" charset="-120"/>
              </a:rPr>
              <a:t>RAI foundation</a:t>
            </a:r>
            <a:endParaRPr lang="en-US" sz="1500" dirty="0"/>
          </a:p>
        </p:txBody>
      </p:sp>
      <p:sp>
        <p:nvSpPr>
          <p:cNvPr id="15" name="Text 13"/>
          <p:cNvSpPr txBox="1"/>
          <p:nvPr/>
        </p:nvSpPr>
        <p:spPr>
          <a:xfrm>
            <a:off x="3474720" y="4709160"/>
            <a:ext cx="8259775" cy="1051560"/>
          </a:xfrm>
          <a:prstGeom prst="rect">
            <a:avLst/>
          </a:prstGeom>
          <a:noFill/>
          <a:ln/>
        </p:spPr>
        <p:txBody>
          <a:bodyPr wrap="square" lIns="0" tIns="0" rIns="0" bIns="0" rtlCol="0" anchor="t"/>
          <a:lstStyle/>
          <a:p>
            <a:pPr marL="0" indent="0">
              <a:buNone/>
            </a:pPr>
            <a:r>
              <a:rPr lang="en-US" sz="1400" dirty="0">
                <a:solidFill>
                  <a:srgbClr val="262626"/>
                </a:solidFill>
                <a:latin typeface="Calibri" pitchFamily="34" charset="0"/>
                <a:ea typeface="Calibri" pitchFamily="34" charset="-122"/>
                <a:cs typeface="Calibri" pitchFamily="34" charset="-120"/>
              </a:rPr>
              <a:t>Seven ethical principles established in 1.3, operationalized through the NIST AI RMF (Govern, Map, Measure, Manage) in 1.4</a:t>
            </a:r>
            <a:endParaRPr lang="en-US" sz="1400" dirty="0"/>
          </a:p>
        </p:txBody>
      </p:sp>
      <p:sp>
        <p:nvSpPr>
          <p:cNvPr id="16" name="Text 14"/>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800" b="1" dirty="0">
                <a:solidFill>
                  <a:srgbClr val="1F4E79"/>
                </a:solidFill>
                <a:latin typeface="Cambria" pitchFamily="34" charset="0"/>
                <a:ea typeface="Cambria" pitchFamily="34" charset="-122"/>
                <a:cs typeface="Cambria" pitchFamily="34" charset="-120"/>
              </a:rPr>
              <a:t>AI Use Cases Under Consideration</a:t>
            </a:r>
            <a:endParaRPr lang="en-US" sz="28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300" i="1" dirty="0">
                <a:solidFill>
                  <a:srgbClr val="2E75B6"/>
                </a:solidFill>
                <a:latin typeface="Calibri" pitchFamily="34" charset="0"/>
                <a:ea typeface="Calibri" pitchFamily="34" charset="-122"/>
                <a:cs typeface="Calibri" pitchFamily="34" charset="-120"/>
              </a:rPr>
              <a:t>Same four use cases established in Assignment 1.3</a:t>
            </a:r>
            <a:endParaRPr lang="en-US" sz="1300" dirty="0"/>
          </a:p>
        </p:txBody>
      </p:sp>
      <p:sp>
        <p:nvSpPr>
          <p:cNvPr id="4" name="Shape 2"/>
          <p:cNvSpPr/>
          <p:nvPr/>
        </p:nvSpPr>
        <p:spPr>
          <a:xfrm>
            <a:off x="457200" y="1600200"/>
            <a:ext cx="5410048" cy="1965960"/>
          </a:xfrm>
          <a:prstGeom prst="roundRect">
            <a:avLst>
              <a:gd name="adj" fmla="val 3721"/>
            </a:avLst>
          </a:prstGeom>
          <a:solidFill>
            <a:srgbClr val="DDEBF7"/>
          </a:solidFill>
          <a:ln/>
        </p:spPr>
      </p:sp>
      <p:sp>
        <p:nvSpPr>
          <p:cNvPr id="5" name="Text 3"/>
          <p:cNvSpPr txBox="1"/>
          <p:nvPr/>
        </p:nvSpPr>
        <p:spPr>
          <a:xfrm>
            <a:off x="685800" y="1783080"/>
            <a:ext cx="548640" cy="54864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1</a:t>
            </a:r>
            <a:endParaRPr lang="en-US" sz="2600" dirty="0"/>
          </a:p>
        </p:txBody>
      </p:sp>
      <p:sp>
        <p:nvSpPr>
          <p:cNvPr id="6" name="Text 4"/>
          <p:cNvSpPr txBox="1"/>
          <p:nvPr/>
        </p:nvSpPr>
        <p:spPr>
          <a:xfrm>
            <a:off x="685800" y="2377440"/>
            <a:ext cx="4952848" cy="502920"/>
          </a:xfrm>
          <a:prstGeom prst="rect">
            <a:avLst/>
          </a:prstGeom>
          <a:noFill/>
          <a:ln/>
        </p:spPr>
        <p:txBody>
          <a:bodyPr wrap="square" lIns="0" tIns="0" rIns="0" bIns="0" rtlCol="0" anchor="t"/>
          <a:lstStyle/>
          <a:p>
            <a:pPr marL="0" indent="0">
              <a:buNone/>
            </a:pPr>
            <a:r>
              <a:rPr lang="en-US" sz="1500" b="1" dirty="0">
                <a:solidFill>
                  <a:srgbClr val="1F4E79"/>
                </a:solidFill>
                <a:latin typeface="Calibri" pitchFamily="34" charset="0"/>
                <a:ea typeface="Calibri" pitchFamily="34" charset="-122"/>
                <a:cs typeface="Calibri" pitchFamily="34" charset="-120"/>
              </a:rPr>
              <a:t>AI-Assisted Medical Imaging</a:t>
            </a:r>
            <a:endParaRPr lang="en-US" sz="1500" dirty="0"/>
          </a:p>
        </p:txBody>
      </p:sp>
      <p:sp>
        <p:nvSpPr>
          <p:cNvPr id="7" name="Text 5"/>
          <p:cNvSpPr txBox="1"/>
          <p:nvPr/>
        </p:nvSpPr>
        <p:spPr>
          <a:xfrm>
            <a:off x="685800" y="2880360"/>
            <a:ext cx="4952848" cy="59436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Detects abnormalities in X-rays, CT scans, and MRIs</a:t>
            </a:r>
            <a:endParaRPr lang="en-US" sz="1250" dirty="0"/>
          </a:p>
        </p:txBody>
      </p:sp>
      <p:sp>
        <p:nvSpPr>
          <p:cNvPr id="8" name="Shape 6"/>
          <p:cNvSpPr/>
          <p:nvPr/>
        </p:nvSpPr>
        <p:spPr>
          <a:xfrm>
            <a:off x="6324448" y="1600200"/>
            <a:ext cx="5410048" cy="1965960"/>
          </a:xfrm>
          <a:prstGeom prst="roundRect">
            <a:avLst>
              <a:gd name="adj" fmla="val 3721"/>
            </a:avLst>
          </a:prstGeom>
          <a:solidFill>
            <a:srgbClr val="DDEBF7"/>
          </a:solidFill>
          <a:ln/>
        </p:spPr>
      </p:sp>
      <p:sp>
        <p:nvSpPr>
          <p:cNvPr id="9" name="Text 7"/>
          <p:cNvSpPr txBox="1"/>
          <p:nvPr/>
        </p:nvSpPr>
        <p:spPr>
          <a:xfrm>
            <a:off x="6553048" y="1783080"/>
            <a:ext cx="548640" cy="54864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2</a:t>
            </a:r>
            <a:endParaRPr lang="en-US" sz="2600" dirty="0"/>
          </a:p>
        </p:txBody>
      </p:sp>
      <p:sp>
        <p:nvSpPr>
          <p:cNvPr id="10" name="Text 8"/>
          <p:cNvSpPr txBox="1"/>
          <p:nvPr/>
        </p:nvSpPr>
        <p:spPr>
          <a:xfrm>
            <a:off x="6553048" y="2377440"/>
            <a:ext cx="4952848" cy="502920"/>
          </a:xfrm>
          <a:prstGeom prst="rect">
            <a:avLst/>
          </a:prstGeom>
          <a:noFill/>
          <a:ln/>
        </p:spPr>
        <p:txBody>
          <a:bodyPr wrap="square" lIns="0" tIns="0" rIns="0" bIns="0" rtlCol="0" anchor="t"/>
          <a:lstStyle/>
          <a:p>
            <a:pPr marL="0" indent="0">
              <a:buNone/>
            </a:pPr>
            <a:r>
              <a:rPr lang="en-US" sz="1500" b="1" dirty="0">
                <a:solidFill>
                  <a:srgbClr val="1F4E79"/>
                </a:solidFill>
                <a:latin typeface="Calibri" pitchFamily="34" charset="0"/>
                <a:ea typeface="Calibri" pitchFamily="34" charset="-122"/>
                <a:cs typeface="Calibri" pitchFamily="34" charset="-120"/>
              </a:rPr>
              <a:t>Patient Deterioration Prediction</a:t>
            </a:r>
            <a:endParaRPr lang="en-US" sz="1500" dirty="0"/>
          </a:p>
        </p:txBody>
      </p:sp>
      <p:sp>
        <p:nvSpPr>
          <p:cNvPr id="11" name="Text 9"/>
          <p:cNvSpPr txBox="1"/>
          <p:nvPr/>
        </p:nvSpPr>
        <p:spPr>
          <a:xfrm>
            <a:off x="6553048" y="2880360"/>
            <a:ext cx="4952848" cy="59436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Predicts patients at risk of rapid clinical decline</a:t>
            </a:r>
            <a:endParaRPr lang="en-US" sz="1250" dirty="0"/>
          </a:p>
        </p:txBody>
      </p:sp>
      <p:sp>
        <p:nvSpPr>
          <p:cNvPr id="12" name="Shape 10"/>
          <p:cNvSpPr/>
          <p:nvPr/>
        </p:nvSpPr>
        <p:spPr>
          <a:xfrm>
            <a:off x="457200" y="3931920"/>
            <a:ext cx="5410048" cy="1965960"/>
          </a:xfrm>
          <a:prstGeom prst="roundRect">
            <a:avLst>
              <a:gd name="adj" fmla="val 3721"/>
            </a:avLst>
          </a:prstGeom>
          <a:solidFill>
            <a:srgbClr val="DDEBF7"/>
          </a:solidFill>
          <a:ln/>
        </p:spPr>
      </p:sp>
      <p:sp>
        <p:nvSpPr>
          <p:cNvPr id="13" name="Text 11"/>
          <p:cNvSpPr txBox="1"/>
          <p:nvPr/>
        </p:nvSpPr>
        <p:spPr>
          <a:xfrm>
            <a:off x="685800" y="4114800"/>
            <a:ext cx="548640" cy="54864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3</a:t>
            </a:r>
            <a:endParaRPr lang="en-US" sz="2600" dirty="0"/>
          </a:p>
        </p:txBody>
      </p:sp>
      <p:sp>
        <p:nvSpPr>
          <p:cNvPr id="14" name="Text 12"/>
          <p:cNvSpPr txBox="1"/>
          <p:nvPr/>
        </p:nvSpPr>
        <p:spPr>
          <a:xfrm>
            <a:off x="685800" y="4709160"/>
            <a:ext cx="4952848" cy="502920"/>
          </a:xfrm>
          <a:prstGeom prst="rect">
            <a:avLst/>
          </a:prstGeom>
          <a:noFill/>
          <a:ln/>
        </p:spPr>
        <p:txBody>
          <a:bodyPr wrap="square" lIns="0" tIns="0" rIns="0" bIns="0" rtlCol="0" anchor="t"/>
          <a:lstStyle/>
          <a:p>
            <a:pPr marL="0" indent="0">
              <a:buNone/>
            </a:pPr>
            <a:r>
              <a:rPr lang="en-US" sz="1500" b="1" dirty="0">
                <a:solidFill>
                  <a:srgbClr val="1F4E79"/>
                </a:solidFill>
                <a:latin typeface="Calibri" pitchFamily="34" charset="0"/>
                <a:ea typeface="Calibri" pitchFamily="34" charset="-122"/>
                <a:cs typeface="Calibri" pitchFamily="34" charset="-120"/>
              </a:rPr>
              <a:t>Generative AI Clinical Assistant</a:t>
            </a:r>
            <a:endParaRPr lang="en-US" sz="1500" dirty="0"/>
          </a:p>
        </p:txBody>
      </p:sp>
      <p:sp>
        <p:nvSpPr>
          <p:cNvPr id="15" name="Text 13"/>
          <p:cNvSpPr txBox="1"/>
          <p:nvPr/>
        </p:nvSpPr>
        <p:spPr>
          <a:xfrm>
            <a:off x="685800" y="5212080"/>
            <a:ext cx="4952848" cy="59436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Summarizes records and drafts clinical documentation</a:t>
            </a:r>
            <a:endParaRPr lang="en-US" sz="1250" dirty="0"/>
          </a:p>
        </p:txBody>
      </p:sp>
      <p:sp>
        <p:nvSpPr>
          <p:cNvPr id="16" name="Shape 14"/>
          <p:cNvSpPr/>
          <p:nvPr/>
        </p:nvSpPr>
        <p:spPr>
          <a:xfrm>
            <a:off x="6324448" y="3931920"/>
            <a:ext cx="5410048" cy="1965960"/>
          </a:xfrm>
          <a:prstGeom prst="roundRect">
            <a:avLst>
              <a:gd name="adj" fmla="val 3721"/>
            </a:avLst>
          </a:prstGeom>
          <a:solidFill>
            <a:srgbClr val="DDEBF7"/>
          </a:solidFill>
          <a:ln/>
        </p:spPr>
      </p:sp>
      <p:sp>
        <p:nvSpPr>
          <p:cNvPr id="17" name="Text 15"/>
          <p:cNvSpPr txBox="1"/>
          <p:nvPr/>
        </p:nvSpPr>
        <p:spPr>
          <a:xfrm>
            <a:off x="6553048" y="4114800"/>
            <a:ext cx="548640" cy="54864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4</a:t>
            </a:r>
            <a:endParaRPr lang="en-US" sz="2600" dirty="0"/>
          </a:p>
        </p:txBody>
      </p:sp>
      <p:sp>
        <p:nvSpPr>
          <p:cNvPr id="18" name="Text 16"/>
          <p:cNvSpPr txBox="1"/>
          <p:nvPr/>
        </p:nvSpPr>
        <p:spPr>
          <a:xfrm>
            <a:off x="6553048" y="4709160"/>
            <a:ext cx="4952848" cy="502920"/>
          </a:xfrm>
          <a:prstGeom prst="rect">
            <a:avLst/>
          </a:prstGeom>
          <a:noFill/>
          <a:ln/>
        </p:spPr>
        <p:txBody>
          <a:bodyPr wrap="square" lIns="0" tIns="0" rIns="0" bIns="0" rtlCol="0" anchor="t"/>
          <a:lstStyle/>
          <a:p>
            <a:pPr marL="0" indent="0">
              <a:buNone/>
            </a:pPr>
            <a:r>
              <a:rPr lang="en-US" sz="1500" b="1" dirty="0">
                <a:solidFill>
                  <a:srgbClr val="1F4E79"/>
                </a:solidFill>
                <a:latin typeface="Calibri" pitchFamily="34" charset="0"/>
                <a:ea typeface="Calibri" pitchFamily="34" charset="-122"/>
                <a:cs typeface="Calibri" pitchFamily="34" charset="-120"/>
              </a:rPr>
              <a:t>AI Scheduling &amp; Resource Optimization</a:t>
            </a:r>
            <a:endParaRPr lang="en-US" sz="1500" dirty="0"/>
          </a:p>
        </p:txBody>
      </p:sp>
      <p:sp>
        <p:nvSpPr>
          <p:cNvPr id="19" name="Text 17"/>
          <p:cNvSpPr txBox="1"/>
          <p:nvPr/>
        </p:nvSpPr>
        <p:spPr>
          <a:xfrm>
            <a:off x="6553048" y="5212080"/>
            <a:ext cx="4952848" cy="594360"/>
          </a:xfrm>
          <a:prstGeom prst="rect">
            <a:avLst/>
          </a:prstGeom>
          <a:noFill/>
          <a:ln/>
        </p:spPr>
        <p:txBody>
          <a:bodyPr wrap="square" lIns="0" tIns="0" rIns="0" bIns="0" rtlCol="0" anchor="t"/>
          <a:lstStyle/>
          <a:p>
            <a:pPr marL="0" indent="0">
              <a:buNone/>
            </a:pPr>
            <a:r>
              <a:rPr lang="en-US" sz="1250" dirty="0">
                <a:solidFill>
                  <a:srgbClr val="262626"/>
                </a:solidFill>
                <a:latin typeface="Calibri" pitchFamily="34" charset="0"/>
                <a:ea typeface="Calibri" pitchFamily="34" charset="-122"/>
                <a:cs typeface="Calibri" pitchFamily="34" charset="-120"/>
              </a:rPr>
              <a:t>Forecasts demand and optimizes staffing and appointments</a:t>
            </a:r>
            <a:endParaRPr lang="en-US" sz="1250" dirty="0"/>
          </a:p>
        </p:txBody>
      </p:sp>
      <p:sp>
        <p:nvSpPr>
          <p:cNvPr id="20" name="Text 18"/>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800" b="1" dirty="0">
                <a:solidFill>
                  <a:srgbClr val="1F4E79"/>
                </a:solidFill>
                <a:latin typeface="Cambria" pitchFamily="34" charset="0"/>
                <a:ea typeface="Cambria" pitchFamily="34" charset="-122"/>
                <a:cs typeface="Cambria" pitchFamily="34" charset="-120"/>
              </a:rPr>
              <a:t>Chart: Data Sources, Bias Risks, and Mitigation by Use Case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7295" cy="4937760"/>
        </p:xfrm>
        <a:graphic>
          <a:graphicData uri="http://schemas.openxmlformats.org/drawingml/2006/table">
            <a:tbl>
              <a:tblPr/>
              <a:tblGrid>
                <a:gridCol w="21031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4144975">
                  <a:extLst>
                    <a:ext uri="{9D8B030D-6E8A-4147-A177-3AD203B41FA5}">
                      <a16:colId xmlns:a16="http://schemas.microsoft.com/office/drawing/2014/main" val="20003"/>
                    </a:ext>
                  </a:extLst>
                </a:gridCol>
              </a:tblGrid>
              <a:tr h="36576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Use Case</a:t>
                      </a:r>
                      <a:endParaRPr lang="en-US" sz="12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Data Source</a:t>
                      </a:r>
                      <a:endParaRPr lang="en-US" sz="12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Potential Bias Source</a:t>
                      </a:r>
                      <a:endParaRPr lang="en-US" sz="12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Mitigation</a:t>
                      </a:r>
                      <a:endParaRPr lang="en-US" sz="12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1143000">
                <a:tc>
                  <a:txBody>
                    <a:bodyPr/>
                    <a:lstStyle/>
                    <a:p>
                      <a:pPr marL="0" indent="0" algn="l">
                        <a:buNone/>
                      </a:pPr>
                      <a:r>
                        <a:rPr lang="en-US" sz="1050" b="1" dirty="0">
                          <a:solidFill>
                            <a:srgbClr val="1F4E79"/>
                          </a:solidFill>
                          <a:latin typeface="Calibri" pitchFamily="34" charset="0"/>
                          <a:ea typeface="Calibri" pitchFamily="34" charset="-122"/>
                          <a:cs typeface="Calibri" pitchFamily="34" charset="-120"/>
                        </a:rPr>
                        <a:t>AI-Assisted Medical Imaging</a:t>
                      </a:r>
                      <a:endParaRPr lang="en-US" sz="10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000" dirty="0">
                          <a:solidFill>
                            <a:srgbClr val="262626"/>
                          </a:solidFill>
                          <a:latin typeface="Calibri" pitchFamily="34" charset="0"/>
                          <a:ea typeface="Calibri" pitchFamily="34" charset="-122"/>
                          <a:cs typeface="Calibri" pitchFamily="34" charset="-120"/>
                        </a:rPr>
                        <a:t>Historical radiology archive (PACS/EHR)</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2626"/>
                          </a:solidFill>
                          <a:latin typeface="Calibri" pitchFamily="34" charset="0"/>
                          <a:ea typeface="Calibri" pitchFamily="34" charset="-122"/>
                          <a:cs typeface="Calibri" pitchFamily="34" charset="-120"/>
                        </a:rPr>
                        <a:t>Underrepresentation of certain skin tones, body types, or anatomies in historical imaging data</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262626"/>
                          </a:solidFill>
                          <a:latin typeface="Calibri" pitchFamily="34" charset="0"/>
                          <a:ea typeface="Calibri" pitchFamily="34" charset="-122"/>
                          <a:cs typeface="Calibri" pitchFamily="34" charset="-120"/>
                        </a:rPr>
                        <a:t>Audit training data for demographic representation; supplement underrepresented groups; validate performance by subgroup</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43000">
                <a:tc>
                  <a:txBody>
                    <a:bodyPr/>
                    <a:lstStyle/>
                    <a:p>
                      <a:pPr marL="0" indent="0" algn="l">
                        <a:buNone/>
                      </a:pPr>
                      <a:r>
                        <a:rPr lang="en-US" sz="1050" b="1" dirty="0">
                          <a:solidFill>
                            <a:srgbClr val="1F4E79"/>
                          </a:solidFill>
                          <a:latin typeface="Calibri" pitchFamily="34" charset="0"/>
                          <a:ea typeface="Calibri" pitchFamily="34" charset="-122"/>
                          <a:cs typeface="Calibri" pitchFamily="34" charset="-120"/>
                        </a:rPr>
                        <a:t>Patient Deterioration Prediction</a:t>
                      </a:r>
                      <a:endParaRPr lang="en-US" sz="10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000" dirty="0">
                          <a:solidFill>
                            <a:srgbClr val="262626"/>
                          </a:solidFill>
                          <a:latin typeface="Calibri" pitchFamily="34" charset="0"/>
                          <a:ea typeface="Calibri" pitchFamily="34" charset="-122"/>
                          <a:cs typeface="Calibri" pitchFamily="34" charset="-120"/>
                        </a:rPr>
                        <a:t>EHR vitals, labs, nursing notes</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2626"/>
                          </a:solidFill>
                          <a:latin typeface="Calibri" pitchFamily="34" charset="0"/>
                          <a:ea typeface="Calibri" pitchFamily="34" charset="-122"/>
                          <a:cs typeface="Calibri" pitchFamily="34" charset="-120"/>
                        </a:rPr>
                        <a:t>Historical care-access disparities embedded in past treatment and documentation patterns</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262626"/>
                          </a:solidFill>
                          <a:latin typeface="Calibri" pitchFamily="34" charset="0"/>
                          <a:ea typeface="Calibri" pitchFamily="34" charset="-122"/>
                          <a:cs typeface="Calibri" pitchFamily="34" charset="-120"/>
                        </a:rPr>
                        <a:t>Avoid proxy variables tied to past resource allocation; validate outcomes across subgroups; clinical ethics review</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43000">
                <a:tc>
                  <a:txBody>
                    <a:bodyPr/>
                    <a:lstStyle/>
                    <a:p>
                      <a:pPr marL="0" indent="0" algn="l">
                        <a:buNone/>
                      </a:pPr>
                      <a:r>
                        <a:rPr lang="en-US" sz="1050" b="1" dirty="0">
                          <a:solidFill>
                            <a:srgbClr val="1F4E79"/>
                          </a:solidFill>
                          <a:latin typeface="Calibri" pitchFamily="34" charset="0"/>
                          <a:ea typeface="Calibri" pitchFamily="34" charset="-122"/>
                          <a:cs typeface="Calibri" pitchFamily="34" charset="-120"/>
                        </a:rPr>
                        <a:t>Generative AI Clinical Assistant</a:t>
                      </a:r>
                      <a:endParaRPr lang="en-US" sz="10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000" dirty="0">
                          <a:solidFill>
                            <a:srgbClr val="262626"/>
                          </a:solidFill>
                          <a:latin typeface="Calibri" pitchFamily="34" charset="0"/>
                          <a:ea typeface="Calibri" pitchFamily="34" charset="-122"/>
                          <a:cs typeface="Calibri" pitchFamily="34" charset="-120"/>
                        </a:rPr>
                        <a:t>Past clinical documentation and provider notes</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2626"/>
                          </a:solidFill>
                          <a:latin typeface="Calibri" pitchFamily="34" charset="0"/>
                          <a:ea typeface="Calibri" pitchFamily="34" charset="-122"/>
                          <a:cs typeface="Calibri" pitchFamily="34" charset="-120"/>
                        </a:rPr>
                        <a:t>Inconsistent documentation language/tone across providers for different patient groups</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262626"/>
                          </a:solidFill>
                          <a:latin typeface="Calibri" pitchFamily="34" charset="0"/>
                          <a:ea typeface="Calibri" pitchFamily="34" charset="-122"/>
                          <a:cs typeface="Calibri" pitchFamily="34" charset="-120"/>
                        </a:rPr>
                        <a:t>Human review of every generated note; bias-aware prompt design; clinician feedback loop</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143000">
                <a:tc>
                  <a:txBody>
                    <a:bodyPr/>
                    <a:lstStyle/>
                    <a:p>
                      <a:pPr marL="0" indent="0" algn="l">
                        <a:buNone/>
                      </a:pPr>
                      <a:r>
                        <a:rPr lang="en-US" sz="1050" b="1" dirty="0">
                          <a:solidFill>
                            <a:srgbClr val="1F4E79"/>
                          </a:solidFill>
                          <a:latin typeface="Calibri" pitchFamily="34" charset="0"/>
                          <a:ea typeface="Calibri" pitchFamily="34" charset="-122"/>
                          <a:cs typeface="Calibri" pitchFamily="34" charset="-120"/>
                        </a:rPr>
                        <a:t>AI Scheduling &amp; Resource Optimization</a:t>
                      </a:r>
                      <a:endParaRPr lang="en-US" sz="10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000" dirty="0">
                          <a:solidFill>
                            <a:srgbClr val="262626"/>
                          </a:solidFill>
                          <a:latin typeface="Calibri" pitchFamily="34" charset="0"/>
                          <a:ea typeface="Calibri" pitchFamily="34" charset="-122"/>
                          <a:cs typeface="Calibri" pitchFamily="34" charset="-120"/>
                        </a:rPr>
                        <a:t>Historical staffing and scheduling data</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2626"/>
                          </a:solidFill>
                          <a:latin typeface="Calibri" pitchFamily="34" charset="0"/>
                          <a:ea typeface="Calibri" pitchFamily="34" charset="-122"/>
                          <a:cs typeface="Calibri" pitchFamily="34" charset="-120"/>
                        </a:rPr>
                        <a:t>Past uneven resource allocation across facility locations</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262626"/>
                          </a:solidFill>
                          <a:latin typeface="Calibri" pitchFamily="34" charset="0"/>
                          <a:ea typeface="Calibri" pitchFamily="34" charset="-122"/>
                          <a:cs typeface="Calibri" pitchFamily="34" charset="-120"/>
                        </a:rPr>
                        <a:t>Regular equity audits by facility/region; objective demand-based rules that do not just replicate history</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Text 1"/>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800" b="1" dirty="0">
                <a:solidFill>
                  <a:srgbClr val="1F4E79"/>
                </a:solidFill>
                <a:latin typeface="Cambria" pitchFamily="34" charset="0"/>
                <a:ea typeface="Cambria" pitchFamily="34" charset="-122"/>
                <a:cs typeface="Cambria" pitchFamily="34" charset="-120"/>
              </a:rPr>
              <a:t>Chart: Algorithmic Bias Sources and Mitigations</a:t>
            </a:r>
            <a:endParaRPr lang="en-US" sz="28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300" i="1" dirty="0">
                <a:solidFill>
                  <a:srgbClr val="2E75B6"/>
                </a:solidFill>
                <a:latin typeface="Calibri" pitchFamily="34" charset="0"/>
                <a:ea typeface="Calibri" pitchFamily="34" charset="-122"/>
                <a:cs typeface="Calibri" pitchFamily="34" charset="-120"/>
              </a:rPr>
              <a:t>Organized using the NIST SP 1270 bias framework</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11277295" cy="4754880"/>
        </p:xfrm>
        <a:graphic>
          <a:graphicData uri="http://schemas.openxmlformats.org/drawingml/2006/table">
            <a:tbl>
              <a:tblPr/>
              <a:tblGrid>
                <a:gridCol w="23774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3230575">
                  <a:extLst>
                    <a:ext uri="{9D8B030D-6E8A-4147-A177-3AD203B41FA5}">
                      <a16:colId xmlns:a16="http://schemas.microsoft.com/office/drawing/2014/main" val="20003"/>
                    </a:ext>
                  </a:extLst>
                </a:gridCol>
              </a:tblGrid>
              <a:tr h="50292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Bias Category (NIST SP 1270)</a:t>
                      </a:r>
                      <a:endParaRPr lang="en-US" sz="11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Example at NovaCare</a:t>
                      </a:r>
                      <a:endParaRPr lang="en-US" sz="11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Mitigation</a:t>
                      </a:r>
                      <a:endParaRPr lang="en-US" sz="11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1417320">
                <a:tc>
                  <a:txBody>
                    <a:bodyPr/>
                    <a:lstStyle/>
                    <a:p>
                      <a:pPr marL="0" indent="0" algn="l">
                        <a:buNone/>
                      </a:pPr>
                      <a:r>
                        <a:rPr lang="en-US" sz="1050" b="1" dirty="0">
                          <a:solidFill>
                            <a:srgbClr val="1F4E79"/>
                          </a:solidFill>
                          <a:latin typeface="Calibri" pitchFamily="34" charset="0"/>
                          <a:ea typeface="Calibri" pitchFamily="34" charset="-122"/>
                          <a:cs typeface="Calibri" pitchFamily="34" charset="-120"/>
                        </a:rPr>
                        <a:t>Systemic (institutional/historical)</a:t>
                      </a:r>
                      <a:endParaRPr lang="en-US" sz="10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000" dirty="0">
                          <a:solidFill>
                            <a:srgbClr val="262626"/>
                          </a:solidFill>
                          <a:latin typeface="Calibri" pitchFamily="34" charset="0"/>
                          <a:ea typeface="Calibri" pitchFamily="34" charset="-122"/>
                          <a:cs typeface="Calibri" pitchFamily="34" charset="-120"/>
                        </a:rPr>
                        <a:t>Bias from institutions and historical inequities, not just data</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2626"/>
                          </a:solidFill>
                          <a:latin typeface="Calibri" pitchFamily="34" charset="0"/>
                          <a:ea typeface="Calibri" pitchFamily="34" charset="-122"/>
                          <a:cs typeface="Calibri" pitchFamily="34" charset="-120"/>
                        </a:rPr>
                        <a:t>Deterioration-prediction model shaped by historically unequal access to care</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262626"/>
                          </a:solidFill>
                          <a:latin typeface="Calibri" pitchFamily="34" charset="0"/>
                          <a:ea typeface="Calibri" pitchFamily="34" charset="-122"/>
                          <a:cs typeface="Calibri" pitchFamily="34" charset="-120"/>
                        </a:rPr>
                        <a:t>Equity reviews at the governance level; source data across historically underserved facilities; RAI Steering Committee review</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417320">
                <a:tc>
                  <a:txBody>
                    <a:bodyPr/>
                    <a:lstStyle/>
                    <a:p>
                      <a:pPr marL="0" indent="0" algn="l">
                        <a:buNone/>
                      </a:pPr>
                      <a:r>
                        <a:rPr lang="en-US" sz="1050" b="1" dirty="0">
                          <a:solidFill>
                            <a:srgbClr val="1F4E79"/>
                          </a:solidFill>
                          <a:latin typeface="Calibri" pitchFamily="34" charset="0"/>
                          <a:ea typeface="Calibri" pitchFamily="34" charset="-122"/>
                          <a:cs typeface="Calibri" pitchFamily="34" charset="-120"/>
                        </a:rPr>
                        <a:t>Statistical/Computational</a:t>
                      </a:r>
                      <a:endParaRPr lang="en-US" sz="10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000" dirty="0">
                          <a:solidFill>
                            <a:srgbClr val="262626"/>
                          </a:solidFill>
                          <a:latin typeface="Calibri" pitchFamily="34" charset="0"/>
                          <a:ea typeface="Calibri" pitchFamily="34" charset="-122"/>
                          <a:cs typeface="Calibri" pitchFamily="34" charset="-120"/>
                        </a:rPr>
                        <a:t>Errors from unrepresentative samples, proxy variables, or flawed metrics</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2626"/>
                          </a:solidFill>
                          <a:latin typeface="Calibri" pitchFamily="34" charset="0"/>
                          <a:ea typeface="Calibri" pitchFamily="34" charset="-122"/>
                          <a:cs typeface="Calibri" pitchFamily="34" charset="-120"/>
                        </a:rPr>
                        <a:t>Imaging model underperforming for underrepresented patient groups</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262626"/>
                          </a:solidFill>
                          <a:latin typeface="Calibri" pitchFamily="34" charset="0"/>
                          <a:ea typeface="Calibri" pitchFamily="34" charset="-122"/>
                          <a:cs typeface="Calibri" pitchFamily="34" charset="-120"/>
                        </a:rPr>
                        <a:t>Subgroup performance testing; pre/in/post-processing bias-mitigation techniques; proxy variable audits</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417320">
                <a:tc>
                  <a:txBody>
                    <a:bodyPr/>
                    <a:lstStyle/>
                    <a:p>
                      <a:pPr marL="0" indent="0" algn="l">
                        <a:buNone/>
                      </a:pPr>
                      <a:r>
                        <a:rPr lang="en-US" sz="1050" b="1" dirty="0">
                          <a:solidFill>
                            <a:srgbClr val="1F4E79"/>
                          </a:solidFill>
                          <a:latin typeface="Calibri" pitchFamily="34" charset="0"/>
                          <a:ea typeface="Calibri" pitchFamily="34" charset="-122"/>
                          <a:cs typeface="Calibri" pitchFamily="34" charset="-120"/>
                        </a:rPr>
                        <a:t>Human/Cognitive</a:t>
                      </a:r>
                      <a:endParaRPr lang="en-US" sz="10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000" dirty="0">
                          <a:solidFill>
                            <a:srgbClr val="262626"/>
                          </a:solidFill>
                          <a:latin typeface="Calibri" pitchFamily="34" charset="0"/>
                          <a:ea typeface="Calibri" pitchFamily="34" charset="-122"/>
                          <a:cs typeface="Calibri" pitchFamily="34" charset="-120"/>
                        </a:rPr>
                        <a:t>Bias introduced by developers, labelers, or reviewers during design and oversight</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62626"/>
                          </a:solidFill>
                          <a:latin typeface="Calibri" pitchFamily="34" charset="0"/>
                          <a:ea typeface="Calibri" pitchFamily="34" charset="-122"/>
                          <a:cs typeface="Calibri" pitchFamily="34" charset="-120"/>
                        </a:rPr>
                        <a:t>Inconsistent labeling standards used to train the clinical assistant</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262626"/>
                          </a:solidFill>
                          <a:latin typeface="Calibri" pitchFamily="34" charset="0"/>
                          <a:ea typeface="Calibri" pitchFamily="34" charset="-122"/>
                          <a:cs typeface="Calibri" pitchFamily="34" charset="-120"/>
                        </a:rPr>
                        <a:t>Diverse review teams; structured labeling guidelines; ongoing bias-awareness training for staff</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800" b="1" dirty="0">
                <a:solidFill>
                  <a:srgbClr val="1F4E79"/>
                </a:solidFill>
                <a:latin typeface="Cambria" pitchFamily="34" charset="0"/>
                <a:ea typeface="Cambria" pitchFamily="34" charset="-122"/>
                <a:cs typeface="Cambria" pitchFamily="34" charset="-120"/>
              </a:rPr>
              <a:t>Chart: Testing, Validation, and Monitoring Procedures</a:t>
            </a:r>
            <a:endParaRPr lang="en-US" sz="28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300" i="1" dirty="0">
                <a:solidFill>
                  <a:srgbClr val="2E75B6"/>
                </a:solidFill>
                <a:latin typeface="Calibri" pitchFamily="34" charset="0"/>
                <a:ea typeface="Calibri" pitchFamily="34" charset="-122"/>
                <a:cs typeface="Calibri" pitchFamily="34" charset="-120"/>
              </a:rPr>
              <a:t>Tied to the RAI roles and vetting process defined in Assignment 1.4</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11277295" cy="4297680"/>
        </p:xfrm>
        <a:graphic>
          <a:graphicData uri="http://schemas.openxmlformats.org/drawingml/2006/table">
            <a:tbl>
              <a:tblPr/>
              <a:tblGrid>
                <a:gridCol w="2560320">
                  <a:extLst>
                    <a:ext uri="{9D8B030D-6E8A-4147-A177-3AD203B41FA5}">
                      <a16:colId xmlns:a16="http://schemas.microsoft.com/office/drawing/2014/main" val="20000"/>
                    </a:ext>
                  </a:extLst>
                </a:gridCol>
                <a:gridCol w="5608015">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41148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Stage</a:t>
                      </a:r>
                      <a:endParaRPr lang="en-US" sz="12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Activity</a:t>
                      </a:r>
                      <a:endParaRPr lang="en-US" sz="12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Frequency / Owner</a:t>
                      </a:r>
                      <a:endParaRPr lang="en-US" sz="12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777240">
                <a:tc>
                  <a:txBody>
                    <a:bodyPr/>
                    <a:lstStyle/>
                    <a:p>
                      <a:pPr marL="0" indent="0" algn="l">
                        <a:buNone/>
                      </a:pPr>
                      <a:r>
                        <a:rPr lang="en-US" sz="1100" b="1" dirty="0">
                          <a:solidFill>
                            <a:srgbClr val="1F4E79"/>
                          </a:solidFill>
                          <a:latin typeface="Calibri" pitchFamily="34" charset="0"/>
                          <a:ea typeface="Calibri" pitchFamily="34" charset="-122"/>
                          <a:cs typeface="Calibri" pitchFamily="34" charset="-120"/>
                        </a:rPr>
                        <a:t>Pre-Deployment Testing</a:t>
                      </a:r>
                      <a:endParaRPr lang="en-US" sz="11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050" dirty="0">
                          <a:solidFill>
                            <a:srgbClr val="262626"/>
                          </a:solidFill>
                          <a:latin typeface="Calibri" pitchFamily="34" charset="0"/>
                          <a:ea typeface="Calibri" pitchFamily="34" charset="-122"/>
                          <a:cs typeface="Calibri" pitchFamily="34" charset="-120"/>
                        </a:rPr>
                        <a:t>Subgroup performance testing (accuracy, false positive/negative rates by group); proxy variable audit</a:t>
                      </a:r>
                      <a:endParaRPr lang="en-US" sz="10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262626"/>
                          </a:solidFill>
                          <a:latin typeface="Calibri" pitchFamily="34" charset="0"/>
                          <a:ea typeface="Calibri" pitchFamily="34" charset="-122"/>
                          <a:cs typeface="Calibri" pitchFamily="34" charset="-120"/>
                        </a:rPr>
                        <a:t>Once, before approval. AI Safety &amp; Validation Lead</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lgn="l">
                        <a:buNone/>
                      </a:pPr>
                      <a:r>
                        <a:rPr lang="en-US" sz="1100" b="1" dirty="0">
                          <a:solidFill>
                            <a:srgbClr val="1F4E79"/>
                          </a:solidFill>
                          <a:latin typeface="Calibri" pitchFamily="34" charset="0"/>
                          <a:ea typeface="Calibri" pitchFamily="34" charset="-122"/>
                          <a:cs typeface="Calibri" pitchFamily="34" charset="-120"/>
                        </a:rPr>
                        <a:t>Fairness &amp; Usability Validation</a:t>
                      </a:r>
                      <a:endParaRPr lang="en-US" sz="11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050" dirty="0">
                          <a:solidFill>
                            <a:srgbClr val="262626"/>
                          </a:solidFill>
                          <a:latin typeface="Calibri" pitchFamily="34" charset="0"/>
                          <a:ea typeface="Calibri" pitchFamily="34" charset="-122"/>
                          <a:cs typeface="Calibri" pitchFamily="34" charset="-120"/>
                        </a:rPr>
                        <a:t>Test outcomes and explanations with real clinicians and patients across diverse groups</a:t>
                      </a:r>
                      <a:endParaRPr lang="en-US" sz="10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262626"/>
                          </a:solidFill>
                          <a:latin typeface="Calibri" pitchFamily="34" charset="0"/>
                          <a:ea typeface="Calibri" pitchFamily="34" charset="-122"/>
                          <a:cs typeface="Calibri" pitchFamily="34" charset="-120"/>
                        </a:rPr>
                        <a:t>Once, before deployment. Human Factors &amp; Clinical AI Lead</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lgn="l">
                        <a:buNone/>
                      </a:pPr>
                      <a:r>
                        <a:rPr lang="en-US" sz="1100" b="1" dirty="0">
                          <a:solidFill>
                            <a:srgbClr val="1F4E79"/>
                          </a:solidFill>
                          <a:latin typeface="Calibri" pitchFamily="34" charset="0"/>
                          <a:ea typeface="Calibri" pitchFamily="34" charset="-122"/>
                          <a:cs typeface="Calibri" pitchFamily="34" charset="-120"/>
                        </a:rPr>
                        <a:t>Independent Validation Gate</a:t>
                      </a:r>
                      <a:endParaRPr lang="en-US" sz="11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050" dirty="0">
                          <a:solidFill>
                            <a:srgbClr val="262626"/>
                          </a:solidFill>
                          <a:latin typeface="Calibri" pitchFamily="34" charset="0"/>
                          <a:ea typeface="Calibri" pitchFamily="34" charset="-122"/>
                          <a:cs typeface="Calibri" pitchFamily="34" charset="-120"/>
                        </a:rPr>
                        <a:t>Independent review of fairness metrics against a predefined threshold</a:t>
                      </a:r>
                      <a:endParaRPr lang="en-US" sz="10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262626"/>
                          </a:solidFill>
                          <a:latin typeface="Calibri" pitchFamily="34" charset="0"/>
                          <a:ea typeface="Calibri" pitchFamily="34" charset="-122"/>
                          <a:cs typeface="Calibri" pitchFamily="34" charset="-120"/>
                        </a:rPr>
                        <a:t>Before RAI Approval. AI Risk &amp; Compliance Manager</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lgn="l">
                        <a:buNone/>
                      </a:pPr>
                      <a:r>
                        <a:rPr lang="en-US" sz="1100" b="1" dirty="0">
                          <a:solidFill>
                            <a:srgbClr val="1F4E79"/>
                          </a:solidFill>
                          <a:latin typeface="Calibri" pitchFamily="34" charset="0"/>
                          <a:ea typeface="Calibri" pitchFamily="34" charset="-122"/>
                          <a:cs typeface="Calibri" pitchFamily="34" charset="-120"/>
                        </a:rPr>
                        <a:t>Post-Deployment Monitoring</a:t>
                      </a:r>
                      <a:endParaRPr lang="en-US" sz="11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050" dirty="0">
                          <a:solidFill>
                            <a:srgbClr val="262626"/>
                          </a:solidFill>
                          <a:latin typeface="Calibri" pitchFamily="34" charset="0"/>
                          <a:ea typeface="Calibri" pitchFamily="34" charset="-122"/>
                          <a:cs typeface="Calibri" pitchFamily="34" charset="-120"/>
                        </a:rPr>
                        <a:t>Ongoing tracking of subgroup performance, overrides, and complaints</a:t>
                      </a:r>
                      <a:endParaRPr lang="en-US" sz="10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262626"/>
                          </a:solidFill>
                          <a:latin typeface="Calibri" pitchFamily="34" charset="0"/>
                          <a:ea typeface="Calibri" pitchFamily="34" charset="-122"/>
                          <a:cs typeface="Calibri" pitchFamily="34" charset="-120"/>
                        </a:rPr>
                        <a:t>Monthly. RAI Governance &amp; Ethics Lead</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77240">
                <a:tc>
                  <a:txBody>
                    <a:bodyPr/>
                    <a:lstStyle/>
                    <a:p>
                      <a:pPr marL="0" indent="0" algn="l">
                        <a:buNone/>
                      </a:pPr>
                      <a:r>
                        <a:rPr lang="en-US" sz="1100" b="1" dirty="0">
                          <a:solidFill>
                            <a:srgbClr val="1F4E79"/>
                          </a:solidFill>
                          <a:latin typeface="Calibri" pitchFamily="34" charset="0"/>
                          <a:ea typeface="Calibri" pitchFamily="34" charset="-122"/>
                          <a:cs typeface="Calibri" pitchFamily="34" charset="-120"/>
                        </a:rPr>
                        <a:t>Periodic Re-Audit</a:t>
                      </a:r>
                      <a:endParaRPr lang="en-US" sz="11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050" dirty="0">
                          <a:solidFill>
                            <a:srgbClr val="262626"/>
                          </a:solidFill>
                          <a:latin typeface="Calibri" pitchFamily="34" charset="0"/>
                          <a:ea typeface="Calibri" pitchFamily="34" charset="-122"/>
                          <a:cs typeface="Calibri" pitchFamily="34" charset="-120"/>
                        </a:rPr>
                        <a:t>Full fairness reassessment as patient population or data shifts</a:t>
                      </a:r>
                      <a:endParaRPr lang="en-US" sz="10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262626"/>
                          </a:solidFill>
                          <a:latin typeface="Calibri" pitchFamily="34" charset="0"/>
                          <a:ea typeface="Calibri" pitchFamily="34" charset="-122"/>
                          <a:cs typeface="Calibri" pitchFamily="34" charset="-120"/>
                        </a:rPr>
                        <a:t>Quarterly/Annual. RAI Steering Committee</a:t>
                      </a:r>
                      <a:endParaRPr lang="en-US" sz="10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800" b="1" dirty="0">
                <a:solidFill>
                  <a:srgbClr val="1F4E79"/>
                </a:solidFill>
                <a:latin typeface="Cambria" pitchFamily="34" charset="0"/>
                <a:ea typeface="Cambria" pitchFamily="34" charset="-122"/>
                <a:cs typeface="Cambria" pitchFamily="34" charset="-120"/>
              </a:rPr>
              <a:t>Tools, Processes, and Engagement to Build Trust in Fairness</a:t>
            </a:r>
            <a:endParaRPr lang="en-US" sz="2800" dirty="0"/>
          </a:p>
        </p:txBody>
      </p:sp>
      <p:sp>
        <p:nvSpPr>
          <p:cNvPr id="3" name="Shape 1"/>
          <p:cNvSpPr/>
          <p:nvPr/>
        </p:nvSpPr>
        <p:spPr>
          <a:xfrm>
            <a:off x="457200" y="1719072"/>
            <a:ext cx="201168" cy="201168"/>
          </a:xfrm>
          <a:prstGeom prst="ellipse">
            <a:avLst/>
          </a:prstGeom>
          <a:solidFill>
            <a:srgbClr val="2E75B6"/>
          </a:solidFill>
          <a:ln/>
        </p:spPr>
      </p:sp>
      <p:sp>
        <p:nvSpPr>
          <p:cNvPr id="4" name="Text 2"/>
          <p:cNvSpPr txBox="1"/>
          <p:nvPr/>
        </p:nvSpPr>
        <p:spPr>
          <a:xfrm>
            <a:off x="868680" y="1600200"/>
            <a:ext cx="10865815" cy="548640"/>
          </a:xfrm>
          <a:prstGeom prst="rect">
            <a:avLst/>
          </a:prstGeom>
          <a:noFill/>
          <a:ln/>
        </p:spPr>
        <p:txBody>
          <a:bodyPr wrap="square" lIns="0" tIns="0" rIns="0" bIns="0" rtlCol="0" anchor="t"/>
          <a:lstStyle/>
          <a:p>
            <a:pPr marL="0" indent="0">
              <a:buNone/>
            </a:pPr>
            <a:r>
              <a:rPr lang="en-US" sz="1500" dirty="0">
                <a:solidFill>
                  <a:srgbClr val="262626"/>
                </a:solidFill>
                <a:latin typeface="Calibri" pitchFamily="34" charset="0"/>
                <a:ea typeface="Calibri" pitchFamily="34" charset="-122"/>
                <a:cs typeface="Calibri" pitchFamily="34" charset="-120"/>
              </a:rPr>
              <a:t>Patient and clinician advisory panels for early feedback on new AI tools</a:t>
            </a:r>
            <a:endParaRPr lang="en-US" sz="1500" dirty="0"/>
          </a:p>
        </p:txBody>
      </p:sp>
      <p:sp>
        <p:nvSpPr>
          <p:cNvPr id="5" name="Shape 3"/>
          <p:cNvSpPr/>
          <p:nvPr/>
        </p:nvSpPr>
        <p:spPr>
          <a:xfrm>
            <a:off x="457200" y="2404872"/>
            <a:ext cx="201168" cy="201168"/>
          </a:xfrm>
          <a:prstGeom prst="ellipse">
            <a:avLst/>
          </a:prstGeom>
          <a:solidFill>
            <a:srgbClr val="2E75B6"/>
          </a:solidFill>
          <a:ln/>
        </p:spPr>
      </p:sp>
      <p:sp>
        <p:nvSpPr>
          <p:cNvPr id="6" name="Text 4"/>
          <p:cNvSpPr txBox="1"/>
          <p:nvPr/>
        </p:nvSpPr>
        <p:spPr>
          <a:xfrm>
            <a:off x="868680" y="2286000"/>
            <a:ext cx="10865815" cy="548640"/>
          </a:xfrm>
          <a:prstGeom prst="rect">
            <a:avLst/>
          </a:prstGeom>
          <a:noFill/>
          <a:ln/>
        </p:spPr>
        <p:txBody>
          <a:bodyPr wrap="square" lIns="0" tIns="0" rIns="0" bIns="0" rtlCol="0" anchor="t"/>
          <a:lstStyle/>
          <a:p>
            <a:pPr marL="0" indent="0">
              <a:buNone/>
            </a:pPr>
            <a:r>
              <a:rPr lang="en-US" sz="1500" dirty="0">
                <a:solidFill>
                  <a:srgbClr val="262626"/>
                </a:solidFill>
                <a:latin typeface="Calibri" pitchFamily="34" charset="0"/>
                <a:ea typeface="Calibri" pitchFamily="34" charset="-122"/>
                <a:cs typeface="Calibri" pitchFamily="34" charset="-120"/>
              </a:rPr>
              <a:t>Public-facing model cards summarizing capabilities, limitations, and bias-testing results</a:t>
            </a:r>
            <a:endParaRPr lang="en-US" sz="1500" dirty="0"/>
          </a:p>
        </p:txBody>
      </p:sp>
      <p:sp>
        <p:nvSpPr>
          <p:cNvPr id="7" name="Shape 5"/>
          <p:cNvSpPr/>
          <p:nvPr/>
        </p:nvSpPr>
        <p:spPr>
          <a:xfrm>
            <a:off x="457200" y="3090672"/>
            <a:ext cx="201168" cy="201168"/>
          </a:xfrm>
          <a:prstGeom prst="ellipse">
            <a:avLst/>
          </a:prstGeom>
          <a:solidFill>
            <a:srgbClr val="2E75B6"/>
          </a:solidFill>
          <a:ln/>
        </p:spPr>
      </p:sp>
      <p:sp>
        <p:nvSpPr>
          <p:cNvPr id="8" name="Text 6"/>
          <p:cNvSpPr txBox="1"/>
          <p:nvPr/>
        </p:nvSpPr>
        <p:spPr>
          <a:xfrm>
            <a:off x="868680" y="2971800"/>
            <a:ext cx="10865815" cy="548640"/>
          </a:xfrm>
          <a:prstGeom prst="rect">
            <a:avLst/>
          </a:prstGeom>
          <a:noFill/>
          <a:ln/>
        </p:spPr>
        <p:txBody>
          <a:bodyPr wrap="square" lIns="0" tIns="0" rIns="0" bIns="0" rtlCol="0" anchor="t"/>
          <a:lstStyle/>
          <a:p>
            <a:pPr marL="0" indent="0">
              <a:buNone/>
            </a:pPr>
            <a:r>
              <a:rPr lang="en-US" sz="1500" dirty="0">
                <a:solidFill>
                  <a:srgbClr val="262626"/>
                </a:solidFill>
                <a:latin typeface="Calibri" pitchFamily="34" charset="0"/>
                <a:ea typeface="Calibri" pitchFamily="34" charset="-122"/>
                <a:cs typeface="Calibri" pitchFamily="34" charset="-120"/>
              </a:rPr>
              <a:t>A clear recourse channel for patients/clinicians to report suspected unfair AI outcomes</a:t>
            </a:r>
            <a:endParaRPr lang="en-US" sz="1500" dirty="0"/>
          </a:p>
        </p:txBody>
      </p:sp>
      <p:sp>
        <p:nvSpPr>
          <p:cNvPr id="9" name="Shape 7"/>
          <p:cNvSpPr/>
          <p:nvPr/>
        </p:nvSpPr>
        <p:spPr>
          <a:xfrm>
            <a:off x="457200" y="3776472"/>
            <a:ext cx="201168" cy="201168"/>
          </a:xfrm>
          <a:prstGeom prst="ellipse">
            <a:avLst/>
          </a:prstGeom>
          <a:solidFill>
            <a:srgbClr val="2E75B6"/>
          </a:solidFill>
          <a:ln/>
        </p:spPr>
      </p:sp>
      <p:sp>
        <p:nvSpPr>
          <p:cNvPr id="10" name="Text 8"/>
          <p:cNvSpPr txBox="1"/>
          <p:nvPr/>
        </p:nvSpPr>
        <p:spPr>
          <a:xfrm>
            <a:off x="868680" y="3657600"/>
            <a:ext cx="10865815" cy="548640"/>
          </a:xfrm>
          <a:prstGeom prst="rect">
            <a:avLst/>
          </a:prstGeom>
          <a:noFill/>
          <a:ln/>
        </p:spPr>
        <p:txBody>
          <a:bodyPr wrap="square" lIns="0" tIns="0" rIns="0" bIns="0" rtlCol="0" anchor="t"/>
          <a:lstStyle/>
          <a:p>
            <a:pPr marL="0" indent="0">
              <a:buNone/>
            </a:pPr>
            <a:r>
              <a:rPr lang="en-US" sz="1500" dirty="0">
                <a:solidFill>
                  <a:srgbClr val="262626"/>
                </a:solidFill>
                <a:latin typeface="Calibri" pitchFamily="34" charset="0"/>
                <a:ea typeface="Calibri" pitchFamily="34" charset="-122"/>
                <a:cs typeface="Calibri" pitchFamily="34" charset="-120"/>
              </a:rPr>
              <a:t>Independent, third-party bias audits in addition to internal review</a:t>
            </a:r>
            <a:endParaRPr lang="en-US" sz="1500" dirty="0"/>
          </a:p>
        </p:txBody>
      </p:sp>
      <p:sp>
        <p:nvSpPr>
          <p:cNvPr id="11" name="Shape 9"/>
          <p:cNvSpPr/>
          <p:nvPr/>
        </p:nvSpPr>
        <p:spPr>
          <a:xfrm>
            <a:off x="457200" y="4462272"/>
            <a:ext cx="201168" cy="201168"/>
          </a:xfrm>
          <a:prstGeom prst="ellipse">
            <a:avLst/>
          </a:prstGeom>
          <a:solidFill>
            <a:srgbClr val="2E75B6"/>
          </a:solidFill>
          <a:ln/>
        </p:spPr>
      </p:sp>
      <p:sp>
        <p:nvSpPr>
          <p:cNvPr id="12" name="Text 10"/>
          <p:cNvSpPr txBox="1"/>
          <p:nvPr/>
        </p:nvSpPr>
        <p:spPr>
          <a:xfrm>
            <a:off x="868680" y="4343400"/>
            <a:ext cx="10865815" cy="548640"/>
          </a:xfrm>
          <a:prstGeom prst="rect">
            <a:avLst/>
          </a:prstGeom>
          <a:noFill/>
          <a:ln/>
        </p:spPr>
        <p:txBody>
          <a:bodyPr wrap="square" lIns="0" tIns="0" rIns="0" bIns="0" rtlCol="0" anchor="t"/>
          <a:lstStyle/>
          <a:p>
            <a:pPr marL="0" indent="0">
              <a:buNone/>
            </a:pPr>
            <a:r>
              <a:rPr lang="en-US" sz="1500" dirty="0">
                <a:solidFill>
                  <a:srgbClr val="262626"/>
                </a:solidFill>
                <a:latin typeface="Calibri" pitchFamily="34" charset="0"/>
                <a:ea typeface="Calibri" pitchFamily="34" charset="-122"/>
                <a:cs typeface="Calibri" pitchFamily="34" charset="-120"/>
              </a:rPr>
              <a:t>Ongoing staff training on data ethics and bias recognition</a:t>
            </a:r>
            <a:endParaRPr lang="en-US" sz="1500" dirty="0"/>
          </a:p>
        </p:txBody>
      </p:sp>
      <p:sp>
        <p:nvSpPr>
          <p:cNvPr id="13" name="Shape 11"/>
          <p:cNvSpPr/>
          <p:nvPr/>
        </p:nvSpPr>
        <p:spPr>
          <a:xfrm>
            <a:off x="457200" y="5148072"/>
            <a:ext cx="201168" cy="201168"/>
          </a:xfrm>
          <a:prstGeom prst="ellipse">
            <a:avLst/>
          </a:prstGeom>
          <a:solidFill>
            <a:srgbClr val="2E75B6"/>
          </a:solidFill>
          <a:ln/>
        </p:spPr>
      </p:sp>
      <p:sp>
        <p:nvSpPr>
          <p:cNvPr id="14" name="Text 12"/>
          <p:cNvSpPr txBox="1"/>
          <p:nvPr/>
        </p:nvSpPr>
        <p:spPr>
          <a:xfrm>
            <a:off x="868680" y="5029200"/>
            <a:ext cx="10865815" cy="548640"/>
          </a:xfrm>
          <a:prstGeom prst="rect">
            <a:avLst/>
          </a:prstGeom>
          <a:noFill/>
          <a:ln/>
        </p:spPr>
        <p:txBody>
          <a:bodyPr wrap="square" lIns="0" tIns="0" rIns="0" bIns="0" rtlCol="0" anchor="t"/>
          <a:lstStyle/>
          <a:p>
            <a:pPr marL="0" indent="0">
              <a:buNone/>
            </a:pPr>
            <a:r>
              <a:rPr lang="en-US" sz="1500" dirty="0">
                <a:solidFill>
                  <a:srgbClr val="262626"/>
                </a:solidFill>
                <a:latin typeface="Calibri" pitchFamily="34" charset="0"/>
                <a:ea typeface="Calibri" pitchFamily="34" charset="-122"/>
                <a:cs typeface="Calibri" pitchFamily="34" charset="-120"/>
              </a:rPr>
              <a:t>Periodic transparency reports summarizing fairness-monitoring outcomes</a:t>
            </a:r>
            <a:endParaRPr lang="en-US" sz="1500" dirty="0"/>
          </a:p>
        </p:txBody>
      </p:sp>
      <p:sp>
        <p:nvSpPr>
          <p:cNvPr id="15" name="Text 13"/>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4E79"/>
        </a:solidFill>
        <a:effectLst/>
      </p:bgPr>
    </p:bg>
    <p:spTree>
      <p:nvGrpSpPr>
        <p:cNvPr id="1" name=""/>
        <p:cNvGrpSpPr/>
        <p:nvPr/>
      </p:nvGrpSpPr>
      <p:grpSpPr>
        <a:xfrm>
          <a:off x="0" y="0"/>
          <a:ext cx="0" cy="0"/>
          <a:chOff x="0" y="0"/>
          <a:chExt cx="0" cy="0"/>
        </a:xfrm>
      </p:grpSpPr>
      <p:sp>
        <p:nvSpPr>
          <p:cNvPr id="2" name="Text 0"/>
          <p:cNvSpPr txBox="1"/>
          <p:nvPr/>
        </p:nvSpPr>
        <p:spPr>
          <a:xfrm>
            <a:off x="457200" y="457200"/>
            <a:ext cx="11277295"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3" name="Text 1"/>
          <p:cNvSpPr txBox="1"/>
          <p:nvPr/>
        </p:nvSpPr>
        <p:spPr>
          <a:xfrm>
            <a:off x="457200" y="1143000"/>
            <a:ext cx="11277295" cy="365760"/>
          </a:xfrm>
          <a:prstGeom prst="rect">
            <a:avLst/>
          </a:prstGeom>
          <a:noFill/>
          <a:ln/>
        </p:spPr>
        <p:txBody>
          <a:bodyPr wrap="square" lIns="0" tIns="0" rIns="0" bIns="0" rtlCol="0" anchor="ctr"/>
          <a:lstStyle/>
          <a:p>
            <a:pPr marL="0" indent="0">
              <a:buNone/>
            </a:pPr>
            <a:r>
              <a:rPr lang="en-US" sz="1500" i="1" dirty="0">
                <a:solidFill>
                  <a:srgbClr val="DDEBF7"/>
                </a:solidFill>
                <a:latin typeface="Calibri" pitchFamily="34" charset="0"/>
                <a:ea typeface="Calibri" pitchFamily="34" charset="-122"/>
                <a:cs typeface="Calibri" pitchFamily="34" charset="-120"/>
              </a:rPr>
              <a:t>Difficulties and open questions from this workshop</a:t>
            </a:r>
            <a:endParaRPr lang="en-US" sz="1500" dirty="0"/>
          </a:p>
        </p:txBody>
      </p:sp>
      <p:sp>
        <p:nvSpPr>
          <p:cNvPr id="4" name="Shape 2"/>
          <p:cNvSpPr/>
          <p:nvPr/>
        </p:nvSpPr>
        <p:spPr>
          <a:xfrm>
            <a:off x="457200" y="1737360"/>
            <a:ext cx="11277295" cy="4206240"/>
          </a:xfrm>
          <a:prstGeom prst="roundRect">
            <a:avLst>
              <a:gd name="adj" fmla="val 1739"/>
            </a:avLst>
          </a:prstGeom>
          <a:solidFill>
            <a:srgbClr val="FFFFFF"/>
          </a:solidFill>
          <a:ln/>
        </p:spPr>
      </p:sp>
      <p:sp>
        <p:nvSpPr>
          <p:cNvPr id="5" name="Text 3"/>
          <p:cNvSpPr txBox="1"/>
          <p:nvPr/>
        </p:nvSpPr>
        <p:spPr>
          <a:xfrm>
            <a:off x="693684" y="2011680"/>
            <a:ext cx="10675052" cy="365760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sz="1600" dirty="0"/>
              <a:t>Deciding what "fair" performance across subgroups even means is harder than it sounds. If two patient populations genuinely have different underlying health profiles, is equal performance the right target, or does that itself distort the model?</a:t>
            </a:r>
          </a:p>
          <a:p>
            <a:pPr lvl="0"/>
            <a:endParaRPr lang="en-IN" sz="1600" dirty="0"/>
          </a:p>
          <a:p>
            <a:pPr marL="285750" lvl="0" indent="-285750">
              <a:buFont typeface="Arial" panose="020B0604020202020204" pitchFamily="34" charset="0"/>
              <a:buChar char="•"/>
            </a:pPr>
            <a:r>
              <a:rPr lang="en-IN" sz="1600" dirty="0"/>
              <a:t>There's a real tension between two of NovaCare's own principles: Fairness &amp; Equity and Patient Safety &amp; Reliability. If fixing a bias issue means giving up some accuracy, that's not a free </a:t>
            </a:r>
            <a:r>
              <a:rPr lang="en-IN" sz="1600" dirty="0" err="1"/>
              <a:t>tradeoff</a:t>
            </a:r>
            <a:r>
              <a:rPr lang="en-IN" sz="1600" dirty="0"/>
              <a:t> in healthcare the way it might be in hiring or lending, less accuracy could directly cost someone their health.</a:t>
            </a:r>
          </a:p>
          <a:p>
            <a:pPr lvl="0"/>
            <a:endParaRPr lang="en-IN" sz="1600" dirty="0"/>
          </a:p>
          <a:p>
            <a:pPr marL="285750" lvl="0" indent="-285750">
              <a:buFont typeface="Arial" panose="020B0604020202020204" pitchFamily="34" charset="0"/>
              <a:buChar char="•"/>
            </a:pPr>
            <a:r>
              <a:rPr lang="en-IN" sz="1600" dirty="0"/>
              <a:t>Setting a "predefined threshold" for fairness metrics, easy to say and hard to do. Who actually decides what threshold counts as acceptable, and does that threshold apply the same way to every use case?</a:t>
            </a:r>
          </a:p>
          <a:p>
            <a:pPr lvl="0"/>
            <a:endParaRPr lang="en-IN" sz="1600" dirty="0"/>
          </a:p>
          <a:p>
            <a:pPr marL="285750" lvl="0" indent="-285750">
              <a:buFont typeface="Arial" panose="020B0604020202020204" pitchFamily="34" charset="0"/>
              <a:buChar char="•"/>
            </a:pPr>
            <a:r>
              <a:rPr lang="en-IN" sz="1600" dirty="0"/>
              <a:t>Open question: for a use case like AI scheduling, where there's no traditional protected-class lens (race, gender), what does "fairness" even mean, fairness across regions, across staff, across patients?</a:t>
            </a:r>
          </a:p>
          <a:p>
            <a:pPr lvl="0"/>
            <a:endParaRPr lang="en-IN" sz="1600" dirty="0"/>
          </a:p>
          <a:p>
            <a:pPr marL="285750" lvl="0" indent="-285750">
              <a:buFont typeface="Arial" panose="020B0604020202020204" pitchFamily="34" charset="0"/>
              <a:buChar char="•"/>
            </a:pPr>
            <a:r>
              <a:rPr lang="en-IN" sz="1600" dirty="0"/>
              <a:t>Open question: should bias mitigation ever take priority over raw model accuracy when the system directly affects clinical decisions, or is that a line NovaCare shouldn't cross?</a:t>
            </a:r>
          </a:p>
        </p:txBody>
      </p:sp>
      <p:sp>
        <p:nvSpPr>
          <p:cNvPr id="6" name="Text 4"/>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800" b="1" dirty="0">
                <a:solidFill>
                  <a:srgbClr val="1F4E79"/>
                </a:solidFill>
                <a:latin typeface="Cambria" pitchFamily="34" charset="0"/>
                <a:ea typeface="Cambria" pitchFamily="34" charset="-122"/>
                <a:cs typeface="Cambria" pitchFamily="34" charset="-120"/>
              </a:rPr>
              <a:t>References</a:t>
            </a:r>
            <a:endParaRPr lang="en-US" sz="2800" dirty="0"/>
          </a:p>
        </p:txBody>
      </p:sp>
      <p:sp>
        <p:nvSpPr>
          <p:cNvPr id="3" name="Text 1"/>
          <p:cNvSpPr txBox="1"/>
          <p:nvPr/>
        </p:nvSpPr>
        <p:spPr>
          <a:xfrm>
            <a:off x="457200" y="1645919"/>
            <a:ext cx="11277295" cy="1980149"/>
          </a:xfrm>
          <a:prstGeom prst="rect">
            <a:avLst/>
          </a:prstGeom>
          <a:noFill/>
          <a:ln/>
        </p:spPr>
        <p:txBody>
          <a:bodyPr wrap="square" lIns="0" tIns="0" rIns="0" bIns="0" rtlCol="0" anchor="t"/>
          <a:lstStyle/>
          <a:p>
            <a:pPr marL="342900" indent="-342900">
              <a:buSzPct val="100000"/>
              <a:buChar char="•"/>
            </a:pPr>
            <a:r>
              <a:rPr lang="en-US" sz="1300" dirty="0">
                <a:solidFill>
                  <a:srgbClr val="262626"/>
                </a:solidFill>
                <a:latin typeface="Calibri" pitchFamily="34" charset="0"/>
                <a:ea typeface="Calibri" pitchFamily="34" charset="-122"/>
                <a:cs typeface="Calibri" pitchFamily="34" charset="-120"/>
              </a:rPr>
              <a:t>Schwartz, R., Vassilev, A., Greene, K., Perine, L., Burt, A., &amp; Hall, P. (2022). Towards a standard for identifying and managing bias in artificial intelligence (NIST Special Publication 1270). National Institute of Standards and Technology. </a:t>
            </a:r>
            <a:r>
              <a:rPr lang="en-US" sz="1300" dirty="0">
                <a:solidFill>
                  <a:srgbClr val="262626"/>
                </a:solidFill>
                <a:latin typeface="Calibri" pitchFamily="34" charset="0"/>
                <a:ea typeface="Calibri" pitchFamily="34" charset="-122"/>
                <a:cs typeface="Calibri" pitchFamily="34" charset="-120"/>
                <a:hlinkClick r:id="rId3"/>
              </a:rPr>
              <a:t>https://doi.org/10.6028/NIST.SP.1270</a:t>
            </a:r>
            <a:endParaRPr lang="en-US" sz="1300" dirty="0">
              <a:solidFill>
                <a:srgbClr val="262626"/>
              </a:solidFill>
              <a:latin typeface="Calibri" pitchFamily="34" charset="0"/>
              <a:ea typeface="Calibri" pitchFamily="34" charset="-122"/>
              <a:cs typeface="Calibri" pitchFamily="34" charset="-120"/>
            </a:endParaRPr>
          </a:p>
          <a:p>
            <a:pPr>
              <a:buSzPct val="100000"/>
            </a:pPr>
            <a:endParaRPr lang="en-US" sz="1300" dirty="0">
              <a:solidFill>
                <a:srgbClr val="262626"/>
              </a:solidFill>
              <a:latin typeface="Calibri" pitchFamily="34" charset="0"/>
              <a:ea typeface="Calibri" pitchFamily="34" charset="-122"/>
              <a:cs typeface="Calibri" pitchFamily="34" charset="-120"/>
            </a:endParaRPr>
          </a:p>
          <a:p>
            <a:pPr marL="342900" indent="-342900">
              <a:buSzPct val="100000"/>
              <a:buChar char="•"/>
            </a:pPr>
            <a:endParaRPr lang="en-US" sz="1300" dirty="0">
              <a:solidFill>
                <a:srgbClr val="262626"/>
              </a:solidFill>
              <a:latin typeface="Calibri" pitchFamily="34" charset="0"/>
              <a:ea typeface="Calibri" pitchFamily="34" charset="-122"/>
              <a:cs typeface="Calibri" pitchFamily="34" charset="-120"/>
            </a:endParaRPr>
          </a:p>
          <a:p>
            <a:pPr marL="342900" indent="-342900">
              <a:buSzPct val="100000"/>
              <a:buFontTx/>
              <a:buChar char="•"/>
            </a:pPr>
            <a:r>
              <a:rPr lang="en-US" sz="1300" dirty="0">
                <a:solidFill>
                  <a:srgbClr val="262626"/>
                </a:solidFill>
                <a:latin typeface="Calibri" pitchFamily="34" charset="0"/>
                <a:ea typeface="Calibri" pitchFamily="34" charset="-122"/>
                <a:cs typeface="Calibri" pitchFamily="34" charset="-120"/>
              </a:rPr>
              <a:t>Blackman, R. (2022). Explainability: The space between the inputs and the outputs. In Ethical machines: Your concise guide to totally unbiased, transparent, and respectful AI (Ch. 3). Harvard Business Review Press.</a:t>
            </a:r>
            <a:endParaRPr lang="en-US" sz="1300" dirty="0"/>
          </a:p>
          <a:p>
            <a:pPr marL="342900" indent="-342900">
              <a:buSzPct val="100000"/>
              <a:buChar char="•"/>
            </a:pPr>
            <a:endParaRPr lang="en-US" sz="1300" dirty="0"/>
          </a:p>
        </p:txBody>
      </p:sp>
      <p:sp>
        <p:nvSpPr>
          <p:cNvPr id="4" name="Text 2"/>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1058</Words>
  <Application>Microsoft Office PowerPoint</Application>
  <PresentationFormat>Widescreen</PresentationFormat>
  <Paragraphs>130</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 K</cp:lastModifiedBy>
  <cp:revision>1</cp:revision>
  <dcterms:created xsi:type="dcterms:W3CDTF">2026-09-12T05:09:41Z</dcterms:created>
  <dcterms:modified xsi:type="dcterms:W3CDTF">2026-09-12T05:20:11Z</dcterms:modified>
</cp:coreProperties>
</file>