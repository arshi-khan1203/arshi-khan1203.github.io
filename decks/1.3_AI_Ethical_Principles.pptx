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K" userId="506a500b3ebd784a" providerId="LiveId" clId="{7FC67F69-89D5-4D0E-ADE7-A8EB38C8C51C}"/>
    <pc:docChg chg="modSld">
      <pc:chgData name="A K" userId="506a500b3ebd784a" providerId="LiveId" clId="{7FC67F69-89D5-4D0E-ADE7-A8EB38C8C51C}" dt="2026-09-03T21:46:54.939" v="0" actId="11529"/>
      <pc:docMkLst>
        <pc:docMk/>
      </pc:docMkLst>
      <pc:sldChg chg="addSp mod">
        <pc:chgData name="A K" userId="506a500b3ebd784a" providerId="LiveId" clId="{7FC67F69-89D5-4D0E-ADE7-A8EB38C8C51C}" dt="2026-09-03T21:46:54.939" v="0" actId="11529"/>
        <pc:sldMkLst>
          <pc:docMk/>
          <pc:sldMk cId="0" sldId="258"/>
        </pc:sldMkLst>
        <pc:spChg chg="add">
          <ac:chgData name="A K" userId="506a500b3ebd784a" providerId="LiveId" clId="{7FC67F69-89D5-4D0E-ADE7-A8EB38C8C51C}" dt="2026-09-03T21:46:54.939" v="0" actId="11529"/>
          <ac:spMkLst>
            <pc:docMk/>
            <pc:sldMk cId="0" sldId="258"/>
            <ac:spMk id="13" creationId="{C0D072AF-4733-570C-88CF-134FF331F22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6F8"/>
        </a:solidFill>
        <a:effectLst/>
      </p:bgPr>
    </p:bg>
    <p:spTree>
      <p:nvGrpSpPr>
        <p:cNvPr id="1" name=""/>
        <p:cNvGrpSpPr/>
        <p:nvPr/>
      </p:nvGrpSpPr>
      <p:grpSpPr>
        <a:xfrm>
          <a:off x="0" y="0"/>
          <a:ext cx="0" cy="0"/>
          <a:chOff x="0" y="0"/>
          <a:chExt cx="0" cy="0"/>
        </a:xfrm>
      </p:grpSpPr>
      <p:sp>
        <p:nvSpPr>
          <p:cNvPr id="2" name="Rectangle 1"/>
          <p:cNvSpPr/>
          <p:nvPr/>
        </p:nvSpPr>
        <p:spPr>
          <a:xfrm>
            <a:off x="0" y="0"/>
            <a:ext cx="3840480" cy="6858000"/>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97680" y="1188720"/>
            <a:ext cx="7132320" cy="2011680"/>
          </a:xfrm>
          <a:prstGeom prst="rect">
            <a:avLst/>
          </a:prstGeom>
          <a:noFill/>
        </p:spPr>
        <p:txBody>
          <a:bodyPr wrap="none">
            <a:spAutoFit/>
          </a:bodyPr>
          <a:lstStyle/>
          <a:p>
            <a:pPr>
              <a:defRPr sz="3400" b="1">
                <a:solidFill>
                  <a:srgbClr val="172D4A"/>
                </a:solidFill>
              </a:defRPr>
            </a:pPr>
            <a:r>
              <a:t>AI Ethical Principles Case Study</a:t>
            </a:r>
          </a:p>
          <a:p>
            <a:pPr>
              <a:defRPr sz="2600">
                <a:solidFill>
                  <a:srgbClr val="26828C"/>
                </a:solidFill>
              </a:defRPr>
            </a:pPr>
            <a:r>
              <a:t>NovaCare Health Systems</a:t>
            </a:r>
          </a:p>
          <a:p>
            <a:pPr>
              <a:defRPr sz="1800">
                <a:solidFill>
                  <a:srgbClr val="5F6973"/>
                </a:solidFill>
              </a:defRPr>
            </a:pPr>
            <a:r>
              <a:t>Responsible AI Framework for Healthcare</a:t>
            </a:r>
          </a:p>
        </p:txBody>
      </p:sp>
      <p:sp>
        <p:nvSpPr>
          <p:cNvPr id="4" name="TextBox 3"/>
          <p:cNvSpPr txBox="1"/>
          <p:nvPr/>
        </p:nvSpPr>
        <p:spPr>
          <a:xfrm>
            <a:off x="4315968" y="4023360"/>
            <a:ext cx="4046044" cy="784830"/>
          </a:xfrm>
          <a:prstGeom prst="rect">
            <a:avLst/>
          </a:prstGeom>
          <a:noFill/>
        </p:spPr>
        <p:txBody>
          <a:bodyPr wrap="none">
            <a:spAutoFit/>
          </a:bodyPr>
          <a:lstStyle/>
          <a:p>
            <a:pPr>
              <a:defRPr sz="1500">
                <a:solidFill>
                  <a:srgbClr val="222222"/>
                </a:solidFill>
              </a:defRPr>
            </a:pPr>
            <a:r>
              <a:rPr dirty="0"/>
              <a:t>Course: </a:t>
            </a:r>
            <a:r>
              <a:rPr lang="it-IT" dirty="0"/>
              <a:t>Responsible Appl of AI (AIML-510-01R4A)</a:t>
            </a:r>
          </a:p>
          <a:p>
            <a:pPr>
              <a:defRPr sz="1500">
                <a:solidFill>
                  <a:srgbClr val="222222"/>
                </a:solidFill>
              </a:defRPr>
            </a:pPr>
            <a:r>
              <a:rPr dirty="0"/>
              <a:t>Assignment: 1.3 AI Ethical Principles Case Study</a:t>
            </a:r>
          </a:p>
          <a:p>
            <a:pPr>
              <a:defRPr sz="1500">
                <a:solidFill>
                  <a:srgbClr val="222222"/>
                </a:solidFill>
              </a:defRPr>
            </a:pPr>
            <a:r>
              <a:rPr dirty="0"/>
              <a:t>Date:</a:t>
            </a:r>
            <a:r>
              <a:rPr lang="en-IN" dirty="0"/>
              <a:t> August 29,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8"/>
        </a:solidFill>
        <a:effectLst/>
      </p:bgPr>
    </p:bg>
    <p:spTree>
      <p:nvGrpSpPr>
        <p:cNvPr id="1" name="">
          <a:extLst>
            <a:ext uri="{FF2B5EF4-FFF2-40B4-BE49-F238E27FC236}">
              <a16:creationId xmlns:a16="http://schemas.microsoft.com/office/drawing/2014/main" id="{8917FC56-0DE6-9A7B-2BF0-95E594205C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0363F0-E11F-5A74-49C3-2F0014CB8AF5}"/>
              </a:ext>
            </a:extLst>
          </p:cNvPr>
          <p:cNvSpPr/>
          <p:nvPr/>
        </p:nvSpPr>
        <p:spPr>
          <a:xfrm>
            <a:off x="0" y="0"/>
            <a:ext cx="3840480" cy="6858000"/>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5D0761A2-F79C-CF9A-2C21-727AD0DCE717}"/>
              </a:ext>
            </a:extLst>
          </p:cNvPr>
          <p:cNvGraphicFramePr>
            <a:graphicFrameLocks noGrp="1"/>
          </p:cNvGraphicFramePr>
          <p:nvPr>
            <p:extLst>
              <p:ext uri="{D42A27DB-BD31-4B8C-83A1-F6EECF244321}">
                <p14:modId xmlns:p14="http://schemas.microsoft.com/office/powerpoint/2010/main" val="1790085446"/>
              </p:ext>
            </p:extLst>
          </p:nvPr>
        </p:nvGraphicFramePr>
        <p:xfrm>
          <a:off x="530942" y="358562"/>
          <a:ext cx="11130115" cy="6140875"/>
        </p:xfrm>
        <a:graphic>
          <a:graphicData uri="http://schemas.openxmlformats.org/drawingml/2006/table">
            <a:tbl>
              <a:tblPr firstRow="1" bandRow="1">
                <a:tableStyleId>{5C22544A-7EE6-4342-B048-85BDC9FD1C3A}</a:tableStyleId>
              </a:tblPr>
              <a:tblGrid>
                <a:gridCol w="3746163">
                  <a:extLst>
                    <a:ext uri="{9D8B030D-6E8A-4147-A177-3AD203B41FA5}">
                      <a16:colId xmlns:a16="http://schemas.microsoft.com/office/drawing/2014/main" val="842754386"/>
                    </a:ext>
                  </a:extLst>
                </a:gridCol>
                <a:gridCol w="3691976">
                  <a:extLst>
                    <a:ext uri="{9D8B030D-6E8A-4147-A177-3AD203B41FA5}">
                      <a16:colId xmlns:a16="http://schemas.microsoft.com/office/drawing/2014/main" val="1248251838"/>
                    </a:ext>
                  </a:extLst>
                </a:gridCol>
                <a:gridCol w="3691976">
                  <a:extLst>
                    <a:ext uri="{9D8B030D-6E8A-4147-A177-3AD203B41FA5}">
                      <a16:colId xmlns:a16="http://schemas.microsoft.com/office/drawing/2014/main" val="2313181722"/>
                    </a:ext>
                  </a:extLst>
                </a:gridCol>
              </a:tblGrid>
              <a:tr h="412632">
                <a:tc>
                  <a:txBody>
                    <a:bodyPr/>
                    <a:lstStyle/>
                    <a:p>
                      <a:r>
                        <a:rPr lang="en-IN" dirty="0"/>
                        <a:t>Student Name</a:t>
                      </a:r>
                    </a:p>
                  </a:txBody>
                  <a:tcPr/>
                </a:tc>
                <a:tc>
                  <a:txBody>
                    <a:bodyPr/>
                    <a:lstStyle/>
                    <a:p>
                      <a:r>
                        <a:rPr lang="en-IN" dirty="0"/>
                        <a:t>Student ID</a:t>
                      </a:r>
                    </a:p>
                  </a:txBody>
                  <a:tcPr/>
                </a:tc>
                <a:tc>
                  <a:txBody>
                    <a:bodyPr/>
                    <a:lstStyle/>
                    <a:p>
                      <a:r>
                        <a:rPr lang="en-IN" dirty="0"/>
                        <a:t>Contribution</a:t>
                      </a:r>
                    </a:p>
                  </a:txBody>
                  <a:tcPr/>
                </a:tc>
                <a:extLst>
                  <a:ext uri="{0D108BD9-81ED-4DB2-BD59-A6C34878D82A}">
                    <a16:rowId xmlns:a16="http://schemas.microsoft.com/office/drawing/2014/main" val="2396723725"/>
                  </a:ext>
                </a:extLst>
              </a:tr>
              <a:tr h="688581">
                <a:tc>
                  <a:txBody>
                    <a:bodyPr/>
                    <a:lstStyle/>
                    <a:p>
                      <a:r>
                        <a:rPr lang="en-IN" sz="1200" dirty="0"/>
                        <a:t>Vaibhavi Chirra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solidFill>
                            <a:srgbClr val="000000"/>
                          </a:solidFill>
                          <a:effectLst/>
                          <a:latin typeface="Aptos" panose="020B0004020202020204" pitchFamily="34" charset="0"/>
                        </a:rPr>
                        <a:t>2926738 </a:t>
                      </a:r>
                      <a:endParaRPr lang="en-US" sz="1200" b="0" i="0" dirty="0">
                        <a:solidFill>
                          <a:srgbClr val="000000"/>
                        </a:solidFill>
                        <a:effectLst/>
                        <a:latin typeface="Segoe UI" panose="020B0502040204020203" pitchFamily="34" charset="0"/>
                      </a:endParaRPr>
                    </a:p>
                    <a:p>
                      <a:endParaRPr lang="en-IN" sz="1200" dirty="0"/>
                    </a:p>
                  </a:txBody>
                  <a:tcPr/>
                </a:tc>
                <a:tc>
                  <a:txBody>
                    <a:bodyPr/>
                    <a:lstStyle/>
                    <a:p>
                      <a:r>
                        <a:rPr lang="en-US" sz="1200" dirty="0"/>
                        <a:t>Researched and developed the fictional company’s background, including its industry, size, operations, and need for a Responsible AI program.</a:t>
                      </a:r>
                      <a:endParaRPr lang="en-IN" sz="1200" dirty="0"/>
                    </a:p>
                  </a:txBody>
                  <a:tcPr/>
                </a:tc>
                <a:extLst>
                  <a:ext uri="{0D108BD9-81ED-4DB2-BD59-A6C34878D82A}">
                    <a16:rowId xmlns:a16="http://schemas.microsoft.com/office/drawing/2014/main" val="2816066903"/>
                  </a:ext>
                </a:extLst>
              </a:tr>
              <a:tr h="650542">
                <a:tc>
                  <a:txBody>
                    <a:bodyPr/>
                    <a:lstStyle/>
                    <a:p>
                      <a:pPr marL="0" marR="0" indent="0" algn="l" rtl="0" fontAlgn="base">
                        <a:spcAft>
                          <a:spcPts val="800"/>
                        </a:spcAft>
                        <a:buNone/>
                      </a:pPr>
                      <a:r>
                        <a:rPr lang="en-US" sz="1200" b="0" i="0" dirty="0">
                          <a:solidFill>
                            <a:srgbClr val="000000"/>
                          </a:solidFill>
                          <a:effectLst/>
                          <a:latin typeface="+mn-lt"/>
                        </a:rPr>
                        <a:t>Syeda Anees Fatima </a:t>
                      </a:r>
                    </a:p>
                  </a:txBody>
                  <a:tcPr/>
                </a:tc>
                <a:tc>
                  <a:txBody>
                    <a:bodyPr/>
                    <a:lstStyle/>
                    <a:p>
                      <a:pPr marL="0" marR="0" indent="0" algn="l" rtl="0" fontAlgn="base">
                        <a:spcAft>
                          <a:spcPts val="800"/>
                        </a:spcAft>
                        <a:buNone/>
                      </a:pPr>
                      <a:r>
                        <a:rPr lang="en-US" sz="1200" b="0" i="0" dirty="0">
                          <a:solidFill>
                            <a:srgbClr val="000000"/>
                          </a:solidFill>
                          <a:effectLst/>
                          <a:latin typeface="+mn-lt"/>
                        </a:rPr>
                        <a:t>2920992 </a:t>
                      </a:r>
                    </a:p>
                  </a:txBody>
                  <a:tcPr/>
                </a:tc>
                <a:tc>
                  <a:txBody>
                    <a:bodyPr/>
                    <a:lstStyle/>
                    <a:p>
                      <a:r>
                        <a:rPr lang="en-US" sz="1200" dirty="0"/>
                        <a:t>Identified and explained the company’s proposed AI use cases, including their business benefits and potential ethical risks.</a:t>
                      </a:r>
                      <a:endParaRPr lang="en-IN" sz="1200" dirty="0"/>
                    </a:p>
                  </a:txBody>
                  <a:tcPr/>
                </a:tc>
                <a:extLst>
                  <a:ext uri="{0D108BD9-81ED-4DB2-BD59-A6C34878D82A}">
                    <a16:rowId xmlns:a16="http://schemas.microsoft.com/office/drawing/2014/main" val="116105064"/>
                  </a:ext>
                </a:extLst>
              </a:tr>
              <a:tr h="412632">
                <a:tc>
                  <a:txBody>
                    <a:bodyPr/>
                    <a:lstStyle/>
                    <a:p>
                      <a:pPr marL="0" marR="0" indent="0" algn="l" rtl="0" fontAlgn="base">
                        <a:spcAft>
                          <a:spcPts val="800"/>
                        </a:spcAft>
                        <a:buNone/>
                      </a:pPr>
                      <a:r>
                        <a:rPr lang="en-US" sz="1200" b="0" i="0">
                          <a:solidFill>
                            <a:srgbClr val="000000"/>
                          </a:solidFill>
                          <a:effectLst/>
                          <a:latin typeface="+mn-lt"/>
                        </a:rPr>
                        <a:t>Arshi Khan </a:t>
                      </a:r>
                    </a:p>
                  </a:txBody>
                  <a:tcPr/>
                </a:tc>
                <a:tc>
                  <a:txBody>
                    <a:bodyPr/>
                    <a:lstStyle/>
                    <a:p>
                      <a:pPr marL="0" marR="0" indent="0" algn="l" rtl="0" fontAlgn="base">
                        <a:spcAft>
                          <a:spcPts val="800"/>
                        </a:spcAft>
                        <a:buNone/>
                      </a:pPr>
                      <a:r>
                        <a:rPr lang="en-US" sz="1200" b="0" i="0">
                          <a:solidFill>
                            <a:srgbClr val="000000"/>
                          </a:solidFill>
                          <a:effectLst/>
                          <a:latin typeface="+mn-lt"/>
                        </a:rPr>
                        <a:t>2926773 </a:t>
                      </a:r>
                    </a:p>
                  </a:txBody>
                  <a:tcPr/>
                </a:tc>
                <a:tc>
                  <a:txBody>
                    <a:bodyPr/>
                    <a:lstStyle/>
                    <a:p>
                      <a:pPr>
                        <a:buNone/>
                      </a:pPr>
                      <a:r>
                        <a:rPr lang="en-US" sz="1200" dirty="0"/>
                        <a:t>Researched the AI ethical principles adopted by five major companies and gathered reliable sources for comparison.</a:t>
                      </a:r>
                      <a:endParaRPr lang="en-US" sz="1200" dirty="0">
                        <a:solidFill>
                          <a:schemeClr val="tx1"/>
                        </a:solidFill>
                      </a:endParaRPr>
                    </a:p>
                  </a:txBody>
                  <a:tcPr anchor="ctr"/>
                </a:tc>
                <a:extLst>
                  <a:ext uri="{0D108BD9-81ED-4DB2-BD59-A6C34878D82A}">
                    <a16:rowId xmlns:a16="http://schemas.microsoft.com/office/drawing/2014/main" val="774243235"/>
                  </a:ext>
                </a:extLst>
              </a:tr>
              <a:tr h="412632">
                <a:tc>
                  <a:txBody>
                    <a:bodyPr/>
                    <a:lstStyle/>
                    <a:p>
                      <a:pPr marL="0" marR="0" indent="0" algn="l" rtl="0" fontAlgn="base">
                        <a:spcAft>
                          <a:spcPts val="800"/>
                        </a:spcAft>
                        <a:buNone/>
                      </a:pPr>
                      <a:r>
                        <a:rPr lang="en-US" sz="1200" b="0" i="0">
                          <a:solidFill>
                            <a:srgbClr val="000000"/>
                          </a:solidFill>
                          <a:effectLst/>
                          <a:latin typeface="+mn-lt"/>
                        </a:rPr>
                        <a:t>Bhuvaneshwari Bibi Reddy </a:t>
                      </a:r>
                    </a:p>
                  </a:txBody>
                  <a:tcPr/>
                </a:tc>
                <a:tc>
                  <a:txBody>
                    <a:bodyPr/>
                    <a:lstStyle/>
                    <a:p>
                      <a:pPr marL="0" marR="0" indent="0" algn="l" rtl="0" fontAlgn="base">
                        <a:spcAft>
                          <a:spcPts val="800"/>
                        </a:spcAft>
                        <a:buNone/>
                      </a:pPr>
                      <a:r>
                        <a:rPr lang="en-US" sz="1200" b="0" i="0">
                          <a:solidFill>
                            <a:srgbClr val="000000"/>
                          </a:solidFill>
                          <a:effectLst/>
                          <a:latin typeface="+mn-lt"/>
                        </a:rPr>
                        <a:t>2935275 </a:t>
                      </a:r>
                    </a:p>
                  </a:txBody>
                  <a:tcPr/>
                </a:tc>
                <a:tc>
                  <a:txBody>
                    <a:bodyPr/>
                    <a:lstStyle/>
                    <a:p>
                      <a:pPr>
                        <a:buNone/>
                      </a:pPr>
                      <a:r>
                        <a:rPr lang="en-US" sz="1200" dirty="0"/>
                        <a:t>Created the comparison chart showing the common and unique AI ethical principles followed by the five companies.</a:t>
                      </a:r>
                    </a:p>
                  </a:txBody>
                  <a:tcPr anchor="ctr"/>
                </a:tc>
                <a:extLst>
                  <a:ext uri="{0D108BD9-81ED-4DB2-BD59-A6C34878D82A}">
                    <a16:rowId xmlns:a16="http://schemas.microsoft.com/office/drawing/2014/main" val="3368132819"/>
                  </a:ext>
                </a:extLst>
              </a:tr>
              <a:tr h="412632">
                <a:tc>
                  <a:txBody>
                    <a:bodyPr/>
                    <a:lstStyle/>
                    <a:p>
                      <a:pPr marL="0" marR="0" indent="0" algn="l" rtl="0" fontAlgn="base">
                        <a:spcAft>
                          <a:spcPts val="800"/>
                        </a:spcAft>
                        <a:buNone/>
                      </a:pPr>
                      <a:r>
                        <a:rPr lang="en-US" sz="1200" b="0" i="0">
                          <a:solidFill>
                            <a:srgbClr val="000000"/>
                          </a:solidFill>
                          <a:effectLst/>
                          <a:latin typeface="+mn-lt"/>
                        </a:rPr>
                        <a:t>Sugyeong Hong </a:t>
                      </a:r>
                    </a:p>
                  </a:txBody>
                  <a:tcPr/>
                </a:tc>
                <a:tc>
                  <a:txBody>
                    <a:bodyPr/>
                    <a:lstStyle/>
                    <a:p>
                      <a:pPr marL="0" marR="0" indent="0" algn="l" rtl="0" fontAlgn="base">
                        <a:spcAft>
                          <a:spcPts val="800"/>
                        </a:spcAft>
                        <a:buNone/>
                      </a:pPr>
                      <a:r>
                        <a:rPr lang="en-US" sz="1200" b="0" i="0">
                          <a:solidFill>
                            <a:srgbClr val="000000"/>
                          </a:solidFill>
                          <a:effectLst/>
                          <a:latin typeface="+mn-lt"/>
                        </a:rPr>
                        <a:t>2921747 </a:t>
                      </a:r>
                    </a:p>
                  </a:txBody>
                  <a:tcPr/>
                </a:tc>
                <a:tc>
                  <a:txBody>
                    <a:bodyPr/>
                    <a:lstStyle/>
                    <a:p>
                      <a:r>
                        <a:rPr lang="en-US" sz="1200" dirty="0"/>
                        <a:t>Developed the recommended ethical principles for the fictional company and explained why common principles were included or excluded.</a:t>
                      </a:r>
                      <a:endParaRPr lang="en-IN" sz="1200" dirty="0"/>
                    </a:p>
                  </a:txBody>
                  <a:tcPr/>
                </a:tc>
                <a:extLst>
                  <a:ext uri="{0D108BD9-81ED-4DB2-BD59-A6C34878D82A}">
                    <a16:rowId xmlns:a16="http://schemas.microsoft.com/office/drawing/2014/main" val="1338433708"/>
                  </a:ext>
                </a:extLst>
              </a:tr>
              <a:tr h="412632">
                <a:tc>
                  <a:txBody>
                    <a:bodyPr/>
                    <a:lstStyle/>
                    <a:p>
                      <a:pPr marL="0" marR="0" indent="0" algn="l" rtl="0" fontAlgn="base">
                        <a:spcAft>
                          <a:spcPts val="800"/>
                        </a:spcAft>
                        <a:buNone/>
                      </a:pPr>
                      <a:r>
                        <a:rPr lang="en-US" sz="1200" b="0" i="0">
                          <a:solidFill>
                            <a:srgbClr val="000000"/>
                          </a:solidFill>
                          <a:effectLst/>
                          <a:latin typeface="+mn-lt"/>
                        </a:rPr>
                        <a:t>Tisungane Namacha </a:t>
                      </a:r>
                    </a:p>
                  </a:txBody>
                  <a:tcPr/>
                </a:tc>
                <a:tc>
                  <a:txBody>
                    <a:bodyPr/>
                    <a:lstStyle/>
                    <a:p>
                      <a:pPr marL="0" marR="0" indent="0" algn="l" rtl="0" fontAlgn="base">
                        <a:spcAft>
                          <a:spcPts val="800"/>
                        </a:spcAft>
                        <a:buNone/>
                      </a:pPr>
                      <a:r>
                        <a:rPr lang="en-US" sz="1200" b="0" i="0">
                          <a:solidFill>
                            <a:srgbClr val="000000"/>
                          </a:solidFill>
                          <a:effectLst/>
                          <a:latin typeface="+mn-lt"/>
                        </a:rPr>
                        <a:t>2921572 </a:t>
                      </a:r>
                    </a:p>
                  </a:txBody>
                  <a:tcPr/>
                </a:tc>
                <a:tc>
                  <a:txBody>
                    <a:bodyPr/>
                    <a:lstStyle/>
                    <a:p>
                      <a:r>
                        <a:rPr lang="en-US" sz="1200" dirty="0"/>
                        <a:t>Drafted the company’s AI ethics statement using guidance and best practices from Chapter 5 of </a:t>
                      </a:r>
                      <a:r>
                        <a:rPr lang="en-US" sz="1200" i="1" dirty="0"/>
                        <a:t>Ethical Machines</a:t>
                      </a:r>
                      <a:r>
                        <a:rPr lang="en-US" sz="1200" dirty="0"/>
                        <a:t>.</a:t>
                      </a:r>
                      <a:endParaRPr lang="en-IN" sz="1200" dirty="0"/>
                    </a:p>
                  </a:txBody>
                  <a:tcPr/>
                </a:tc>
                <a:extLst>
                  <a:ext uri="{0D108BD9-81ED-4DB2-BD59-A6C34878D82A}">
                    <a16:rowId xmlns:a16="http://schemas.microsoft.com/office/drawing/2014/main" val="3460853926"/>
                  </a:ext>
                </a:extLst>
              </a:tr>
              <a:tr h="412632">
                <a:tc>
                  <a:txBody>
                    <a:bodyPr/>
                    <a:lstStyle/>
                    <a:p>
                      <a:pPr marL="0" marR="0" indent="0" algn="l" rtl="0" fontAlgn="base">
                        <a:spcAft>
                          <a:spcPts val="800"/>
                        </a:spcAft>
                        <a:buNone/>
                      </a:pPr>
                      <a:r>
                        <a:rPr lang="en-US" sz="1200" b="0" i="0">
                          <a:solidFill>
                            <a:srgbClr val="000000"/>
                          </a:solidFill>
                          <a:effectLst/>
                          <a:latin typeface="+mn-lt"/>
                        </a:rPr>
                        <a:t>Laxmi Lahari Naidu Bugata </a:t>
                      </a:r>
                    </a:p>
                  </a:txBody>
                  <a:tcPr/>
                </a:tc>
                <a:tc>
                  <a:txBody>
                    <a:bodyPr/>
                    <a:lstStyle/>
                    <a:p>
                      <a:pPr marL="0" marR="0" indent="0" algn="l" rtl="0" fontAlgn="base">
                        <a:spcAft>
                          <a:spcPts val="800"/>
                        </a:spcAft>
                        <a:buNone/>
                      </a:pPr>
                      <a:r>
                        <a:rPr lang="en-US" sz="1200" b="0" i="0">
                          <a:solidFill>
                            <a:srgbClr val="000000"/>
                          </a:solidFill>
                          <a:effectLst/>
                          <a:latin typeface="+mn-lt"/>
                        </a:rPr>
                        <a:t>2930252 </a:t>
                      </a:r>
                    </a:p>
                  </a:txBody>
                  <a:tcPr/>
                </a:tc>
                <a:tc>
                  <a:txBody>
                    <a:bodyPr/>
                    <a:lstStyle/>
                    <a:p>
                      <a:r>
                        <a:rPr lang="en-US" sz="1200" dirty="0"/>
                        <a:t>Reviewed the DoD Responsible AI Strategy and identified suitable methods and metrics for measuring AI ethics performance.</a:t>
                      </a:r>
                      <a:endParaRPr lang="en-IN" sz="1200" dirty="0"/>
                    </a:p>
                  </a:txBody>
                  <a:tcPr/>
                </a:tc>
                <a:extLst>
                  <a:ext uri="{0D108BD9-81ED-4DB2-BD59-A6C34878D82A}">
                    <a16:rowId xmlns:a16="http://schemas.microsoft.com/office/drawing/2014/main" val="4246313093"/>
                  </a:ext>
                </a:extLst>
              </a:tr>
              <a:tr h="412632">
                <a:tc>
                  <a:txBody>
                    <a:bodyPr/>
                    <a:lstStyle/>
                    <a:p>
                      <a:pPr marL="0" marR="0" indent="0" algn="l" rtl="0" fontAlgn="base">
                        <a:spcAft>
                          <a:spcPts val="800"/>
                        </a:spcAft>
                        <a:buNone/>
                      </a:pPr>
                      <a:r>
                        <a:rPr lang="en-US" sz="1200" b="0" i="0" dirty="0">
                          <a:solidFill>
                            <a:srgbClr val="000000"/>
                          </a:solidFill>
                          <a:effectLst/>
                          <a:latin typeface="+mn-lt"/>
                        </a:rPr>
                        <a:t>Akhila </a:t>
                      </a:r>
                      <a:r>
                        <a:rPr lang="en-US" sz="1200" b="0" i="0" dirty="0" err="1">
                          <a:solidFill>
                            <a:srgbClr val="000000"/>
                          </a:solidFill>
                          <a:effectLst/>
                          <a:latin typeface="+mn-lt"/>
                        </a:rPr>
                        <a:t>Chittimella</a:t>
                      </a:r>
                      <a:r>
                        <a:rPr lang="en-US" sz="1200" b="0" i="0" dirty="0">
                          <a:solidFill>
                            <a:srgbClr val="000000"/>
                          </a:solidFill>
                          <a:effectLst/>
                          <a:latin typeface="+mn-lt"/>
                        </a:rPr>
                        <a:t> </a:t>
                      </a:r>
                    </a:p>
                  </a:txBody>
                  <a:tcPr/>
                </a:tc>
                <a:tc>
                  <a:txBody>
                    <a:bodyPr/>
                    <a:lstStyle/>
                    <a:p>
                      <a:pPr marL="0" marR="0" indent="0" algn="l" rtl="0" fontAlgn="base">
                        <a:spcAft>
                          <a:spcPts val="800"/>
                        </a:spcAft>
                        <a:buNone/>
                      </a:pPr>
                      <a:r>
                        <a:rPr lang="en-US" sz="1200" b="0" i="0" dirty="0">
                          <a:solidFill>
                            <a:srgbClr val="000000"/>
                          </a:solidFill>
                          <a:effectLst/>
                          <a:latin typeface="+mn-lt"/>
                        </a:rPr>
                        <a:t>2925412 </a:t>
                      </a:r>
                    </a:p>
                  </a:txBody>
                  <a:tcPr/>
                </a:tc>
                <a:tc>
                  <a:txBody>
                    <a:bodyPr/>
                    <a:lstStyle/>
                    <a:p>
                      <a:r>
                        <a:rPr lang="en-US" sz="1200" dirty="0"/>
                        <a:t>Prepared the conclusion, summarized the difficulties and questions raised by the workshop, and reviewed the entire presentation for formatting, consistency, citations, and accuracy.</a:t>
                      </a:r>
                      <a:endParaRPr lang="en-IN" sz="1200" dirty="0"/>
                    </a:p>
                  </a:txBody>
                  <a:tcPr/>
                </a:tc>
                <a:extLst>
                  <a:ext uri="{0D108BD9-81ED-4DB2-BD59-A6C34878D82A}">
                    <a16:rowId xmlns:a16="http://schemas.microsoft.com/office/drawing/2014/main" val="2171700433"/>
                  </a:ext>
                </a:extLst>
              </a:tr>
              <a:tr h="0">
                <a:tc>
                  <a:txBody>
                    <a:bodyPr/>
                    <a:lstStyle/>
                    <a:p>
                      <a:pPr marL="0" marR="0" indent="0" algn="l" rtl="0" fontAlgn="base">
                        <a:spcAft>
                          <a:spcPts val="800"/>
                        </a:spcAft>
                        <a:buNone/>
                      </a:pPr>
                      <a:endParaRPr lang="en-US" sz="900" b="0" i="0" dirty="0">
                        <a:solidFill>
                          <a:srgbClr val="000000"/>
                        </a:solidFill>
                        <a:effectLst/>
                        <a:latin typeface="Segoe UI" panose="020B0502040204020203" pitchFamily="34" charset="0"/>
                      </a:endParaRPr>
                    </a:p>
                  </a:txBody>
                  <a:tcPr/>
                </a:tc>
                <a:tc>
                  <a:txBody>
                    <a:bodyPr/>
                    <a:lstStyle/>
                    <a:p>
                      <a:pPr marL="0" marR="0" indent="0" algn="l" rtl="0" fontAlgn="base">
                        <a:spcAft>
                          <a:spcPts val="800"/>
                        </a:spcAft>
                        <a:buNone/>
                      </a:pPr>
                      <a:endParaRPr lang="en-US" sz="900" b="0" i="0" dirty="0">
                        <a:solidFill>
                          <a:srgbClr val="000000"/>
                        </a:solidFill>
                        <a:effectLst/>
                        <a:latin typeface="Segoe UI" panose="020B0502040204020203" pitchFamily="34" charset="0"/>
                      </a:endParaRPr>
                    </a:p>
                  </a:txBody>
                  <a:tcPr/>
                </a:tc>
                <a:tc>
                  <a:txBody>
                    <a:bodyPr/>
                    <a:lstStyle/>
                    <a:p>
                      <a:endParaRPr lang="en-IN" dirty="0"/>
                    </a:p>
                  </a:txBody>
                  <a:tcPr/>
                </a:tc>
                <a:extLst>
                  <a:ext uri="{0D108BD9-81ED-4DB2-BD59-A6C34878D82A}">
                    <a16:rowId xmlns:a16="http://schemas.microsoft.com/office/drawing/2014/main" val="3588768691"/>
                  </a:ext>
                </a:extLst>
              </a:tr>
            </a:tbl>
          </a:graphicData>
        </a:graphic>
      </p:graphicFrame>
    </p:spTree>
    <p:extLst>
      <p:ext uri="{BB962C8B-B14F-4D97-AF65-F5344CB8AC3E}">
        <p14:creationId xmlns:p14="http://schemas.microsoft.com/office/powerpoint/2010/main" val="2180410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NovaCare Health Systems</a:t>
            </a:r>
          </a:p>
        </p:txBody>
      </p:sp>
      <p:sp>
        <p:nvSpPr>
          <p:cNvPr id="4" name="TextBox 3"/>
          <p:cNvSpPr txBox="1"/>
          <p:nvPr/>
        </p:nvSpPr>
        <p:spPr>
          <a:xfrm>
            <a:off x="530352" y="804672"/>
            <a:ext cx="10972800" cy="320040"/>
          </a:xfrm>
          <a:prstGeom prst="rect">
            <a:avLst/>
          </a:prstGeom>
          <a:noFill/>
        </p:spPr>
        <p:txBody>
          <a:bodyPr wrap="none">
            <a:spAutoFit/>
          </a:bodyPr>
          <a:lstStyle/>
          <a:p>
            <a:pPr>
              <a:defRPr sz="1200">
                <a:solidFill>
                  <a:srgbClr val="5F6973"/>
                </a:solidFill>
              </a:defRPr>
            </a:pPr>
            <a:r>
              <a:t>Fictional healthcare enterprise</a:t>
            </a:r>
          </a:p>
        </p:txBody>
      </p:sp>
      <p:sp>
        <p:nvSpPr>
          <p:cNvPr id="5" name="TextBox 4"/>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2</a:t>
            </a:r>
          </a:p>
        </p:txBody>
      </p:sp>
      <p:sp>
        <p:nvSpPr>
          <p:cNvPr id="6" name="TextBox 5"/>
          <p:cNvSpPr txBox="1"/>
          <p:nvPr/>
        </p:nvSpPr>
        <p:spPr>
          <a:xfrm>
            <a:off x="640080" y="1143000"/>
            <a:ext cx="10972800" cy="5212080"/>
          </a:xfrm>
          <a:prstGeom prst="rect">
            <a:avLst/>
          </a:prstGeom>
          <a:noFill/>
        </p:spPr>
        <p:txBody>
          <a:bodyPr wrap="square">
            <a:spAutoFit/>
          </a:bodyPr>
          <a:lstStyle/>
          <a:p>
            <a:pPr>
              <a:spcAft>
                <a:spcPts val="800"/>
              </a:spcAft>
              <a:defRPr sz="1900">
                <a:solidFill>
                  <a:srgbClr val="222222"/>
                </a:solidFill>
              </a:defRPr>
            </a:pPr>
            <a:r>
              <a:t>Large U.S. healthcare network with 30 hospitals, 150+ outpatient facilities, and approximately 45,000 employees.</a:t>
            </a:r>
          </a:p>
          <a:p>
            <a:pPr>
              <a:spcAft>
                <a:spcPts val="800"/>
              </a:spcAft>
              <a:defRPr sz="1900">
                <a:solidFill>
                  <a:srgbClr val="222222"/>
                </a:solidFill>
              </a:defRPr>
            </a:pPr>
            <a:r>
              <a:t>Serves about 6 million patients annually through hospitals, clinics, diagnostic centers, and telehealth services.</a:t>
            </a:r>
          </a:p>
          <a:p>
            <a:pPr>
              <a:spcAft>
                <a:spcPts val="800"/>
              </a:spcAft>
              <a:defRPr sz="1900">
                <a:solidFill>
                  <a:srgbClr val="222222"/>
                </a:solidFill>
              </a:defRPr>
            </a:pPr>
            <a:r>
              <a:t>Operates enterprise EHR, cloud analytics, imaging, patient portals, and digital care platforms.</a:t>
            </a:r>
          </a:p>
          <a:p>
            <a:pPr>
              <a:spcAft>
                <a:spcPts val="800"/>
              </a:spcAft>
              <a:defRPr sz="1900">
                <a:solidFill>
                  <a:srgbClr val="222222"/>
                </a:solidFill>
              </a:defRPr>
            </a:pPr>
            <a:r>
              <a:t>Strategic goal: use AI to improve clinical quality, access, operational efficiency, and patient experience.</a:t>
            </a:r>
          </a:p>
          <a:p>
            <a:pPr>
              <a:spcAft>
                <a:spcPts val="800"/>
              </a:spcAft>
              <a:defRPr sz="1900">
                <a:solidFill>
                  <a:srgbClr val="222222"/>
                </a:solidFill>
              </a:defRPr>
            </a:pPr>
            <a:r>
              <a:t>Why Responsible AI matters: AI errors or bias can affect patient safety, privacy, treatment decisions, and trust.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AI Use Cases Under Consideration</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3</a:t>
            </a:r>
          </a:p>
        </p:txBody>
      </p:sp>
      <p:sp>
        <p:nvSpPr>
          <p:cNvPr id="5" name="Rounded Rectangle 4"/>
          <p:cNvSpPr/>
          <p:nvPr/>
        </p:nvSpPr>
        <p:spPr>
          <a:xfrm>
            <a:off x="594360" y="1143000"/>
            <a:ext cx="5257800" cy="2057400"/>
          </a:xfrm>
          <a:prstGeom prst="roundRect">
            <a:avLst/>
          </a:prstGeom>
          <a:solidFill>
            <a:srgbClr val="F2F6F8"/>
          </a:solidFill>
          <a:ln>
            <a:solidFill>
              <a:srgbClr val="26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325880"/>
            <a:ext cx="4800600" cy="1645920"/>
          </a:xfrm>
          <a:prstGeom prst="rect">
            <a:avLst/>
          </a:prstGeom>
          <a:noFill/>
        </p:spPr>
        <p:txBody>
          <a:bodyPr wrap="none">
            <a:spAutoFit/>
          </a:bodyPr>
          <a:lstStyle/>
          <a:p>
            <a:pPr>
              <a:defRPr sz="1800" b="1">
                <a:solidFill>
                  <a:srgbClr val="172D4A"/>
                </a:solidFill>
              </a:defRPr>
            </a:pPr>
            <a:r>
              <a:t>AI-Assisted Medical Imaging</a:t>
            </a:r>
          </a:p>
          <a:p>
            <a:pPr>
              <a:defRPr sz="1400">
                <a:solidFill>
                  <a:srgbClr val="222222"/>
                </a:solidFill>
              </a:defRPr>
            </a:pPr>
            <a:r>
              <a:t>Detect abnormalities in X-rays, CT scans, and MRIs.</a:t>
            </a:r>
            <a:br/>
            <a:r>
              <a:t>Risks: accuracy, bias, explainability, safety.</a:t>
            </a:r>
          </a:p>
        </p:txBody>
      </p:sp>
      <p:sp>
        <p:nvSpPr>
          <p:cNvPr id="7" name="Rounded Rectangle 6"/>
          <p:cNvSpPr/>
          <p:nvPr/>
        </p:nvSpPr>
        <p:spPr>
          <a:xfrm>
            <a:off x="6309360" y="1143000"/>
            <a:ext cx="5257800" cy="2057400"/>
          </a:xfrm>
          <a:prstGeom prst="roundRect">
            <a:avLst/>
          </a:prstGeom>
          <a:solidFill>
            <a:srgbClr val="F2F6F8"/>
          </a:solidFill>
          <a:ln>
            <a:solidFill>
              <a:srgbClr val="26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325880"/>
            <a:ext cx="4800600" cy="1645920"/>
          </a:xfrm>
          <a:prstGeom prst="rect">
            <a:avLst/>
          </a:prstGeom>
          <a:noFill/>
        </p:spPr>
        <p:txBody>
          <a:bodyPr wrap="none">
            <a:spAutoFit/>
          </a:bodyPr>
          <a:lstStyle/>
          <a:p>
            <a:pPr>
              <a:defRPr sz="1800" b="1">
                <a:solidFill>
                  <a:srgbClr val="172D4A"/>
                </a:solidFill>
              </a:defRPr>
            </a:pPr>
            <a:r>
              <a:t>Patient Deterioration Prediction</a:t>
            </a:r>
          </a:p>
          <a:p>
            <a:pPr>
              <a:defRPr sz="1400">
                <a:solidFill>
                  <a:srgbClr val="222222"/>
                </a:solidFill>
              </a:defRPr>
            </a:pPr>
            <a:r>
              <a:t>Predict patients at risk of rapid clinical decline.</a:t>
            </a:r>
            <a:br/>
            <a:r>
              <a:t>Risks: false alerts, data quality, unequal performance.</a:t>
            </a:r>
          </a:p>
        </p:txBody>
      </p:sp>
      <p:sp>
        <p:nvSpPr>
          <p:cNvPr id="9" name="Rounded Rectangle 8"/>
          <p:cNvSpPr/>
          <p:nvPr/>
        </p:nvSpPr>
        <p:spPr>
          <a:xfrm>
            <a:off x="594360" y="3566160"/>
            <a:ext cx="5257800" cy="2057400"/>
          </a:xfrm>
          <a:prstGeom prst="roundRect">
            <a:avLst/>
          </a:prstGeom>
          <a:solidFill>
            <a:srgbClr val="F2F6F8"/>
          </a:solidFill>
          <a:ln>
            <a:solidFill>
              <a:srgbClr val="26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3749039"/>
            <a:ext cx="4800600" cy="1645920"/>
          </a:xfrm>
          <a:prstGeom prst="rect">
            <a:avLst/>
          </a:prstGeom>
          <a:noFill/>
        </p:spPr>
        <p:txBody>
          <a:bodyPr wrap="none">
            <a:spAutoFit/>
          </a:bodyPr>
          <a:lstStyle/>
          <a:p>
            <a:pPr>
              <a:defRPr sz="1800" b="1">
                <a:solidFill>
                  <a:srgbClr val="172D4A"/>
                </a:solidFill>
              </a:defRPr>
            </a:pPr>
            <a:r>
              <a:t>Generative AI Clinical Assistant</a:t>
            </a:r>
          </a:p>
          <a:p>
            <a:pPr>
              <a:defRPr sz="1400">
                <a:solidFill>
                  <a:srgbClr val="222222"/>
                </a:solidFill>
              </a:defRPr>
            </a:pPr>
            <a:r>
              <a:t>Summarize records and draft clinical documentation.</a:t>
            </a:r>
            <a:br/>
            <a:r>
              <a:t>Risks: hallucinations, privacy, automation bias.</a:t>
            </a:r>
          </a:p>
        </p:txBody>
      </p:sp>
      <p:sp>
        <p:nvSpPr>
          <p:cNvPr id="11" name="Rounded Rectangle 10"/>
          <p:cNvSpPr/>
          <p:nvPr/>
        </p:nvSpPr>
        <p:spPr>
          <a:xfrm>
            <a:off x="6309360" y="3566160"/>
            <a:ext cx="5257800" cy="2057400"/>
          </a:xfrm>
          <a:prstGeom prst="roundRect">
            <a:avLst/>
          </a:prstGeom>
          <a:solidFill>
            <a:srgbClr val="F2F6F8"/>
          </a:solidFill>
          <a:ln>
            <a:solidFill>
              <a:srgbClr val="26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3749039"/>
            <a:ext cx="4800600" cy="1645920"/>
          </a:xfrm>
          <a:prstGeom prst="rect">
            <a:avLst/>
          </a:prstGeom>
          <a:noFill/>
        </p:spPr>
        <p:txBody>
          <a:bodyPr wrap="none">
            <a:spAutoFit/>
          </a:bodyPr>
          <a:lstStyle/>
          <a:p>
            <a:pPr>
              <a:defRPr sz="1800" b="1">
                <a:solidFill>
                  <a:srgbClr val="172D4A"/>
                </a:solidFill>
              </a:defRPr>
            </a:pPr>
            <a:r>
              <a:t>AI Scheduling &amp; Resource Optimization</a:t>
            </a:r>
          </a:p>
          <a:p>
            <a:pPr>
              <a:defRPr sz="1400">
                <a:solidFill>
                  <a:srgbClr val="222222"/>
                </a:solidFill>
              </a:defRPr>
            </a:pPr>
            <a:r>
              <a:t>Forecast demand and optimize staffing and appointments.</a:t>
            </a:r>
            <a:br/>
            <a:r>
              <a:t>Risks: employee fairness, transparency, over-automation.</a:t>
            </a:r>
          </a:p>
        </p:txBody>
      </p:sp>
      <p:sp>
        <p:nvSpPr>
          <p:cNvPr id="13" name="Oval 12">
            <a:extLst>
              <a:ext uri="{FF2B5EF4-FFF2-40B4-BE49-F238E27FC236}">
                <a16:creationId xmlns:a16="http://schemas.microsoft.com/office/drawing/2014/main" id="{C0D072AF-4733-570C-88CF-134FF331F22A}"/>
              </a:ext>
            </a:extLst>
          </p:cNvPr>
          <p:cNvSpPr/>
          <p:nvPr/>
        </p:nvSpPr>
        <p:spPr>
          <a:xfrm>
            <a:off x="2852057" y="6052457"/>
            <a:ext cx="827314" cy="29391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Ethical AI Principles Across Major Organizations</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4</a:t>
            </a:r>
          </a:p>
        </p:txBody>
      </p:sp>
      <p:graphicFrame>
        <p:nvGraphicFramePr>
          <p:cNvPr id="5" name="Table 4"/>
          <p:cNvGraphicFramePr>
            <a:graphicFrameLocks noGrp="1"/>
          </p:cNvGraphicFramePr>
          <p:nvPr/>
        </p:nvGraphicFramePr>
        <p:xfrm>
          <a:off x="502920" y="1097280"/>
          <a:ext cx="11155680" cy="48920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9098280">
                  <a:extLst>
                    <a:ext uri="{9D8B030D-6E8A-4147-A177-3AD203B41FA5}">
                      <a16:colId xmlns:a16="http://schemas.microsoft.com/office/drawing/2014/main" val="20001"/>
                    </a:ext>
                  </a:extLst>
                </a:gridCol>
              </a:tblGrid>
              <a:tr h="815340">
                <a:tc>
                  <a:txBody>
                    <a:bodyPr/>
                    <a:lstStyle/>
                    <a:p>
                      <a:pPr>
                        <a:defRPr sz="1500" b="1">
                          <a:solidFill>
                            <a:srgbClr val="FFFFFF"/>
                          </a:solidFill>
                        </a:defRPr>
                      </a:pPr>
                      <a:r>
                        <a:t>Organization</a:t>
                      </a:r>
                    </a:p>
                  </a:txBody>
                  <a:tcPr>
                    <a:solidFill>
                      <a:srgbClr val="172D4A"/>
                    </a:solidFill>
                  </a:tcPr>
                </a:tc>
                <a:tc>
                  <a:txBody>
                    <a:bodyPr/>
                    <a:lstStyle/>
                    <a:p>
                      <a:pPr>
                        <a:defRPr sz="1500" b="1">
                          <a:solidFill>
                            <a:srgbClr val="FFFFFF"/>
                          </a:solidFill>
                        </a:defRPr>
                      </a:pPr>
                      <a:r>
                        <a:t>Key Responsible / Ethical AI Principles</a:t>
                      </a:r>
                    </a:p>
                  </a:txBody>
                  <a:tcPr>
                    <a:solidFill>
                      <a:srgbClr val="172D4A"/>
                    </a:solidFill>
                  </a:tcPr>
                </a:tc>
                <a:extLst>
                  <a:ext uri="{0D108BD9-81ED-4DB2-BD59-A6C34878D82A}">
                    <a16:rowId xmlns:a16="http://schemas.microsoft.com/office/drawing/2014/main" val="10000"/>
                  </a:ext>
                </a:extLst>
              </a:tr>
              <a:tr h="815340">
                <a:tc>
                  <a:txBody>
                    <a:bodyPr/>
                    <a:lstStyle/>
                    <a:p>
                      <a:pPr>
                        <a:defRPr sz="1400">
                          <a:solidFill>
                            <a:srgbClr val="222222"/>
                          </a:solidFill>
                        </a:defRPr>
                      </a:pPr>
                      <a:r>
                        <a:t>Microsoft</a:t>
                      </a:r>
                    </a:p>
                  </a:txBody>
                  <a:tcPr>
                    <a:solidFill>
                      <a:srgbClr val="F2F6F8"/>
                    </a:solidFill>
                  </a:tcPr>
                </a:tc>
                <a:tc>
                  <a:txBody>
                    <a:bodyPr/>
                    <a:lstStyle/>
                    <a:p>
                      <a:pPr>
                        <a:defRPr sz="1400">
                          <a:solidFill>
                            <a:srgbClr val="222222"/>
                          </a:solidFill>
                        </a:defRPr>
                      </a:pPr>
                      <a:r>
                        <a:t>Fairness; reliability &amp; safety; privacy &amp; security; inclusiveness; transparency; accountability</a:t>
                      </a:r>
                    </a:p>
                  </a:txBody>
                  <a:tcPr>
                    <a:solidFill>
                      <a:srgbClr val="F2F6F8"/>
                    </a:solidFill>
                  </a:tcPr>
                </a:tc>
                <a:extLst>
                  <a:ext uri="{0D108BD9-81ED-4DB2-BD59-A6C34878D82A}">
                    <a16:rowId xmlns:a16="http://schemas.microsoft.com/office/drawing/2014/main" val="10001"/>
                  </a:ext>
                </a:extLst>
              </a:tr>
              <a:tr h="815340">
                <a:tc>
                  <a:txBody>
                    <a:bodyPr/>
                    <a:lstStyle/>
                    <a:p>
                      <a:pPr>
                        <a:defRPr sz="1400">
                          <a:solidFill>
                            <a:srgbClr val="222222"/>
                          </a:solidFill>
                        </a:defRPr>
                      </a:pPr>
                      <a:r>
                        <a:t>Google</a:t>
                      </a:r>
                    </a:p>
                  </a:txBody>
                  <a:tcPr>
                    <a:solidFill>
                      <a:srgbClr val="FFFFFF"/>
                    </a:solidFill>
                  </a:tcPr>
                </a:tc>
                <a:tc>
                  <a:txBody>
                    <a:bodyPr/>
                    <a:lstStyle/>
                    <a:p>
                      <a:pPr>
                        <a:defRPr sz="1400">
                          <a:solidFill>
                            <a:srgbClr val="222222"/>
                          </a:solidFill>
                        </a:defRPr>
                      </a:pPr>
                      <a:r>
                        <a:t>Social benefit; avoid unfair bias; safety; accountability; privacy; scientific excellence; appropriate use</a:t>
                      </a:r>
                    </a:p>
                  </a:txBody>
                  <a:tcPr>
                    <a:solidFill>
                      <a:srgbClr val="FFFFFF"/>
                    </a:solidFill>
                  </a:tcPr>
                </a:tc>
                <a:extLst>
                  <a:ext uri="{0D108BD9-81ED-4DB2-BD59-A6C34878D82A}">
                    <a16:rowId xmlns:a16="http://schemas.microsoft.com/office/drawing/2014/main" val="10002"/>
                  </a:ext>
                </a:extLst>
              </a:tr>
              <a:tr h="815340">
                <a:tc>
                  <a:txBody>
                    <a:bodyPr/>
                    <a:lstStyle/>
                    <a:p>
                      <a:pPr>
                        <a:defRPr sz="1400">
                          <a:solidFill>
                            <a:srgbClr val="222222"/>
                          </a:solidFill>
                        </a:defRPr>
                      </a:pPr>
                      <a:r>
                        <a:t>IBM</a:t>
                      </a:r>
                    </a:p>
                  </a:txBody>
                  <a:tcPr>
                    <a:solidFill>
                      <a:srgbClr val="F2F6F8"/>
                    </a:solidFill>
                  </a:tcPr>
                </a:tc>
                <a:tc>
                  <a:txBody>
                    <a:bodyPr/>
                    <a:lstStyle/>
                    <a:p>
                      <a:pPr>
                        <a:defRPr sz="1400">
                          <a:solidFill>
                            <a:srgbClr val="222222"/>
                          </a:solidFill>
                        </a:defRPr>
                      </a:pPr>
                      <a:r>
                        <a:t>Explainability; fairness; robustness; transparency; privacy</a:t>
                      </a:r>
                    </a:p>
                  </a:txBody>
                  <a:tcPr>
                    <a:solidFill>
                      <a:srgbClr val="F2F6F8"/>
                    </a:solidFill>
                  </a:tcPr>
                </a:tc>
                <a:extLst>
                  <a:ext uri="{0D108BD9-81ED-4DB2-BD59-A6C34878D82A}">
                    <a16:rowId xmlns:a16="http://schemas.microsoft.com/office/drawing/2014/main" val="10003"/>
                  </a:ext>
                </a:extLst>
              </a:tr>
              <a:tr h="815340">
                <a:tc>
                  <a:txBody>
                    <a:bodyPr/>
                    <a:lstStyle/>
                    <a:p>
                      <a:pPr>
                        <a:defRPr sz="1400">
                          <a:solidFill>
                            <a:srgbClr val="222222"/>
                          </a:solidFill>
                        </a:defRPr>
                      </a:pPr>
                      <a:r>
                        <a:t>AWS</a:t>
                      </a:r>
                    </a:p>
                  </a:txBody>
                  <a:tcPr>
                    <a:solidFill>
                      <a:srgbClr val="FFFFFF"/>
                    </a:solidFill>
                  </a:tcPr>
                </a:tc>
                <a:tc>
                  <a:txBody>
                    <a:bodyPr/>
                    <a:lstStyle/>
                    <a:p>
                      <a:pPr>
                        <a:defRPr sz="1400">
                          <a:solidFill>
                            <a:srgbClr val="222222"/>
                          </a:solidFill>
                        </a:defRPr>
                      </a:pPr>
                      <a:r>
                        <a:t>Fairness; explainability; privacy &amp; security; safety; controllability; veracity &amp; robustness; governance; transparency</a:t>
                      </a:r>
                    </a:p>
                  </a:txBody>
                  <a:tcPr>
                    <a:solidFill>
                      <a:srgbClr val="FFFFFF"/>
                    </a:solidFill>
                  </a:tcPr>
                </a:tc>
                <a:extLst>
                  <a:ext uri="{0D108BD9-81ED-4DB2-BD59-A6C34878D82A}">
                    <a16:rowId xmlns:a16="http://schemas.microsoft.com/office/drawing/2014/main" val="10004"/>
                  </a:ext>
                </a:extLst>
              </a:tr>
              <a:tr h="815340">
                <a:tc>
                  <a:txBody>
                    <a:bodyPr/>
                    <a:lstStyle/>
                    <a:p>
                      <a:pPr>
                        <a:defRPr sz="1400">
                          <a:solidFill>
                            <a:srgbClr val="222222"/>
                          </a:solidFill>
                        </a:defRPr>
                      </a:pPr>
                      <a:r>
                        <a:t>U.S. DoD</a:t>
                      </a:r>
                    </a:p>
                  </a:txBody>
                  <a:tcPr>
                    <a:solidFill>
                      <a:srgbClr val="F2F6F8"/>
                    </a:solidFill>
                  </a:tcPr>
                </a:tc>
                <a:tc>
                  <a:txBody>
                    <a:bodyPr/>
                    <a:lstStyle/>
                    <a:p>
                      <a:pPr>
                        <a:defRPr sz="1400">
                          <a:solidFill>
                            <a:srgbClr val="222222"/>
                          </a:solidFill>
                        </a:defRPr>
                      </a:pPr>
                      <a:r>
                        <a:t>Responsible; equitable; traceable; reliable; governable</a:t>
                      </a:r>
                    </a:p>
                  </a:txBody>
                  <a:tcPr>
                    <a:solidFill>
                      <a:srgbClr val="F2F6F8"/>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40080" y="6053328"/>
            <a:ext cx="10789920" cy="320040"/>
          </a:xfrm>
          <a:prstGeom prst="rect">
            <a:avLst/>
          </a:prstGeom>
          <a:noFill/>
        </p:spPr>
        <p:txBody>
          <a:bodyPr wrap="none">
            <a:spAutoFit/>
          </a:bodyPr>
          <a:lstStyle/>
          <a:p>
            <a:pPr>
              <a:defRPr sz="1300" i="1">
                <a:solidFill>
                  <a:srgbClr val="5F6973"/>
                </a:solidFill>
              </a:defRPr>
            </a:pPr>
            <a:r>
              <a:t>Common themes: fairness, transparency, accountability, privacy, safety/reliability, and governance.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Recommended NovaCare Ethical Principles</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5</a:t>
            </a:r>
          </a:p>
        </p:txBody>
      </p:sp>
      <p:sp>
        <p:nvSpPr>
          <p:cNvPr id="5" name="TextBox 4"/>
          <p:cNvSpPr txBox="1"/>
          <p:nvPr/>
        </p:nvSpPr>
        <p:spPr>
          <a:xfrm>
            <a:off x="640080" y="1143000"/>
            <a:ext cx="10972800" cy="5212080"/>
          </a:xfrm>
          <a:prstGeom prst="rect">
            <a:avLst/>
          </a:prstGeom>
          <a:noFill/>
        </p:spPr>
        <p:txBody>
          <a:bodyPr wrap="square">
            <a:spAutoFit/>
          </a:bodyPr>
          <a:lstStyle/>
          <a:p>
            <a:pPr>
              <a:spcAft>
                <a:spcPts val="800"/>
              </a:spcAft>
              <a:defRPr sz="1600">
                <a:solidFill>
                  <a:srgbClr val="222222"/>
                </a:solidFill>
              </a:defRPr>
            </a:pPr>
            <a:r>
              <a:t>1. Patient Safety &amp; Reliability — Validate systems before deployment and monitor performance continuously.</a:t>
            </a:r>
          </a:p>
          <a:p>
            <a:pPr>
              <a:spcAft>
                <a:spcPts val="800"/>
              </a:spcAft>
              <a:defRPr sz="1600">
                <a:solidFill>
                  <a:srgbClr val="222222"/>
                </a:solidFill>
              </a:defRPr>
            </a:pPr>
            <a:r>
              <a:t>2. Fairness &amp; Equity — Test for unequal outcomes across relevant patient populations.</a:t>
            </a:r>
          </a:p>
          <a:p>
            <a:pPr>
              <a:spcAft>
                <a:spcPts val="800"/>
              </a:spcAft>
              <a:defRPr sz="1600">
                <a:solidFill>
                  <a:srgbClr val="222222"/>
                </a:solidFill>
              </a:defRPr>
            </a:pPr>
            <a:r>
              <a:t>3. Privacy &amp; Security — Protect health data throughout collection, training, deployment, and monitoring.</a:t>
            </a:r>
          </a:p>
          <a:p>
            <a:pPr>
              <a:spcAft>
                <a:spcPts val="800"/>
              </a:spcAft>
              <a:defRPr sz="1600">
                <a:solidFill>
                  <a:srgbClr val="222222"/>
                </a:solidFill>
              </a:defRPr>
            </a:pPr>
            <a:r>
              <a:t>4. Transparency &amp; Explainability — Provide meaningful information about capabilities, limitations, and consequential recommendations.</a:t>
            </a:r>
          </a:p>
          <a:p>
            <a:pPr>
              <a:spcAft>
                <a:spcPts val="800"/>
              </a:spcAft>
              <a:defRPr sz="1600">
                <a:solidFill>
                  <a:srgbClr val="222222"/>
                </a:solidFill>
              </a:defRPr>
            </a:pPr>
            <a:r>
              <a:t>5. Human Oversight — Keep qualified professionals involved in high-impact clinical decisions.</a:t>
            </a:r>
          </a:p>
          <a:p>
            <a:pPr>
              <a:spcAft>
                <a:spcPts val="800"/>
              </a:spcAft>
              <a:defRPr sz="1600">
                <a:solidFill>
                  <a:srgbClr val="222222"/>
                </a:solidFill>
              </a:defRPr>
            </a:pPr>
            <a:r>
              <a:t>6. Accountability — Assign clear human and organizational ownership for every AI system.</a:t>
            </a:r>
          </a:p>
          <a:p>
            <a:pPr>
              <a:spcAft>
                <a:spcPts val="800"/>
              </a:spcAft>
              <a:defRPr sz="1600">
                <a:solidFill>
                  <a:srgbClr val="222222"/>
                </a:solidFill>
              </a:defRPr>
            </a:pPr>
            <a:r>
              <a:t>7. Governability — Maintain the ability to restrict, correct, suspend, or retire unsafe systems.</a:t>
            </a:r>
          </a:p>
          <a:p>
            <a:pPr>
              <a:spcAft>
                <a:spcPts val="800"/>
              </a:spcAft>
              <a:defRPr sz="1600">
                <a:solidFill>
                  <a:srgbClr val="222222"/>
                </a:solidFill>
              </a:defRPr>
            </a:pPr>
            <a:r>
              <a:t>Excluded as standalone ethical principles: innovation and efficiency. They are business goals, but they must remain subordinate to safety, fairness, privacy, and accountability.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NovaCare Responsible AI Ethics Statement</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6</a:t>
            </a:r>
          </a:p>
        </p:txBody>
      </p:sp>
      <p:sp>
        <p:nvSpPr>
          <p:cNvPr id="5" name="Rounded Rectangle 4"/>
          <p:cNvSpPr/>
          <p:nvPr/>
        </p:nvSpPr>
        <p:spPr>
          <a:xfrm>
            <a:off x="685800" y="1234440"/>
            <a:ext cx="10835640" cy="4389120"/>
          </a:xfrm>
          <a:prstGeom prst="roundRect">
            <a:avLst/>
          </a:prstGeom>
          <a:solidFill>
            <a:srgbClr val="F2F6F8"/>
          </a:solidFill>
          <a:ln>
            <a:solidFill>
              <a:srgbClr val="26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10195560" cy="3749039"/>
          </a:xfrm>
          <a:prstGeom prst="rect">
            <a:avLst/>
          </a:prstGeom>
          <a:noFill/>
        </p:spPr>
        <p:txBody>
          <a:bodyPr wrap="square">
            <a:spAutoFit/>
          </a:bodyPr>
          <a:lstStyle/>
          <a:p>
            <a:pPr>
              <a:spcAft>
                <a:spcPts val="800"/>
              </a:spcAft>
              <a:defRPr sz="1800">
                <a:solidFill>
                  <a:srgbClr val="222222"/>
                </a:solidFill>
              </a:defRPr>
            </a:pPr>
            <a:r>
              <a:t>NovaCare Health Systems is committed to developing, acquiring, and using artificial intelligence in ways that protect patients, support healthcare professionals, and promote trustworthy healthcare.</a:t>
            </a:r>
            <a:br/>
            <a:br/>
            <a:r>
              <a:t>Our AI systems will be governed by patient safety and reliability, fairness and equity, privacy and security, transparency and explainability, meaningful human oversight, accountability, and governability.</a:t>
            </a:r>
            <a:br/>
            <a:br/>
            <a:r>
              <a:t>AI will augment—not improperly replace—professional judgment in consequential clinical decisions. NovaCare will evaluate AI before deployment and continuously monitor it for safety, accuracy, bias, security, and unintended consequences. Systems that fail established ethical, clinical, or technical standards will be corrected, restricted, suspended, or retired.</a:t>
            </a:r>
          </a:p>
        </p:txBody>
      </p:sp>
      <p:sp>
        <p:nvSpPr>
          <p:cNvPr id="7" name="TextBox 6"/>
          <p:cNvSpPr txBox="1"/>
          <p:nvPr/>
        </p:nvSpPr>
        <p:spPr>
          <a:xfrm>
            <a:off x="868680" y="5806440"/>
            <a:ext cx="10424160" cy="411480"/>
          </a:xfrm>
          <a:prstGeom prst="rect">
            <a:avLst/>
          </a:prstGeom>
          <a:noFill/>
        </p:spPr>
        <p:txBody>
          <a:bodyPr wrap="none">
            <a:spAutoFit/>
          </a:bodyPr>
          <a:lstStyle/>
          <a:p>
            <a:pPr>
              <a:defRPr sz="1300" i="1">
                <a:solidFill>
                  <a:srgbClr val="5F6973"/>
                </a:solidFill>
              </a:defRPr>
            </a:pPr>
            <a:r>
              <a:t>The statement translates broad principles into clear commitments, oversight, monitoring, and corrective 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Responsible AI Governance Model</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7</a:t>
            </a:r>
          </a:p>
        </p:txBody>
      </p:sp>
      <p:sp>
        <p:nvSpPr>
          <p:cNvPr id="5" name="Rounded Rectangle 4"/>
          <p:cNvSpPr/>
          <p:nvPr/>
        </p:nvSpPr>
        <p:spPr>
          <a:xfrm>
            <a:off x="411480" y="1143000"/>
            <a:ext cx="1234440" cy="777240"/>
          </a:xfrm>
          <a:prstGeom prst="round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98448"/>
            <a:ext cx="1143000" cy="457200"/>
          </a:xfrm>
          <a:prstGeom prst="rect">
            <a:avLst/>
          </a:prstGeom>
          <a:noFill/>
        </p:spPr>
        <p:txBody>
          <a:bodyPr wrap="none">
            <a:spAutoFit/>
          </a:bodyPr>
          <a:lstStyle/>
          <a:p>
            <a:pPr algn="ctr">
              <a:defRPr sz="1100" b="1">
                <a:solidFill>
                  <a:srgbClr val="FFFFFF"/>
                </a:solidFill>
              </a:defRPr>
            </a:pPr>
            <a:r>
              <a:t>Proposal</a:t>
            </a:r>
          </a:p>
        </p:txBody>
      </p:sp>
      <p:sp>
        <p:nvSpPr>
          <p:cNvPr id="7" name="Rounded Rectangle 6"/>
          <p:cNvSpPr/>
          <p:nvPr/>
        </p:nvSpPr>
        <p:spPr>
          <a:xfrm>
            <a:off x="1847088" y="1143000"/>
            <a:ext cx="1234440" cy="777240"/>
          </a:xfrm>
          <a:prstGeom prst="roundRect">
            <a:avLst/>
          </a:prstGeom>
          <a:solidFill>
            <a:srgbClr val="26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92807" y="1298448"/>
            <a:ext cx="1143000" cy="457200"/>
          </a:xfrm>
          <a:prstGeom prst="rect">
            <a:avLst/>
          </a:prstGeom>
          <a:noFill/>
        </p:spPr>
        <p:txBody>
          <a:bodyPr wrap="none">
            <a:spAutoFit/>
          </a:bodyPr>
          <a:lstStyle/>
          <a:p>
            <a:pPr algn="ctr">
              <a:defRPr sz="1100" b="1">
                <a:solidFill>
                  <a:srgbClr val="FFFFFF"/>
                </a:solidFill>
              </a:defRPr>
            </a:pPr>
            <a:r>
              <a:t>Risk</a:t>
            </a:r>
            <a:br/>
            <a:r>
              <a:t>Assessment</a:t>
            </a:r>
          </a:p>
        </p:txBody>
      </p:sp>
      <p:sp>
        <p:nvSpPr>
          <p:cNvPr id="9" name="Rounded Rectangle 8"/>
          <p:cNvSpPr/>
          <p:nvPr/>
        </p:nvSpPr>
        <p:spPr>
          <a:xfrm>
            <a:off x="3282696" y="1143000"/>
            <a:ext cx="1234440" cy="777240"/>
          </a:xfrm>
          <a:prstGeom prst="round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8416" y="1298448"/>
            <a:ext cx="1143000" cy="457200"/>
          </a:xfrm>
          <a:prstGeom prst="rect">
            <a:avLst/>
          </a:prstGeom>
          <a:noFill/>
        </p:spPr>
        <p:txBody>
          <a:bodyPr wrap="none">
            <a:spAutoFit/>
          </a:bodyPr>
          <a:lstStyle/>
          <a:p>
            <a:pPr algn="ctr">
              <a:defRPr sz="1100" b="1">
                <a:solidFill>
                  <a:srgbClr val="FFFFFF"/>
                </a:solidFill>
              </a:defRPr>
            </a:pPr>
            <a:r>
              <a:t>Development</a:t>
            </a:r>
          </a:p>
        </p:txBody>
      </p:sp>
      <p:sp>
        <p:nvSpPr>
          <p:cNvPr id="11" name="Rounded Rectangle 10"/>
          <p:cNvSpPr/>
          <p:nvPr/>
        </p:nvSpPr>
        <p:spPr>
          <a:xfrm>
            <a:off x="4718304" y="1143000"/>
            <a:ext cx="1234440" cy="777240"/>
          </a:xfrm>
          <a:prstGeom prst="roundRect">
            <a:avLst/>
          </a:prstGeom>
          <a:solidFill>
            <a:srgbClr val="26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64024" y="1298448"/>
            <a:ext cx="1143000" cy="457200"/>
          </a:xfrm>
          <a:prstGeom prst="rect">
            <a:avLst/>
          </a:prstGeom>
          <a:noFill/>
        </p:spPr>
        <p:txBody>
          <a:bodyPr wrap="none">
            <a:spAutoFit/>
          </a:bodyPr>
          <a:lstStyle/>
          <a:p>
            <a:pPr algn="ctr">
              <a:defRPr sz="1100" b="1">
                <a:solidFill>
                  <a:srgbClr val="FFFFFF"/>
                </a:solidFill>
              </a:defRPr>
            </a:pPr>
            <a:r>
              <a:t>Testing</a:t>
            </a:r>
          </a:p>
        </p:txBody>
      </p:sp>
      <p:sp>
        <p:nvSpPr>
          <p:cNvPr id="13" name="Rounded Rectangle 12"/>
          <p:cNvSpPr/>
          <p:nvPr/>
        </p:nvSpPr>
        <p:spPr>
          <a:xfrm>
            <a:off x="6153912" y="1143000"/>
            <a:ext cx="1234440" cy="777240"/>
          </a:xfrm>
          <a:prstGeom prst="round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99632" y="1298448"/>
            <a:ext cx="1143000" cy="457200"/>
          </a:xfrm>
          <a:prstGeom prst="rect">
            <a:avLst/>
          </a:prstGeom>
          <a:noFill/>
        </p:spPr>
        <p:txBody>
          <a:bodyPr wrap="none">
            <a:spAutoFit/>
          </a:bodyPr>
          <a:lstStyle/>
          <a:p>
            <a:pPr algn="ctr">
              <a:defRPr sz="1100" b="1">
                <a:solidFill>
                  <a:srgbClr val="FFFFFF"/>
                </a:solidFill>
              </a:defRPr>
            </a:pPr>
            <a:r>
              <a:t>Approval</a:t>
            </a:r>
          </a:p>
        </p:txBody>
      </p:sp>
      <p:sp>
        <p:nvSpPr>
          <p:cNvPr id="15" name="Rounded Rectangle 14"/>
          <p:cNvSpPr/>
          <p:nvPr/>
        </p:nvSpPr>
        <p:spPr>
          <a:xfrm>
            <a:off x="7589520" y="1143000"/>
            <a:ext cx="1234440" cy="777240"/>
          </a:xfrm>
          <a:prstGeom prst="round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35240" y="1298448"/>
            <a:ext cx="1143000" cy="457200"/>
          </a:xfrm>
          <a:prstGeom prst="rect">
            <a:avLst/>
          </a:prstGeom>
          <a:noFill/>
        </p:spPr>
        <p:txBody>
          <a:bodyPr wrap="none">
            <a:spAutoFit/>
          </a:bodyPr>
          <a:lstStyle/>
          <a:p>
            <a:pPr algn="ctr">
              <a:defRPr sz="1100" b="1">
                <a:solidFill>
                  <a:srgbClr val="FFFFFF"/>
                </a:solidFill>
              </a:defRPr>
            </a:pPr>
            <a:r>
              <a:t>Deployment</a:t>
            </a:r>
          </a:p>
        </p:txBody>
      </p:sp>
      <p:sp>
        <p:nvSpPr>
          <p:cNvPr id="17" name="Rounded Rectangle 16"/>
          <p:cNvSpPr/>
          <p:nvPr/>
        </p:nvSpPr>
        <p:spPr>
          <a:xfrm>
            <a:off x="9025128" y="1143000"/>
            <a:ext cx="1234440" cy="777240"/>
          </a:xfrm>
          <a:prstGeom prst="roundRect">
            <a:avLst/>
          </a:prstGeom>
          <a:solidFill>
            <a:srgbClr val="26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70848" y="1298448"/>
            <a:ext cx="1143000" cy="457200"/>
          </a:xfrm>
          <a:prstGeom prst="rect">
            <a:avLst/>
          </a:prstGeom>
          <a:noFill/>
        </p:spPr>
        <p:txBody>
          <a:bodyPr wrap="none">
            <a:spAutoFit/>
          </a:bodyPr>
          <a:lstStyle/>
          <a:p>
            <a:pPr algn="ctr">
              <a:defRPr sz="1100" b="1">
                <a:solidFill>
                  <a:srgbClr val="FFFFFF"/>
                </a:solidFill>
              </a:defRPr>
            </a:pPr>
            <a:r>
              <a:t>Continuous</a:t>
            </a:r>
            <a:br/>
            <a:r>
              <a:t>Monitoring</a:t>
            </a:r>
          </a:p>
        </p:txBody>
      </p:sp>
      <p:sp>
        <p:nvSpPr>
          <p:cNvPr id="19" name="Rounded Rectangle 18"/>
          <p:cNvSpPr/>
          <p:nvPr/>
        </p:nvSpPr>
        <p:spPr>
          <a:xfrm>
            <a:off x="10460736" y="1143000"/>
            <a:ext cx="1234440" cy="777240"/>
          </a:xfrm>
          <a:prstGeom prst="round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06456" y="1298448"/>
            <a:ext cx="1143000" cy="457200"/>
          </a:xfrm>
          <a:prstGeom prst="rect">
            <a:avLst/>
          </a:prstGeom>
          <a:noFill/>
        </p:spPr>
        <p:txBody>
          <a:bodyPr wrap="none">
            <a:spAutoFit/>
          </a:bodyPr>
          <a:lstStyle/>
          <a:p>
            <a:pPr algn="ctr">
              <a:defRPr sz="1100" b="1">
                <a:solidFill>
                  <a:srgbClr val="FFFFFF"/>
                </a:solidFill>
              </a:defRPr>
            </a:pPr>
            <a:r>
              <a:t>Retirement</a:t>
            </a:r>
          </a:p>
        </p:txBody>
      </p:sp>
      <p:sp>
        <p:nvSpPr>
          <p:cNvPr id="21" name="TextBox 20"/>
          <p:cNvSpPr txBox="1"/>
          <p:nvPr/>
        </p:nvSpPr>
        <p:spPr>
          <a:xfrm>
            <a:off x="731520" y="2331720"/>
            <a:ext cx="10789920" cy="3474720"/>
          </a:xfrm>
          <a:prstGeom prst="rect">
            <a:avLst/>
          </a:prstGeom>
          <a:noFill/>
        </p:spPr>
        <p:txBody>
          <a:bodyPr wrap="square">
            <a:spAutoFit/>
          </a:bodyPr>
          <a:lstStyle/>
          <a:p>
            <a:pPr>
              <a:spcAft>
                <a:spcPts val="800"/>
              </a:spcAft>
              <a:defRPr sz="1700">
                <a:solidFill>
                  <a:srgbClr val="222222"/>
                </a:solidFill>
              </a:defRPr>
            </a:pPr>
            <a:r>
              <a:t>Responsible AI Board: clinical leadership, AI/data science, cybersecurity, privacy/legal, compliance, patient representation, and ethics.</a:t>
            </a:r>
          </a:p>
          <a:p>
            <a:pPr>
              <a:spcAft>
                <a:spcPts val="800"/>
              </a:spcAft>
              <a:defRPr sz="1700">
                <a:solidFill>
                  <a:srgbClr val="222222"/>
                </a:solidFill>
              </a:defRPr>
            </a:pPr>
            <a:r>
              <a:t>Required controls: AI impact assessment, data-quality and bias testing, privacy/security review, independent validation for high-risk systems.</a:t>
            </a:r>
          </a:p>
          <a:p>
            <a:pPr>
              <a:spcAft>
                <a:spcPts val="800"/>
              </a:spcAft>
              <a:defRPr sz="1700">
                <a:solidFill>
                  <a:srgbClr val="222222"/>
                </a:solidFill>
              </a:defRPr>
            </a:pPr>
            <a:r>
              <a:t>Operational controls: documented limitations, human-oversight requirements, incident reporting, performance monitoring, periodic audits, and rollback/shutdown procedures.</a:t>
            </a:r>
          </a:p>
          <a:p>
            <a:pPr>
              <a:spcAft>
                <a:spcPts val="800"/>
              </a:spcAft>
              <a:defRPr sz="1700">
                <a:solidFill>
                  <a:srgbClr val="222222"/>
                </a:solidFill>
              </a:defRPr>
            </a:pPr>
            <a:r>
              <a:t>Core idea: principles must be operationalized across the full AI lifecycle rather than treated as a one-time approval.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Conclusion and Workshop Reflection</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8</a:t>
            </a:r>
          </a:p>
        </p:txBody>
      </p:sp>
      <p:sp>
        <p:nvSpPr>
          <p:cNvPr id="5" name="TextBox 4"/>
          <p:cNvSpPr txBox="1"/>
          <p:nvPr/>
        </p:nvSpPr>
        <p:spPr>
          <a:xfrm>
            <a:off x="640080" y="1143000"/>
            <a:ext cx="10972800" cy="5212080"/>
          </a:xfrm>
          <a:prstGeom prst="rect">
            <a:avLst/>
          </a:prstGeom>
          <a:noFill/>
        </p:spPr>
        <p:txBody>
          <a:bodyPr wrap="square">
            <a:spAutoFit/>
          </a:bodyPr>
          <a:lstStyle/>
          <a:p>
            <a:pPr>
              <a:spcAft>
                <a:spcPts val="800"/>
              </a:spcAft>
              <a:defRPr sz="1800">
                <a:solidFill>
                  <a:srgbClr val="222222"/>
                </a:solidFill>
              </a:defRPr>
            </a:pPr>
            <a:r>
              <a:t>Responsible AI requires more than accurate algorithms; it requires governance, testing, documentation, accountability, and continuous monitoring.</a:t>
            </a:r>
          </a:p>
          <a:p>
            <a:pPr>
              <a:spcAft>
                <a:spcPts val="800"/>
              </a:spcAft>
              <a:defRPr sz="1800">
                <a:solidFill>
                  <a:srgbClr val="222222"/>
                </a:solidFill>
              </a:defRPr>
            </a:pPr>
            <a:r>
              <a:t>Across major frameworks, fairness, transparency, privacy, safety/reliability, accountability, and human control repeatedly appear as core themes.</a:t>
            </a:r>
          </a:p>
          <a:p>
            <a:pPr>
              <a:spcAft>
                <a:spcPts val="800"/>
              </a:spcAft>
              <a:defRPr sz="1800">
                <a:solidFill>
                  <a:srgbClr val="222222"/>
                </a:solidFill>
              </a:defRPr>
            </a:pPr>
            <a:r>
              <a:t>Workshop difficulty/question: translating broad concepts such as fairness into measurable requirements can be challenging because different clinical contexts and patient populations may require different definitions of equitable performance.</a:t>
            </a:r>
          </a:p>
          <a:p>
            <a:pPr>
              <a:spcAft>
                <a:spcPts val="800"/>
              </a:spcAft>
              <a:defRPr sz="1800">
                <a:solidFill>
                  <a:srgbClr val="222222"/>
                </a:solidFill>
              </a:defRPr>
            </a:pPr>
            <a:r>
              <a:t>Another question is how much explanation clinicians need from complex models before they can appropriately trust and act on recommendations.</a:t>
            </a:r>
          </a:p>
          <a:p>
            <a:pPr>
              <a:spcAft>
                <a:spcPts val="800"/>
              </a:spcAft>
              <a:defRPr sz="1800">
                <a:solidFill>
                  <a:srgbClr val="222222"/>
                </a:solidFill>
              </a:defRPr>
            </a:pPr>
            <a:r>
              <a:t>Personal takeaway: effective Responsible AI requires collaboration among technical teams, clinicians, leaders, compliance professionals, and people affected by 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49808"/>
          </a:xfrm>
          <a:prstGeom prst="rect">
            <a:avLst/>
          </a:prstGeom>
          <a:solidFill>
            <a:srgbClr val="17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064240" cy="411480"/>
          </a:xfrm>
          <a:prstGeom prst="rect">
            <a:avLst/>
          </a:prstGeom>
          <a:noFill/>
        </p:spPr>
        <p:txBody>
          <a:bodyPr wrap="none">
            <a:spAutoFit/>
          </a:bodyPr>
          <a:lstStyle/>
          <a:p>
            <a:pPr>
              <a:defRPr sz="2600" b="1">
                <a:solidFill>
                  <a:srgbClr val="FFFFFF"/>
                </a:solidFill>
              </a:defRPr>
            </a:pPr>
            <a:r>
              <a:t>References</a:t>
            </a:r>
          </a:p>
        </p:txBody>
      </p:sp>
      <p:sp>
        <p:nvSpPr>
          <p:cNvPr id="4" name="TextBox 3"/>
          <p:cNvSpPr txBox="1"/>
          <p:nvPr/>
        </p:nvSpPr>
        <p:spPr>
          <a:xfrm>
            <a:off x="10789920" y="6446520"/>
            <a:ext cx="822960" cy="228600"/>
          </a:xfrm>
          <a:prstGeom prst="rect">
            <a:avLst/>
          </a:prstGeom>
          <a:noFill/>
        </p:spPr>
        <p:txBody>
          <a:bodyPr wrap="none">
            <a:spAutoFit/>
          </a:bodyPr>
          <a:lstStyle/>
          <a:p>
            <a:pPr algn="r">
              <a:defRPr sz="1000">
                <a:solidFill>
                  <a:srgbClr val="5F6973"/>
                </a:solidFill>
              </a:defRPr>
            </a:pPr>
            <a:r>
              <a:t>9</a:t>
            </a:r>
          </a:p>
        </p:txBody>
      </p:sp>
      <p:sp>
        <p:nvSpPr>
          <p:cNvPr id="5" name="TextBox 4"/>
          <p:cNvSpPr txBox="1"/>
          <p:nvPr/>
        </p:nvSpPr>
        <p:spPr>
          <a:xfrm>
            <a:off x="685800" y="1188720"/>
            <a:ext cx="10698480" cy="5029200"/>
          </a:xfrm>
          <a:prstGeom prst="rect">
            <a:avLst/>
          </a:prstGeom>
          <a:noFill/>
        </p:spPr>
        <p:txBody>
          <a:bodyPr wrap="square">
            <a:spAutoFit/>
          </a:bodyPr>
          <a:lstStyle/>
          <a:p>
            <a:pPr>
              <a:spcAft>
                <a:spcPts val="800"/>
              </a:spcAft>
              <a:defRPr sz="1700">
                <a:solidFill>
                  <a:srgbClr val="222222"/>
                </a:solidFill>
              </a:defRPr>
            </a:pPr>
            <a:r>
              <a:t>Amazon Web Services. (n.d.). Responsible AI. AWS.</a:t>
            </a:r>
          </a:p>
          <a:p>
            <a:pPr>
              <a:spcAft>
                <a:spcPts val="800"/>
              </a:spcAft>
              <a:defRPr sz="1700">
                <a:solidFill>
                  <a:srgbClr val="222222"/>
                </a:solidFill>
              </a:defRPr>
            </a:pPr>
            <a:r>
              <a:t>Department of Defense. (2022). Responsible artificial intelligence strategy and implementation pathway. U.S. Department of Defense.</a:t>
            </a:r>
          </a:p>
          <a:p>
            <a:pPr>
              <a:spcAft>
                <a:spcPts val="800"/>
              </a:spcAft>
              <a:defRPr sz="1700">
                <a:solidFill>
                  <a:srgbClr val="222222"/>
                </a:solidFill>
              </a:defRPr>
            </a:pPr>
            <a:r>
              <a:t>Google. (n.d.). AI principles.</a:t>
            </a:r>
          </a:p>
          <a:p>
            <a:pPr>
              <a:spcAft>
                <a:spcPts val="800"/>
              </a:spcAft>
              <a:defRPr sz="1700">
                <a:solidFill>
                  <a:srgbClr val="222222"/>
                </a:solidFill>
              </a:defRPr>
            </a:pPr>
            <a:r>
              <a:t>IBM. (2026). What is AI ethics? IBM Think.</a:t>
            </a:r>
          </a:p>
          <a:p>
            <a:pPr>
              <a:spcAft>
                <a:spcPts val="800"/>
              </a:spcAft>
              <a:defRPr sz="1700">
                <a:solidFill>
                  <a:srgbClr val="222222"/>
                </a:solidFill>
              </a:defRPr>
            </a:pPr>
            <a:r>
              <a:t>Microsoft. (n.d.). Responsible AI principles and approach.</a:t>
            </a:r>
          </a:p>
          <a:p>
            <a:pPr>
              <a:spcAft>
                <a:spcPts val="800"/>
              </a:spcAft>
              <a:defRPr sz="1700">
                <a:solidFill>
                  <a:srgbClr val="222222"/>
                </a:solidFill>
              </a:defRPr>
            </a:pPr>
            <a:r>
              <a:t>Ethical Machines, Chapter 5. [Add the complete textbook citation from your course syllabus.]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1177</Words>
  <Application>Microsoft Office PowerPoint</Application>
  <PresentationFormat>Widescreen</PresentationFormat>
  <Paragraphs>109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subject/>
  <dc:creator>chirra vaibhavi</dc:creator>
  <cp:keywords/>
  <cp:lastModifiedBy>A K</cp:lastModifiedBy>
  <cp:revision>2</cp:revision>
  <dcterms:created xsi:type="dcterms:W3CDTF">2013-01-27T09:14:16Z</dcterms:created>
  <dcterms:modified xsi:type="dcterms:W3CDTF">2026-09-03T21:47:03Z</dcterms:modified>
  <cp:category/>
</cp:coreProperties>
</file>