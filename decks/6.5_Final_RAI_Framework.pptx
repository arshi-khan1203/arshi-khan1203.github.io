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699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731520" y="1737360"/>
            <a:ext cx="10725912" cy="109728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NovaCare Responsible AI Framework</a:t>
            </a:r>
            <a:endParaRPr lang="en-US" sz="3800" dirty="0"/>
          </a:p>
        </p:txBody>
      </p:sp>
      <p:sp>
        <p:nvSpPr>
          <p:cNvPr id="3" name="Text 1"/>
          <p:cNvSpPr txBox="1"/>
          <p:nvPr/>
        </p:nvSpPr>
        <p:spPr>
          <a:xfrm>
            <a:off x="914400" y="2926080"/>
            <a:ext cx="10360152" cy="548640"/>
          </a:xfrm>
          <a:prstGeom prst="rect">
            <a:avLst/>
          </a:prstGeom>
          <a:noFill/>
          <a:ln/>
        </p:spPr>
        <p:txBody>
          <a:bodyPr wrap="square" lIns="0" tIns="0" rIns="0" bIns="0" rtlCol="0" anchor="ctr"/>
          <a:lstStyle/>
          <a:p>
            <a:pPr marL="0" indent="0" algn="ctr">
              <a:buNone/>
            </a:pPr>
            <a:r>
              <a:rPr lang="en-US" sz="1900" dirty="0">
                <a:solidFill>
                  <a:srgbClr val="DDEBF7"/>
                </a:solidFill>
                <a:latin typeface="Calibri" pitchFamily="34" charset="0"/>
                <a:ea typeface="Calibri" pitchFamily="34" charset="-122"/>
                <a:cs typeface="Calibri" pitchFamily="34" charset="-120"/>
              </a:rPr>
              <a:t>Integrated final framework for governing AI across its full lifecycle</a:t>
            </a:r>
            <a:endParaRPr lang="en-US" sz="1900" dirty="0"/>
          </a:p>
        </p:txBody>
      </p:sp>
      <p:sp>
        <p:nvSpPr>
          <p:cNvPr id="4" name="Text 2"/>
          <p:cNvSpPr txBox="1"/>
          <p:nvPr/>
        </p:nvSpPr>
        <p:spPr>
          <a:xfrm>
            <a:off x="924560" y="3931920"/>
            <a:ext cx="10360152" cy="1717040"/>
          </a:xfrm>
          <a:prstGeom prst="rect">
            <a:avLst/>
          </a:prstGeom>
          <a:noFill/>
          <a:ln/>
        </p:spPr>
        <p:txBody>
          <a:bodyPr wrap="square" lIns="0" tIns="0" rIns="0" bIns="0" rtlCol="0" anchor="ctr"/>
          <a:lstStyle/>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NovaCare Health Systems</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Prepared by: Arshi Khan</a:t>
            </a:r>
          </a:p>
          <a:p>
            <a:pPr algn="ctr"/>
            <a:r>
              <a:rPr lang="en-US" sz="1400" dirty="0">
                <a:solidFill>
                  <a:srgbClr val="FFFFFF"/>
                </a:solidFill>
                <a:latin typeface="Calibri" pitchFamily="34" charset="0"/>
                <a:ea typeface="Calibri" pitchFamily="34" charset="-122"/>
                <a:cs typeface="Calibri" pitchFamily="34" charset="-120"/>
              </a:rPr>
              <a:t>Professor Marvin Hunt</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Assignment: 6.5 Final RAI Framework</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Date: October 18,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NovaCare Health Systems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Fictional healthcare enterprise used throughout the course</a:t>
            </a:r>
            <a:endParaRPr lang="en-US" sz="1250" dirty="0"/>
          </a:p>
        </p:txBody>
      </p:sp>
      <p:sp>
        <p:nvSpPr>
          <p:cNvPr id="4" name="Shape 2"/>
          <p:cNvSpPr/>
          <p:nvPr/>
        </p:nvSpPr>
        <p:spPr>
          <a:xfrm>
            <a:off x="457200" y="1673352"/>
            <a:ext cx="320040" cy="320040"/>
          </a:xfrm>
          <a:prstGeom prst="ellipse">
            <a:avLst/>
          </a:prstGeom>
          <a:solidFill>
            <a:srgbClr val="2E75B6"/>
          </a:solidFill>
          <a:ln/>
        </p:spPr>
      </p:sp>
      <p:sp>
        <p:nvSpPr>
          <p:cNvPr id="5" name="Text 3"/>
          <p:cNvSpPr txBox="1"/>
          <p:nvPr/>
        </p:nvSpPr>
        <p:spPr>
          <a:xfrm>
            <a:off x="960120" y="1600200"/>
            <a:ext cx="2651760" cy="457200"/>
          </a:xfrm>
          <a:prstGeom prst="rect">
            <a:avLst/>
          </a:prstGeom>
          <a:noFill/>
          <a:ln/>
        </p:spPr>
        <p:txBody>
          <a:bodyPr wrap="square" lIns="0" tIns="0" rIns="0" bIns="0" rtlCol="0" anchor="t"/>
          <a:lstStyle/>
          <a:p>
            <a:pPr marL="0" indent="0">
              <a:buNone/>
            </a:pPr>
            <a:r>
              <a:rPr lang="en-US" sz="1700" b="1" dirty="0">
                <a:solidFill>
                  <a:srgbClr val="1F4E79"/>
                </a:solidFill>
                <a:latin typeface="Calibri" pitchFamily="34" charset="0"/>
                <a:ea typeface="Calibri" pitchFamily="34" charset="-122"/>
                <a:cs typeface="Calibri" pitchFamily="34" charset="-120"/>
              </a:rPr>
              <a:t>Scale</a:t>
            </a:r>
            <a:endParaRPr lang="en-US" sz="1700" dirty="0"/>
          </a:p>
        </p:txBody>
      </p:sp>
      <p:sp>
        <p:nvSpPr>
          <p:cNvPr id="6" name="Text 4"/>
          <p:cNvSpPr txBox="1"/>
          <p:nvPr/>
        </p:nvSpPr>
        <p:spPr>
          <a:xfrm>
            <a:off x="3749040" y="1600200"/>
            <a:ext cx="7985455" cy="100584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30 hospitals, 150+ outpatient facilities, approximately 45,000 employees</a:t>
            </a:r>
            <a:endParaRPr lang="en-US" sz="1600" dirty="0"/>
          </a:p>
        </p:txBody>
      </p:sp>
      <p:sp>
        <p:nvSpPr>
          <p:cNvPr id="7" name="Shape 5"/>
          <p:cNvSpPr/>
          <p:nvPr/>
        </p:nvSpPr>
        <p:spPr>
          <a:xfrm>
            <a:off x="457200" y="2724912"/>
            <a:ext cx="320040" cy="320040"/>
          </a:xfrm>
          <a:prstGeom prst="ellipse">
            <a:avLst/>
          </a:prstGeom>
          <a:solidFill>
            <a:srgbClr val="2E75B6"/>
          </a:solidFill>
          <a:ln/>
        </p:spPr>
      </p:sp>
      <p:sp>
        <p:nvSpPr>
          <p:cNvPr id="8" name="Text 6"/>
          <p:cNvSpPr txBox="1"/>
          <p:nvPr/>
        </p:nvSpPr>
        <p:spPr>
          <a:xfrm>
            <a:off x="960120" y="2651760"/>
            <a:ext cx="2651760" cy="457200"/>
          </a:xfrm>
          <a:prstGeom prst="rect">
            <a:avLst/>
          </a:prstGeom>
          <a:noFill/>
          <a:ln/>
        </p:spPr>
        <p:txBody>
          <a:bodyPr wrap="square" lIns="0" tIns="0" rIns="0" bIns="0" rtlCol="0" anchor="t"/>
          <a:lstStyle/>
          <a:p>
            <a:pPr marL="0" indent="0">
              <a:buNone/>
            </a:pPr>
            <a:r>
              <a:rPr lang="en-US" sz="1700" b="1" dirty="0">
                <a:solidFill>
                  <a:srgbClr val="1F4E79"/>
                </a:solidFill>
                <a:latin typeface="Calibri" pitchFamily="34" charset="0"/>
                <a:ea typeface="Calibri" pitchFamily="34" charset="-122"/>
                <a:cs typeface="Calibri" pitchFamily="34" charset="-120"/>
              </a:rPr>
              <a:t>Reach</a:t>
            </a:r>
            <a:endParaRPr lang="en-US" sz="1700" dirty="0"/>
          </a:p>
        </p:txBody>
      </p:sp>
      <p:sp>
        <p:nvSpPr>
          <p:cNvPr id="9" name="Text 7"/>
          <p:cNvSpPr txBox="1"/>
          <p:nvPr/>
        </p:nvSpPr>
        <p:spPr>
          <a:xfrm>
            <a:off x="3749040" y="2651760"/>
            <a:ext cx="7985455" cy="100584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About 6 million patients a year through hospitals, clinics, diagnostic centers, and telehealth</a:t>
            </a:r>
            <a:endParaRPr lang="en-US" sz="1600" dirty="0"/>
          </a:p>
        </p:txBody>
      </p:sp>
      <p:sp>
        <p:nvSpPr>
          <p:cNvPr id="10" name="Shape 8"/>
          <p:cNvSpPr/>
          <p:nvPr/>
        </p:nvSpPr>
        <p:spPr>
          <a:xfrm>
            <a:off x="457200" y="3776472"/>
            <a:ext cx="320040" cy="320040"/>
          </a:xfrm>
          <a:prstGeom prst="ellipse">
            <a:avLst/>
          </a:prstGeom>
          <a:solidFill>
            <a:srgbClr val="2E75B6"/>
          </a:solidFill>
          <a:ln/>
        </p:spPr>
      </p:sp>
      <p:sp>
        <p:nvSpPr>
          <p:cNvPr id="11" name="Text 9"/>
          <p:cNvSpPr txBox="1"/>
          <p:nvPr/>
        </p:nvSpPr>
        <p:spPr>
          <a:xfrm>
            <a:off x="960120" y="3703320"/>
            <a:ext cx="2651760" cy="457200"/>
          </a:xfrm>
          <a:prstGeom prst="rect">
            <a:avLst/>
          </a:prstGeom>
          <a:noFill/>
          <a:ln/>
        </p:spPr>
        <p:txBody>
          <a:bodyPr wrap="square" lIns="0" tIns="0" rIns="0" bIns="0" rtlCol="0" anchor="t"/>
          <a:lstStyle/>
          <a:p>
            <a:pPr marL="0" indent="0">
              <a:buNone/>
            </a:pPr>
            <a:r>
              <a:rPr lang="en-US" sz="1700" b="1" dirty="0">
                <a:solidFill>
                  <a:srgbClr val="1F4E79"/>
                </a:solidFill>
                <a:latin typeface="Calibri" pitchFamily="34" charset="0"/>
                <a:ea typeface="Calibri" pitchFamily="34" charset="-122"/>
                <a:cs typeface="Calibri" pitchFamily="34" charset="-120"/>
              </a:rPr>
              <a:t>Technology</a:t>
            </a:r>
            <a:endParaRPr lang="en-US" sz="1700" dirty="0"/>
          </a:p>
        </p:txBody>
      </p:sp>
      <p:sp>
        <p:nvSpPr>
          <p:cNvPr id="12" name="Text 10"/>
          <p:cNvSpPr txBox="1"/>
          <p:nvPr/>
        </p:nvSpPr>
        <p:spPr>
          <a:xfrm>
            <a:off x="3749040" y="3703320"/>
            <a:ext cx="7985455" cy="100584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Enterprise EHR, cloud analytics, imaging, patient portals, and digital care platforms</a:t>
            </a:r>
            <a:endParaRPr lang="en-US" sz="1600" dirty="0"/>
          </a:p>
        </p:txBody>
      </p:sp>
      <p:sp>
        <p:nvSpPr>
          <p:cNvPr id="13" name="Shape 11"/>
          <p:cNvSpPr/>
          <p:nvPr/>
        </p:nvSpPr>
        <p:spPr>
          <a:xfrm>
            <a:off x="457200" y="4828032"/>
            <a:ext cx="320040" cy="320040"/>
          </a:xfrm>
          <a:prstGeom prst="ellipse">
            <a:avLst/>
          </a:prstGeom>
          <a:solidFill>
            <a:srgbClr val="2E75B6"/>
          </a:solidFill>
          <a:ln/>
        </p:spPr>
      </p:sp>
      <p:sp>
        <p:nvSpPr>
          <p:cNvPr id="14" name="Text 12"/>
          <p:cNvSpPr txBox="1"/>
          <p:nvPr/>
        </p:nvSpPr>
        <p:spPr>
          <a:xfrm>
            <a:off x="960120" y="4754880"/>
            <a:ext cx="2651760" cy="457200"/>
          </a:xfrm>
          <a:prstGeom prst="rect">
            <a:avLst/>
          </a:prstGeom>
          <a:noFill/>
          <a:ln/>
        </p:spPr>
        <p:txBody>
          <a:bodyPr wrap="square" lIns="0" tIns="0" rIns="0" bIns="0" rtlCol="0" anchor="t"/>
          <a:lstStyle/>
          <a:p>
            <a:pPr marL="0" indent="0">
              <a:buNone/>
            </a:pPr>
            <a:r>
              <a:rPr lang="en-US" sz="1700" b="1" dirty="0">
                <a:solidFill>
                  <a:srgbClr val="1F4E79"/>
                </a:solidFill>
                <a:latin typeface="Calibri" pitchFamily="34" charset="0"/>
                <a:ea typeface="Calibri" pitchFamily="34" charset="-122"/>
                <a:cs typeface="Calibri" pitchFamily="34" charset="-120"/>
              </a:rPr>
              <a:t>Why RAI matters</a:t>
            </a:r>
            <a:endParaRPr lang="en-US" sz="1700" dirty="0"/>
          </a:p>
        </p:txBody>
      </p:sp>
      <p:sp>
        <p:nvSpPr>
          <p:cNvPr id="15" name="Text 13"/>
          <p:cNvSpPr txBox="1"/>
          <p:nvPr/>
        </p:nvSpPr>
        <p:spPr>
          <a:xfrm>
            <a:off x="3749040" y="4754880"/>
            <a:ext cx="7985455" cy="100584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AI errors or bias can affect patient safety, privacy, treatment decisions, and trust</a:t>
            </a:r>
            <a:endParaRPr lang="en-US" sz="1600" dirty="0"/>
          </a:p>
        </p:txBody>
      </p:sp>
      <p:sp>
        <p:nvSpPr>
          <p:cNvPr id="16" name="Text 1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AI Use Cases and Risk Tiers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Risk tier sets the level of review, approval, and monitoring</a:t>
            </a:r>
            <a:endParaRPr lang="en-US" sz="1250" dirty="0"/>
          </a:p>
        </p:txBody>
      </p:sp>
      <p:sp>
        <p:nvSpPr>
          <p:cNvPr id="4" name="Shape 2"/>
          <p:cNvSpPr/>
          <p:nvPr/>
        </p:nvSpPr>
        <p:spPr>
          <a:xfrm>
            <a:off x="457200" y="1600200"/>
            <a:ext cx="5410048" cy="1965960"/>
          </a:xfrm>
          <a:prstGeom prst="roundRect">
            <a:avLst>
              <a:gd name="adj" fmla="val 3721"/>
            </a:avLst>
          </a:prstGeom>
          <a:solidFill>
            <a:srgbClr val="DDEBF7"/>
          </a:solidFill>
          <a:ln/>
        </p:spPr>
      </p:sp>
      <p:sp>
        <p:nvSpPr>
          <p:cNvPr id="5" name="Text 3"/>
          <p:cNvSpPr txBox="1"/>
          <p:nvPr/>
        </p:nvSpPr>
        <p:spPr>
          <a:xfrm>
            <a:off x="685800" y="1828800"/>
            <a:ext cx="4952848" cy="457200"/>
          </a:xfrm>
          <a:prstGeom prst="rect">
            <a:avLst/>
          </a:prstGeom>
          <a:noFill/>
          <a:ln/>
        </p:spPr>
        <p:txBody>
          <a:bodyPr wrap="square" lIns="0" tIns="0" rIns="0" bIns="0" rtlCol="0" anchor="t"/>
          <a:lstStyle/>
          <a:p>
            <a:pPr marL="0" indent="0">
              <a:buNone/>
            </a:pPr>
            <a:r>
              <a:rPr lang="en-US" sz="1600" b="1" dirty="0">
                <a:solidFill>
                  <a:srgbClr val="1F4E79"/>
                </a:solidFill>
                <a:latin typeface="Calibri" pitchFamily="34" charset="0"/>
                <a:ea typeface="Calibri" pitchFamily="34" charset="-122"/>
                <a:cs typeface="Calibri" pitchFamily="34" charset="-120"/>
              </a:rPr>
              <a:t>AI-Assisted Medical Imaging</a:t>
            </a:r>
            <a:endParaRPr lang="en-US" sz="1600" dirty="0"/>
          </a:p>
        </p:txBody>
      </p:sp>
      <p:sp>
        <p:nvSpPr>
          <p:cNvPr id="6" name="Text 4"/>
          <p:cNvSpPr txBox="1"/>
          <p:nvPr/>
        </p:nvSpPr>
        <p:spPr>
          <a:xfrm>
            <a:off x="685800" y="2377440"/>
            <a:ext cx="4952848" cy="6400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Detects abnormalities in X-rays, CT scans, and MRIs</a:t>
            </a:r>
            <a:endParaRPr lang="en-US" sz="1300" dirty="0"/>
          </a:p>
        </p:txBody>
      </p:sp>
      <p:sp>
        <p:nvSpPr>
          <p:cNvPr id="7" name="Text 5"/>
          <p:cNvSpPr txBox="1"/>
          <p:nvPr/>
        </p:nvSpPr>
        <p:spPr>
          <a:xfrm>
            <a:off x="685800" y="3063240"/>
            <a:ext cx="4952848" cy="365760"/>
          </a:xfrm>
          <a:prstGeom prst="rect">
            <a:avLst/>
          </a:prstGeom>
          <a:noFill/>
          <a:ln/>
        </p:spPr>
        <p:txBody>
          <a:bodyPr wrap="square" lIns="0" tIns="0" rIns="0" bIns="0" rtlCol="0" anchor="t"/>
          <a:lstStyle/>
          <a:p>
            <a:pPr marL="0" indent="0">
              <a:buNone/>
            </a:pPr>
            <a:r>
              <a:rPr lang="en-US" sz="1300" b="1" dirty="0">
                <a:solidFill>
                  <a:srgbClr val="2E75B6"/>
                </a:solidFill>
                <a:latin typeface="Calibri" pitchFamily="34" charset="0"/>
                <a:ea typeface="Calibri" pitchFamily="34" charset="-122"/>
                <a:cs typeface="Calibri" pitchFamily="34" charset="-120"/>
              </a:rPr>
              <a:t>Tier 1 (high risk)</a:t>
            </a:r>
            <a:endParaRPr lang="en-US" sz="1300" dirty="0"/>
          </a:p>
        </p:txBody>
      </p:sp>
      <p:sp>
        <p:nvSpPr>
          <p:cNvPr id="8" name="Shape 6"/>
          <p:cNvSpPr/>
          <p:nvPr/>
        </p:nvSpPr>
        <p:spPr>
          <a:xfrm>
            <a:off x="6324448" y="1600200"/>
            <a:ext cx="5410048" cy="1965960"/>
          </a:xfrm>
          <a:prstGeom prst="roundRect">
            <a:avLst>
              <a:gd name="adj" fmla="val 3721"/>
            </a:avLst>
          </a:prstGeom>
          <a:solidFill>
            <a:srgbClr val="DDEBF7"/>
          </a:solidFill>
          <a:ln/>
        </p:spPr>
      </p:sp>
      <p:sp>
        <p:nvSpPr>
          <p:cNvPr id="9" name="Text 7"/>
          <p:cNvSpPr txBox="1"/>
          <p:nvPr/>
        </p:nvSpPr>
        <p:spPr>
          <a:xfrm>
            <a:off x="6553048" y="1828800"/>
            <a:ext cx="4952848" cy="457200"/>
          </a:xfrm>
          <a:prstGeom prst="rect">
            <a:avLst/>
          </a:prstGeom>
          <a:noFill/>
          <a:ln/>
        </p:spPr>
        <p:txBody>
          <a:bodyPr wrap="square" lIns="0" tIns="0" rIns="0" bIns="0" rtlCol="0" anchor="t"/>
          <a:lstStyle/>
          <a:p>
            <a:pPr marL="0" indent="0">
              <a:buNone/>
            </a:pPr>
            <a:r>
              <a:rPr lang="en-US" sz="1600" b="1" dirty="0">
                <a:solidFill>
                  <a:srgbClr val="1F4E79"/>
                </a:solidFill>
                <a:latin typeface="Calibri" pitchFamily="34" charset="0"/>
                <a:ea typeface="Calibri" pitchFamily="34" charset="-122"/>
                <a:cs typeface="Calibri" pitchFamily="34" charset="-120"/>
              </a:rPr>
              <a:t>Patient Deterioration Prediction</a:t>
            </a:r>
            <a:endParaRPr lang="en-US" sz="1600" dirty="0"/>
          </a:p>
        </p:txBody>
      </p:sp>
      <p:sp>
        <p:nvSpPr>
          <p:cNvPr id="10" name="Text 8"/>
          <p:cNvSpPr txBox="1"/>
          <p:nvPr/>
        </p:nvSpPr>
        <p:spPr>
          <a:xfrm>
            <a:off x="6553048" y="2377440"/>
            <a:ext cx="4952848" cy="6400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Predicts patients at risk of rapid clinical decline</a:t>
            </a:r>
            <a:endParaRPr lang="en-US" sz="1300" dirty="0"/>
          </a:p>
        </p:txBody>
      </p:sp>
      <p:sp>
        <p:nvSpPr>
          <p:cNvPr id="11" name="Text 9"/>
          <p:cNvSpPr txBox="1"/>
          <p:nvPr/>
        </p:nvSpPr>
        <p:spPr>
          <a:xfrm>
            <a:off x="6553048" y="3063240"/>
            <a:ext cx="4952848" cy="365760"/>
          </a:xfrm>
          <a:prstGeom prst="rect">
            <a:avLst/>
          </a:prstGeom>
          <a:noFill/>
          <a:ln/>
        </p:spPr>
        <p:txBody>
          <a:bodyPr wrap="square" lIns="0" tIns="0" rIns="0" bIns="0" rtlCol="0" anchor="t"/>
          <a:lstStyle/>
          <a:p>
            <a:pPr marL="0" indent="0">
              <a:buNone/>
            </a:pPr>
            <a:r>
              <a:rPr lang="en-US" sz="1300" b="1" dirty="0">
                <a:solidFill>
                  <a:srgbClr val="2E75B6"/>
                </a:solidFill>
                <a:latin typeface="Calibri" pitchFamily="34" charset="0"/>
                <a:ea typeface="Calibri" pitchFamily="34" charset="-122"/>
                <a:cs typeface="Calibri" pitchFamily="34" charset="-120"/>
              </a:rPr>
              <a:t>Tier 1 (high risk)</a:t>
            </a:r>
            <a:endParaRPr lang="en-US" sz="1300" dirty="0"/>
          </a:p>
        </p:txBody>
      </p:sp>
      <p:sp>
        <p:nvSpPr>
          <p:cNvPr id="12" name="Shape 10"/>
          <p:cNvSpPr/>
          <p:nvPr/>
        </p:nvSpPr>
        <p:spPr>
          <a:xfrm>
            <a:off x="457200" y="3931920"/>
            <a:ext cx="5410048" cy="1965960"/>
          </a:xfrm>
          <a:prstGeom prst="roundRect">
            <a:avLst>
              <a:gd name="adj" fmla="val 3721"/>
            </a:avLst>
          </a:prstGeom>
          <a:solidFill>
            <a:srgbClr val="DDEBF7"/>
          </a:solidFill>
          <a:ln/>
        </p:spPr>
      </p:sp>
      <p:sp>
        <p:nvSpPr>
          <p:cNvPr id="13" name="Text 11"/>
          <p:cNvSpPr txBox="1"/>
          <p:nvPr/>
        </p:nvSpPr>
        <p:spPr>
          <a:xfrm>
            <a:off x="685800" y="4160520"/>
            <a:ext cx="4952848" cy="457200"/>
          </a:xfrm>
          <a:prstGeom prst="rect">
            <a:avLst/>
          </a:prstGeom>
          <a:noFill/>
          <a:ln/>
        </p:spPr>
        <p:txBody>
          <a:bodyPr wrap="square" lIns="0" tIns="0" rIns="0" bIns="0" rtlCol="0" anchor="t"/>
          <a:lstStyle/>
          <a:p>
            <a:pPr marL="0" indent="0">
              <a:buNone/>
            </a:pPr>
            <a:r>
              <a:rPr lang="en-US" sz="1600" b="1" dirty="0">
                <a:solidFill>
                  <a:srgbClr val="1F4E79"/>
                </a:solidFill>
                <a:latin typeface="Calibri" pitchFamily="34" charset="0"/>
                <a:ea typeface="Calibri" pitchFamily="34" charset="-122"/>
                <a:cs typeface="Calibri" pitchFamily="34" charset="-120"/>
              </a:rPr>
              <a:t>Generative AI Clinical Assistant</a:t>
            </a:r>
            <a:endParaRPr lang="en-US" sz="1600" dirty="0"/>
          </a:p>
        </p:txBody>
      </p:sp>
      <p:sp>
        <p:nvSpPr>
          <p:cNvPr id="14" name="Text 12"/>
          <p:cNvSpPr txBox="1"/>
          <p:nvPr/>
        </p:nvSpPr>
        <p:spPr>
          <a:xfrm>
            <a:off x="685800" y="4709160"/>
            <a:ext cx="4952848" cy="6400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Summarizes records and drafts clinical documentation</a:t>
            </a:r>
            <a:endParaRPr lang="en-US" sz="1300" dirty="0"/>
          </a:p>
        </p:txBody>
      </p:sp>
      <p:sp>
        <p:nvSpPr>
          <p:cNvPr id="15" name="Text 13"/>
          <p:cNvSpPr txBox="1"/>
          <p:nvPr/>
        </p:nvSpPr>
        <p:spPr>
          <a:xfrm>
            <a:off x="685800" y="5394960"/>
            <a:ext cx="4952848" cy="365760"/>
          </a:xfrm>
          <a:prstGeom prst="rect">
            <a:avLst/>
          </a:prstGeom>
          <a:noFill/>
          <a:ln/>
        </p:spPr>
        <p:txBody>
          <a:bodyPr wrap="square" lIns="0" tIns="0" rIns="0" bIns="0" rtlCol="0" anchor="t"/>
          <a:lstStyle/>
          <a:p>
            <a:pPr marL="0" indent="0">
              <a:buNone/>
            </a:pPr>
            <a:r>
              <a:rPr lang="en-US" sz="1300" b="1" dirty="0">
                <a:solidFill>
                  <a:srgbClr val="2E75B6"/>
                </a:solidFill>
                <a:latin typeface="Calibri" pitchFamily="34" charset="0"/>
                <a:ea typeface="Calibri" pitchFamily="34" charset="-122"/>
                <a:cs typeface="Calibri" pitchFamily="34" charset="-120"/>
              </a:rPr>
              <a:t>Tier 2 (moderate risk)</a:t>
            </a:r>
            <a:endParaRPr lang="en-US" sz="1300" dirty="0"/>
          </a:p>
        </p:txBody>
      </p:sp>
      <p:sp>
        <p:nvSpPr>
          <p:cNvPr id="16" name="Shape 14"/>
          <p:cNvSpPr/>
          <p:nvPr/>
        </p:nvSpPr>
        <p:spPr>
          <a:xfrm>
            <a:off x="6324448" y="3931920"/>
            <a:ext cx="5410048" cy="1965960"/>
          </a:xfrm>
          <a:prstGeom prst="roundRect">
            <a:avLst>
              <a:gd name="adj" fmla="val 3721"/>
            </a:avLst>
          </a:prstGeom>
          <a:solidFill>
            <a:srgbClr val="DDEBF7"/>
          </a:solidFill>
          <a:ln/>
        </p:spPr>
      </p:sp>
      <p:sp>
        <p:nvSpPr>
          <p:cNvPr id="17" name="Text 15"/>
          <p:cNvSpPr txBox="1"/>
          <p:nvPr/>
        </p:nvSpPr>
        <p:spPr>
          <a:xfrm>
            <a:off x="6553048" y="4160520"/>
            <a:ext cx="4952848" cy="457200"/>
          </a:xfrm>
          <a:prstGeom prst="rect">
            <a:avLst/>
          </a:prstGeom>
          <a:noFill/>
          <a:ln/>
        </p:spPr>
        <p:txBody>
          <a:bodyPr wrap="square" lIns="0" tIns="0" rIns="0" bIns="0" rtlCol="0" anchor="t"/>
          <a:lstStyle/>
          <a:p>
            <a:pPr marL="0" indent="0">
              <a:buNone/>
            </a:pPr>
            <a:r>
              <a:rPr lang="en-US" sz="1600" b="1" dirty="0">
                <a:solidFill>
                  <a:srgbClr val="1F4E79"/>
                </a:solidFill>
                <a:latin typeface="Calibri" pitchFamily="34" charset="0"/>
                <a:ea typeface="Calibri" pitchFamily="34" charset="-122"/>
                <a:cs typeface="Calibri" pitchFamily="34" charset="-120"/>
              </a:rPr>
              <a:t>AI Scheduling &amp; Resource Optimization</a:t>
            </a:r>
            <a:endParaRPr lang="en-US" sz="1600" dirty="0"/>
          </a:p>
        </p:txBody>
      </p:sp>
      <p:sp>
        <p:nvSpPr>
          <p:cNvPr id="18" name="Text 16"/>
          <p:cNvSpPr txBox="1"/>
          <p:nvPr/>
        </p:nvSpPr>
        <p:spPr>
          <a:xfrm>
            <a:off x="6553048" y="4709160"/>
            <a:ext cx="4952848" cy="6400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Forecasts demand and optimizes staffing and appointments</a:t>
            </a:r>
            <a:endParaRPr lang="en-US" sz="1300" dirty="0"/>
          </a:p>
        </p:txBody>
      </p:sp>
      <p:sp>
        <p:nvSpPr>
          <p:cNvPr id="19" name="Text 17"/>
          <p:cNvSpPr txBox="1"/>
          <p:nvPr/>
        </p:nvSpPr>
        <p:spPr>
          <a:xfrm>
            <a:off x="6553048" y="5394960"/>
            <a:ext cx="4952848" cy="365760"/>
          </a:xfrm>
          <a:prstGeom prst="rect">
            <a:avLst/>
          </a:prstGeom>
          <a:noFill/>
          <a:ln/>
        </p:spPr>
        <p:txBody>
          <a:bodyPr wrap="square" lIns="0" tIns="0" rIns="0" bIns="0" rtlCol="0" anchor="t"/>
          <a:lstStyle/>
          <a:p>
            <a:pPr marL="0" indent="0">
              <a:buNone/>
            </a:pPr>
            <a:r>
              <a:rPr lang="en-US" sz="1300" b="1" dirty="0">
                <a:solidFill>
                  <a:srgbClr val="2E75B6"/>
                </a:solidFill>
                <a:latin typeface="Calibri" pitchFamily="34" charset="0"/>
                <a:ea typeface="Calibri" pitchFamily="34" charset="-122"/>
                <a:cs typeface="Calibri" pitchFamily="34" charset="-120"/>
              </a:rPr>
              <a:t>Tier 3 (lower risk)</a:t>
            </a:r>
            <a:endParaRPr lang="en-US" sz="1300" dirty="0"/>
          </a:p>
        </p:txBody>
      </p:sp>
      <p:sp>
        <p:nvSpPr>
          <p:cNvPr id="20" name="Text 18"/>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Framework at a Glance</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How the required elements are organized in this deck</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544568"/>
        </p:xfrm>
        <a:graphic>
          <a:graphicData uri="http://schemas.openxmlformats.org/drawingml/2006/table">
            <a:tbl>
              <a:tblPr/>
              <a:tblGrid>
                <a:gridCol w="24688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gridCol w="94457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Element</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What it contains</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Slides</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Ethical foundation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Ethics statement; seven principles with commitments and owners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Governance and roles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Oversight structure, seven roles, approval and vetting rules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Implementation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12-month timeline with checkpoints; employee RAI training</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10-11</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Metrics and lifecycle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Core KPIs, added metrics, eight-stage lifecycle with disposition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12-14</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Risk guidelines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Explainability, data bias, privacy, protection, and compliance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15-17</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People and impact</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User education, long-term impacts, best practices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18-20</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9436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References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Thirteen prioritized APA sources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Ethical Principles Statement</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Carried forward from the NovaCare ethics statement (Assignment 1.3)</a:t>
            </a:r>
            <a:endParaRPr lang="en-US" sz="1250" dirty="0"/>
          </a:p>
        </p:txBody>
      </p:sp>
      <p:sp>
        <p:nvSpPr>
          <p:cNvPr id="4" name="Shape 2"/>
          <p:cNvSpPr/>
          <p:nvPr/>
        </p:nvSpPr>
        <p:spPr>
          <a:xfrm>
            <a:off x="457200" y="1508760"/>
            <a:ext cx="11277295" cy="3017520"/>
          </a:xfrm>
          <a:prstGeom prst="roundRect">
            <a:avLst>
              <a:gd name="adj" fmla="val 2424"/>
            </a:avLst>
          </a:prstGeom>
          <a:solidFill>
            <a:srgbClr val="DDEBF7"/>
          </a:solidFill>
          <a:ln/>
        </p:spPr>
      </p:sp>
      <p:sp>
        <p:nvSpPr>
          <p:cNvPr id="5" name="Text 3"/>
          <p:cNvSpPr txBox="1"/>
          <p:nvPr/>
        </p:nvSpPr>
        <p:spPr>
          <a:xfrm>
            <a:off x="822960" y="1645920"/>
            <a:ext cx="10545775" cy="274320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Cambria" pitchFamily="34" charset="0"/>
                <a:ea typeface="Cambria" pitchFamily="34" charset="-122"/>
                <a:cs typeface="Cambria" pitchFamily="34" charset="-120"/>
              </a:rPr>
              <a:t>NovaCare Health Systems will use AI only to improve patient care, safety, and access. We keep clinicians and patients in control of consequential decisions. We test AI for fairness across the patients we serve, protect patient data, and explain how AI contributes to care in plain language. Every AI system has a named owner who is accountable for its outcomes, and we can pause or shut down any system that is unsafe. Buying AI from a vendor never transfers our responsibility.</a:t>
            </a:r>
            <a:endParaRPr lang="en-US" sz="1800" dirty="0"/>
          </a:p>
        </p:txBody>
      </p:sp>
      <p:sp>
        <p:nvSpPr>
          <p:cNvPr id="6" name="Text 4"/>
          <p:cNvSpPr txBox="1"/>
          <p:nvPr/>
        </p:nvSpPr>
        <p:spPr>
          <a:xfrm>
            <a:off x="457200" y="4846320"/>
            <a:ext cx="11277295" cy="457200"/>
          </a:xfrm>
          <a:prstGeom prst="rect">
            <a:avLst/>
          </a:prstGeom>
          <a:noFill/>
          <a:ln/>
        </p:spPr>
        <p:txBody>
          <a:bodyPr wrap="square" lIns="0" tIns="0" rIns="0" bIns="0" rtlCol="0" anchor="ctr"/>
          <a:lstStyle/>
          <a:p>
            <a:pPr marL="0" indent="0">
              <a:buNone/>
            </a:pPr>
            <a:r>
              <a:rPr lang="en-US" sz="1400" i="1" dirty="0">
                <a:solidFill>
                  <a:srgbClr val="2E75B6"/>
                </a:solidFill>
                <a:latin typeface="Calibri" pitchFamily="34" charset="0"/>
                <a:ea typeface="Calibri" pitchFamily="34" charset="-122"/>
                <a:cs typeface="Calibri" pitchFamily="34" charset="-120"/>
              </a:rPr>
              <a:t>Each commitment is converted into a measurable target, an owner, and a corrective action on the next slides.</a:t>
            </a:r>
            <a:endParaRPr lang="en-US" sz="1400" dirty="0"/>
          </a:p>
        </p:txBody>
      </p:sp>
      <p:sp>
        <p:nvSpPr>
          <p:cNvPr id="7" name="Text 5"/>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Seven Principles: Commitments and Owners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Each principle has one measurable commitment and one accountable role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352544"/>
        </p:xfrm>
        <a:graphic>
          <a:graphicData uri="http://schemas.openxmlformats.org/drawingml/2006/table">
            <a:tbl>
              <a:tblPr/>
              <a:tblGrid>
                <a:gridCol w="29260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68193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Principle</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Measurable commitment</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Owner</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Patient Safety &amp; Reliability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No severe AI-related incidents; at least 95% validation pass rate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AI Safety &amp; Validation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Fairness &amp; Equity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Subgroup performance gap of 5 percentage points or less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RAI Governance &amp; Ethics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Privacy &amp; Security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Zero critical findings; 100% of findings closed on time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Data Governance &amp; Privacy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Transparency &amp; Explainability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100% of high-risk models have a current model card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Human Factors &amp; Clinical AI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Human Oversight</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Clinician override rate stays within the 5%-20% review band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Human Factors &amp; Clinical AI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Accountability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100% of AI systems have a named owner and a current review</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Chief Responsible AI Officer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Governability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Unsafe critical AI disabled within 30 minutes of a confirmed trigger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AI Security &amp; Red Team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RAI Governance Structure</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Oversight runs from the Board to each AI system owner, organized by NIST AI RMF (Govern, Map, Measure, Manage)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73168"/>
        </p:xfrm>
        <a:graphic>
          <a:graphicData uri="http://schemas.openxmlformats.org/drawingml/2006/table">
            <a:tbl>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60801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Level</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Body</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Decision rights</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Board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Board Risk / Quality Committee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Reviews RAI effectiveness, material incidents, and resources once a year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Executive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Executive RAI Steering Committee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Approves Tier 1 systems and re-approves them every 12 months; reviews portfolio risk quarterly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Chief Responsible AI Officer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Owns the framework; approves Tier 2 systems; can pause any AI system</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Control functions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Governance &amp; Ethics, Risk &amp; Compliance, Safety &amp; Validation, Data Privacy &amp; Governance, AI Security &amp; Red Team</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Independent challenge; Risk &amp; Compliance Manager approves Tier 3 systems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Advisory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Clinical / Human Factors Advisory Council</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Advises on workflow impact, usability, and patient and clinician feedback</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System</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Business or clinical owner for each AI system</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Accountable for outcomes, KPIs, and corrective actions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Key Roles and Responsibilities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Seven RAI roles, each tied to the KPI it answers for</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992624"/>
        </p:xfrm>
        <a:graphic>
          <a:graphicData uri="http://schemas.openxmlformats.org/drawingml/2006/table">
            <a:tbl>
              <a:tblPr/>
              <a:tblGrid>
                <a:gridCol w="292608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41345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Role</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Core responsibility</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KPI answered</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Chief Responsible AI Officer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Enterprise accountability, policy, executive and Board reporting</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Named owner coverage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RAI Governance &amp; Ethics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Ethics reviews, policy interpretation, stakeholder analysis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Subgroup performance gap</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AI Risk &amp; Compliance Manager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Risk assessments, HIPAA and EU AI Act tracking, vendor risk, audit readiness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Privacy and security findings closed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AI Safety &amp; Validation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Independent validation, robustness testing, drift analysis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Critical incidents; validation pass rate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Data Governance &amp; Privacy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Data lineage, consent, minimization, retention, de-identification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Privacy and security findings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AI Security &amp; Red Team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Threat modeling, adversarial testing, incident response, kill-switch tests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Time to disable unsafe AI</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58368">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Human Factors &amp; Clinical AI Lead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Workflow fit, explainability, training, clinician and patient feedback</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Model cards; override rate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Oversight Processes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Internal development and vendor purchases follow different paths under one standard</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73168"/>
        </p:xfrm>
        <a:graphic>
          <a:graphicData uri="http://schemas.openxmlformats.org/drawingml/2006/table">
            <a:tbl>
              <a:tblPr/>
              <a:tblGrid>
                <a:gridCol w="173736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Process</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Steps</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Rule</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0972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Internal vetting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Intake and owner, risk tier and impact map, data and privacy assessment, build and documentation, independent validation, RAI approval, deploy and monitor</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High-risk AI cannot self-approve; RAI review decision within 15 business days (proposed)</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972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Vendor vetting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Business need and risk class, due diligence, contract safeguards, independent NovaCare testing, approval and pilot, ongoing monitoring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Procurement does not transfer accountability to the vendor</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972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Review cadence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Weekly model monitoring, monthly owner and RAI review, quarterly Steering Committee, annual Board review</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Every KPI has an owner, a threshold, and a cadence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972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Escalation</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Measure, compare to threshold, assign action, verify closure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Critical safety, privacy, or security triggers automatically pause the system</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12-Month Implementation Timeline</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Phased rollout with an accountability checkpoint at months 3, 6, 9, and 12</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73168"/>
        </p:xfrm>
        <a:graphic>
          <a:graphicData uri="http://schemas.openxmlformats.org/drawingml/2006/table">
            <a:tbl>
              <a:tblPr/>
              <a:tblGrid>
                <a:gridCol w="21945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596335">
                  <a:extLst>
                    <a:ext uri="{9D8B030D-6E8A-4147-A177-3AD203B41FA5}">
                      <a16:colId xmlns:a16="http://schemas.microsoft.com/office/drawing/2014/main" val="20002"/>
                    </a:ext>
                  </a:extLst>
                </a:gridCol>
              </a:tblGrid>
              <a:tr h="384048">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Phase</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Key milestones</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Accountability checkpoint</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1-2: Foundation</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Executive sponsor named; RAI charter signed; 100% of AI systems inventoried and risk-tiered by day 45</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3: charter and inventory reviewed by the Steering Committee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3-4: Organization</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All seven roles filled by month 4; Steering Committee formed; RACI and escalation paths set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3: role appointments confirmed to the Board</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5-6: Controls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Internal and vendor vetting standards, impact assessments, model card templates, approval gates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6: controls approved by the CRAIO</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7-8: Pilot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Framework applied to 2-3 use cases (imaging and deterioration first); training delivered; dashboards and incident process tested</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8: pilot review of KPIs and incidents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9-10: Scale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Governance extended to all AI projects and vendors; procurement, security, privacy, and audit integrated</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9: Steering Committee gap review</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Months 11-12: Optimize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Audit of framework effectiveness; KPI trend review; annual RAI report and Year-2 roadmap</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Month 12: Board Risk / Quality Committee review</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Employee RAI Training</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Training scales with exposure to AI; completion is tracked as a KPI</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27448"/>
        </p:xfrm>
        <a:graphic>
          <a:graphicData uri="http://schemas.openxmlformats.org/drawingml/2006/table">
            <a:tbl>
              <a:tblPr/>
              <a:tblGrid>
                <a:gridCol w="21945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596335">
                  <a:extLst>
                    <a:ext uri="{9D8B030D-6E8A-4147-A177-3AD203B41FA5}">
                      <a16:colId xmlns:a16="http://schemas.microsoft.com/office/drawing/2014/main" val="20002"/>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Audience</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Training content</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Standard (proposed targets)</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All employees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RAI principles, approved AI tools, no PHI in public AI tools, how to report concerns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Onboarding within 30 days of hire; refresher every 12 months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Clinicians and AI users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How each system works, its limits, when to override, automation bias, documentation duties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Completed and acknowledged before first use; refresher within 30 days of a material system change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Builders and product owners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Bias testing, model cards, data lineage, privacy by design, approval gates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Completed before submitting a system for RAI review</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RAI role holders and leaders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Validation methods, NIST AI RMF, HIPAA and EU AI Act, incident response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At least one certified person per RAI role in year 1</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Accountability</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RAI duties written into job descriptions and annual reviews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100% training completion tracked quarterly</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Core RAI Metrics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Each KPI has a named owner, a threshold, and a predefined corrective action</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544568"/>
        </p:xfrm>
        <a:graphic>
          <a:graphicData uri="http://schemas.openxmlformats.org/drawingml/2006/table">
            <a:tbl>
              <a:tblPr/>
              <a:tblGrid>
                <a:gridCol w="21031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384048">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Principle</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KPI</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Threshold</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Corrective action</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Safety &amp; Reliability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Critical AI incidents; validation pass rate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0 severe; 95% or higher pass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Suspend or roll back; root-cause review</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Fairness &amp; Equity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Maximum subgroup performance gap</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5 percentage points or less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Bias investigation; retrain or restrict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Privacy &amp; Security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AI privacy and security findings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0 critical; 100% closed on time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Block release or remediate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Transparency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High-risk models with current model cards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Escalate missing or expired documentation</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Human Oversight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Clinician override and inappropriate automation rate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Override within 5%-20% band</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Workflow review and retraining</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Accountability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AI systems with named owner and current review</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No owner means no production use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9436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Governability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Time to disable unsafe AI after confirmed trigger</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30 minutes or less (critical)</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Test kill switch and escalation quarterly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Additional Metrics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Added to cover performance drift, explanation quality, patient communication, and training (proposed targets)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73168"/>
        </p:xfrm>
        <a:graphic>
          <a:graphicData uri="http://schemas.openxmlformats.org/drawingml/2006/table">
            <a:tbl>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60217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Area</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Metric</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Target and trigger</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Performance drift</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Accuracy against validated baseline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Within 5 points; retrain after 2 consecutive months of drift</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Explainability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Clinicians who can state why a case was flagged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90% or more within 30 seconds in testing</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Explanation quality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Explanation accuracy on audited samples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85% or higher</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Patient communication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AI-assisted patient messages labeled as AI; complaints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100% labeled; complaints 2% or less per month, else pause feature within 5 business days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Overreliance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Audit of AI-assisted work for automation bias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5% sample; review trigger if override rate exceeds 20%</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Training</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Required RAI training completed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AI Development Lifecycle and RAI Actions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Eight stages from design to disposition; no stage is skipped for Tier 1 or Tier 2 systems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919472"/>
        </p:xfrm>
        <a:graphic>
          <a:graphicData uri="http://schemas.openxmlformats.org/drawingml/2006/table">
            <a:tbl>
              <a:tblPr/>
              <a:tblGrid>
                <a:gridCol w="17373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504895">
                  <a:extLst>
                    <a:ext uri="{9D8B030D-6E8A-4147-A177-3AD203B41FA5}">
                      <a16:colId xmlns:a16="http://schemas.microsoft.com/office/drawing/2014/main" val="20002"/>
                    </a:ext>
                  </a:extLst>
                </a:gridCol>
              </a:tblGrid>
              <a:tr h="38404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RAI actions</a:t>
                      </a:r>
                      <a:endParaRPr lang="en-US" sz="14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Gate or owner</a:t>
                      </a:r>
                      <a:endParaRPr lang="en-US" sz="14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1. Design</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Define intended use, affected patients, risk tier, and human oversight design</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Use-case owner; impact map</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2. Data</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Document lineage and consent; minimize and de-identify; test representativeness</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Data Governance &amp; Privacy Lead</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3. Development</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Build model card, limitations, and acceptance criteria; threat model</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Product owner; Security Lead</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4. Validation</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Independent testing for accuracy, subgroup fairness, robustness, explainability, security</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AI Safety &amp; Validation Lead</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5. Deployment</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RAI approval by tier; controlled rollout; clinician training and rollback plan</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Steering Committee or CRAIO</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6. Monitoring</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Track drift, incidents, subgroup results, overrides, complaints; flag accuracy drops over 5 points</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Weekly and monthly reviews</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7. Sustainment</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Retrain after 2 months of drift and at least annually; re-validate and re-approve</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Safety Lead; Steering Committee</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66928">
                <a:tc>
                  <a:txBody>
                    <a:bodyPr/>
                    <a:lstStyle/>
                    <a:p>
                      <a:pPr marL="0" indent="0" algn="l">
                        <a:buNone/>
                      </a:pPr>
                      <a:r>
                        <a:rPr lang="en-US" sz="1250" b="1" dirty="0">
                          <a:solidFill>
                            <a:srgbClr val="1F4E79"/>
                          </a:solidFill>
                          <a:latin typeface="Calibri" pitchFamily="34" charset="0"/>
                          <a:ea typeface="Calibri" pitchFamily="34" charset="-122"/>
                          <a:cs typeface="Calibri" pitchFamily="34" charset="-120"/>
                        </a:rPr>
                        <a:t>8. Disposition</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Retire when criteria set at approval are met; replacement clears the same gates before the old model is switched off; archive documentation and data per policy</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CRAIO sign-off</a:t>
                      </a:r>
                      <a:endParaRPr lang="en-US" sz="12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Risk Guidelines: Transparency and Explainability</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Explanation depth scales with the risk to the patient</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407408"/>
        </p:xfrm>
        <a:graphic>
          <a:graphicData uri="http://schemas.openxmlformats.org/drawingml/2006/table">
            <a:tbl>
              <a:tblPr/>
              <a:tblGrid>
                <a:gridCol w="26517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36415">
                  <a:extLst>
                    <a:ext uri="{9D8B030D-6E8A-4147-A177-3AD203B41FA5}">
                      <a16:colId xmlns:a16="http://schemas.microsoft.com/office/drawing/2014/main" val="20002"/>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Risk level</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Required explanation</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Guideline</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00584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High (Tier 1: imaging, deterioration)</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Global: model card with purpose, data, limits, subgroup results. Local: case-level reason a patient was flagged</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Clinician must be able to state why within 30 seconds; no black-box approval without CRAIO exception</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Moderate (Tier 2: clinical assistant)</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Model card; sources shown for generated summaries; AI output clearly labeled</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Clinician reviews and signs every AI-drafted note; patient messages labeled as AI-assisted</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584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Lower (Tier 3: scheduling)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Plain-language description of what the system optimizes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Staff can see and challenge schedule changes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Monitoring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Audit explanation accuracy and override patterns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Explanation accuracy 85% or higher; review when override rate exceeds 20%</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Risk Guidelines: Data Bias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Checked at the data stage and again at validation; three bias sources follow NIST SP 1270</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27448"/>
        </p:xfrm>
        <a:graphic>
          <a:graphicData uri="http://schemas.openxmlformats.org/drawingml/2006/table">
            <a:tbl>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19295">
                  <a:extLst>
                    <a:ext uri="{9D8B030D-6E8A-4147-A177-3AD203B41FA5}">
                      <a16:colId xmlns:a16="http://schemas.microsoft.com/office/drawing/2014/main" val="20002"/>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Use case</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Main data bias risk</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Required mitigation</a:t>
                      </a:r>
                      <a:endParaRPr lang="en-US" sz="15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AI-assisted imaging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Training images skew toward certain populations, scanners, or sites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Test on local, representative data; report accuracy by subgroup</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Patient deterioration</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Historical records reflect unequal access to care; proxies such as zip code stand in for race or income</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Proxy audit; subgroup calibration review before approval</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Clinical assistant</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Language model reflects biased or outdated clinical text</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Red-team prompts across demographic groups; clinician review of outputs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Scheduling</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Patterns of missed appointments disadvantage certain groups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Check access and wait times by subgroup</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lgn="l">
                        <a:buNone/>
                      </a:pPr>
                      <a:r>
                        <a:rPr lang="en-US" sz="1350" b="1" dirty="0">
                          <a:solidFill>
                            <a:srgbClr val="1F4E79"/>
                          </a:solidFill>
                          <a:latin typeface="Calibri" pitchFamily="34" charset="0"/>
                          <a:ea typeface="Calibri" pitchFamily="34" charset="-122"/>
                          <a:cs typeface="Calibri" pitchFamily="34" charset="-120"/>
                        </a:rPr>
                        <a:t>All systems</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Systemic, statistical, and human bias (NIST SP 1270)</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2626"/>
                          </a:solidFill>
                          <a:latin typeface="Calibri" pitchFamily="34" charset="0"/>
                          <a:ea typeface="Calibri" pitchFamily="34" charset="-122"/>
                          <a:cs typeface="Calibri" pitchFamily="34" charset="-120"/>
                        </a:rPr>
                        <a:t>Fairness gate: 5-point maximum subgroup gap; failing systems are retrained or restricted</a:t>
                      </a:r>
                      <a:endParaRPr lang="en-US" sz="13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Risk Guidelines: Privacy, Data Protection, and Compliance</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HIPAA applies to all PHI; the EU AI Act applies where NovaCare serves or sells into the EU</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727448"/>
        </p:xfrm>
        <a:graphic>
          <a:graphicData uri="http://schemas.openxmlformats.org/drawingml/2006/table">
            <a:tbl>
              <a:tblPr/>
              <a:tblGrid>
                <a:gridCol w="210312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384048">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Area</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Requirement</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Control</a:t>
                      </a:r>
                      <a:endParaRPr lang="en-US" sz="14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Data minimization</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Use the minimum PHI needed; de-identify with HIPAA Safe Harbor (18 identifiers)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Privacy impact assessment before data use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Protection</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Encrypt PHI at rest with AES-256; restrict access by role</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Quarterly penetration tests; PHI redacted from AI logs within 24 hours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Vendors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Business associate agreements; SOC 2 Type II report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Audit rights and incident notice in every contract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Retention and breach</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Compliance documents kept 6 years; medical records per state law; breach notice within 60 days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Incident response plan tested annually</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lgn="l">
                        <a:buNone/>
                      </a:pPr>
                      <a:r>
                        <a:rPr lang="en-US" sz="1300" b="1" dirty="0">
                          <a:solidFill>
                            <a:srgbClr val="1F4E79"/>
                          </a:solidFill>
                          <a:latin typeface="Calibri" pitchFamily="34" charset="0"/>
                          <a:ea typeface="Calibri" pitchFamily="34" charset="-122"/>
                          <a:cs typeface="Calibri" pitchFamily="34" charset="-120"/>
                        </a:rPr>
                        <a:t>EU AI Act</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High-risk systems need risk management, data governance, human oversight, and logging; fines up to EUR 15M or 3% of global turnover</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2626"/>
                          </a:solidFill>
                          <a:latin typeface="Calibri" pitchFamily="34" charset="0"/>
                          <a:ea typeface="Calibri" pitchFamily="34" charset="-122"/>
                          <a:cs typeface="Calibri" pitchFamily="34" charset="-120"/>
                        </a:rPr>
                        <a:t>Risk &amp; Compliance Manager tracks regulation and audit readiness</a:t>
                      </a:r>
                      <a:endParaRPr lang="en-US" sz="13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User Monitoring, Training, and Education</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Clinicians and patients are supported before use and monitored during use</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407408"/>
        </p:xfrm>
        <a:graphic>
          <a:graphicData uri="http://schemas.openxmlformats.org/drawingml/2006/table">
            <a:tbl>
              <a:tblPr/>
              <a:tblGrid>
                <a:gridCol w="1828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User group</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Training and education</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Monitoring</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Clinicians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Onboarding on each system's limits and override process; signed acknowledgment before first use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Override rates, 5% automation-bias audit, misuse reports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All staff</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No PHI in public AI tools; how to report concerns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Access logs; incident reports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Patients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Notice when AI is used in their care or messages; portal explainer in the top 3 languages (proposed)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Complaints at 2% or less of AI-drafted messages per month</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Feedback loop</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Clinician and patient feedback channel reviewed by the Advisory Council</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Monthly review; findings feed retraining and policy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Long-Term Impacts on Employees and Customers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Reviewed annually and reported to the Board</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407408"/>
        </p:xfrm>
        <a:graphic>
          <a:graphicData uri="http://schemas.openxmlformats.org/drawingml/2006/table">
            <a:tbl>
              <a:tblPr/>
              <a:tblGrid>
                <a:gridCol w="21031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5425135">
                  <a:extLst>
                    <a:ext uri="{9D8B030D-6E8A-4147-A177-3AD203B41FA5}">
                      <a16:colId xmlns:a16="http://schemas.microsoft.com/office/drawing/2014/main" val="20002"/>
                    </a:ext>
                  </a:extLst>
                </a:gridCol>
              </a:tblGrid>
              <a:tr h="38404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Group</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Impact to evaluate</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Commitment and measure</a:t>
                      </a:r>
                      <a:endParaRPr lang="en-US" sz="15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Employees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Job change, deskilling, and overreliance on AI</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No AI-driven layoffs without RAI review; redeployment and upskilling offered; engagement tracked against baseline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Patients (customers)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Trust, access, and unequal outcomes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Satisfaction gap across groups of 3 points or less (proposed); complaints reviewed monthly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Patient relationships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Loss of human contact in sensitive communication</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Human-required communication types defined; empowerment and authenticity checks on AI messages</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lgn="l">
                        <a:buNone/>
                      </a:pPr>
                      <a:r>
                        <a:rPr lang="en-US" sz="1400" b="1" dirty="0">
                          <a:solidFill>
                            <a:srgbClr val="1F4E79"/>
                          </a:solidFill>
                          <a:latin typeface="Calibri" pitchFamily="34" charset="0"/>
                          <a:ea typeface="Calibri" pitchFamily="34" charset="-122"/>
                          <a:cs typeface="Calibri" pitchFamily="34" charset="-120"/>
                        </a:rPr>
                        <a:t>Society</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Public trust and dependency on AI in care</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2626"/>
                          </a:solidFill>
                          <a:latin typeface="Calibri" pitchFamily="34" charset="0"/>
                          <a:ea typeface="Calibri" pitchFamily="34" charset="-122"/>
                          <a:cs typeface="Calibri" pitchFamily="34" charset="-120"/>
                        </a:rPr>
                        <a:t>Annual transparency report; continuity and transition plan when a system is retired</a:t>
                      </a:r>
                      <a:endParaRPr lang="en-US" sz="14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Other Best Practices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Additional practices drawn from course readings and cases</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498848"/>
        </p:xfrm>
        <a:graphic>
          <a:graphicData uri="http://schemas.openxmlformats.org/drawingml/2006/table">
            <a:tbl>
              <a:tblPr/>
              <a:tblGrid>
                <a:gridCol w="3931920">
                  <a:extLst>
                    <a:ext uri="{9D8B030D-6E8A-4147-A177-3AD203B41FA5}">
                      <a16:colId xmlns:a16="http://schemas.microsoft.com/office/drawing/2014/main" val="20000"/>
                    </a:ext>
                  </a:extLst>
                </a:gridCol>
                <a:gridCol w="7345375">
                  <a:extLst>
                    <a:ext uri="{9D8B030D-6E8A-4147-A177-3AD203B41FA5}">
                      <a16:colId xmlns:a16="http://schemas.microsoft.com/office/drawing/2014/main" val="20001"/>
                    </a:ext>
                  </a:extLst>
                </a:gridCol>
              </a:tblGrid>
              <a:tr h="384048">
                <a:tc>
                  <a:txBody>
                    <a:bodyPr/>
                    <a:lstStyle/>
                    <a:p>
                      <a:pPr marL="0" indent="0" algn="l">
                        <a:buNone/>
                      </a:pPr>
                      <a:r>
                        <a:rPr lang="en-US" sz="1650" b="1" dirty="0">
                          <a:solidFill>
                            <a:srgbClr val="FFFFFF"/>
                          </a:solidFill>
                          <a:latin typeface="Calibri" pitchFamily="34" charset="0"/>
                          <a:ea typeface="Calibri" pitchFamily="34" charset="-122"/>
                          <a:cs typeface="Calibri" pitchFamily="34" charset="-120"/>
                        </a:rPr>
                        <a:t>Practice</a:t>
                      </a:r>
                      <a:endParaRPr lang="en-US" sz="16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650" b="1" dirty="0">
                          <a:solidFill>
                            <a:srgbClr val="FFFFFF"/>
                          </a:solidFill>
                          <a:latin typeface="Calibri" pitchFamily="34" charset="0"/>
                          <a:ea typeface="Calibri" pitchFamily="34" charset="-122"/>
                          <a:cs typeface="Calibri" pitchFamily="34" charset="-120"/>
                        </a:rPr>
                        <a:t>How NovaCare applies it</a:t>
                      </a:r>
                      <a:endParaRPr lang="en-US" sz="16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Treat benchmarks as evidence, not proof</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Test on local NovaCare data before trusting vendor or published performance claims</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Keep humans in sensitive communication</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Define message types that always need a human author or reviewer</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Guard against overreliance</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Audit 5% of AI-assisted work; train clinicians to challenge AI output</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Keep an auditable data provenance record</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Ledger of data sources, consent, and changes for every high-risk model</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Choose fairness over a vanity metric</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Block release when overall accuracy rises but a subgroup gap exceeds 5 points</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marL="0" indent="0" algn="l">
                        <a:buNone/>
                      </a:pPr>
                      <a:r>
                        <a:rPr lang="en-US" sz="1500" b="1" dirty="0">
                          <a:solidFill>
                            <a:srgbClr val="1F4E79"/>
                          </a:solidFill>
                          <a:latin typeface="Calibri" pitchFamily="34" charset="0"/>
                          <a:ea typeface="Calibri" pitchFamily="34" charset="-122"/>
                          <a:cs typeface="Calibri" pitchFamily="34" charset="-120"/>
                        </a:rPr>
                        <a:t>Plan for dependency and exit</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500" dirty="0">
                          <a:solidFill>
                            <a:srgbClr val="262626"/>
                          </a:solidFill>
                          <a:latin typeface="Calibri" pitchFamily="34" charset="0"/>
                          <a:ea typeface="Calibri" pitchFamily="34" charset="-122"/>
                          <a:cs typeface="Calibri" pitchFamily="34" charset="-120"/>
                        </a:rPr>
                        <a:t>Continuity commitment and exit terms before any system is switched off or replaced</a:t>
                      </a:r>
                      <a:endParaRPr lang="en-US" sz="15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References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Prioritized: governance and regulation first, then bias and ethics, then practice and risk</a:t>
            </a:r>
            <a:endParaRPr lang="en-US" sz="1250" dirty="0"/>
          </a:p>
        </p:txBody>
      </p:sp>
      <p:sp>
        <p:nvSpPr>
          <p:cNvPr id="4" name="Text 2"/>
          <p:cNvSpPr txBox="1"/>
          <p:nvPr/>
        </p:nvSpPr>
        <p:spPr>
          <a:xfrm>
            <a:off x="457200" y="1280160"/>
            <a:ext cx="11277295" cy="5120640"/>
          </a:xfrm>
          <a:prstGeom prst="rect">
            <a:avLst/>
          </a:prstGeom>
          <a:noFill/>
          <a:ln/>
        </p:spPr>
        <p:txBody>
          <a:bodyPr wrap="square" lIns="0" tIns="0" rIns="0" bIns="0" rtlCol="0" anchor="t"/>
          <a:lstStyle/>
          <a:p>
            <a:pPr marL="0" indent="0">
              <a:spcBef>
                <a:spcPts val="500"/>
              </a:spcBef>
              <a:buNone/>
            </a:pPr>
            <a:r>
              <a:rPr lang="en-US" sz="1350" b="1" dirty="0">
                <a:solidFill>
                  <a:srgbClr val="1F4E79"/>
                </a:solidFill>
                <a:latin typeface="Calibri" pitchFamily="34" charset="0"/>
                <a:ea typeface="Calibri" pitchFamily="34" charset="-122"/>
                <a:cs typeface="Calibri" pitchFamily="34" charset="-120"/>
              </a:rPr>
              <a:t>Priority 1: Governance and regulation</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National Institute of Standards and Technology. (2023). Artificial intelligence risk management framework (AI RMF 1.0) (NIST AI 100-1). U.S. Department of Commerce. https://doi.org/10.6028/NIST.AI.100-1</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European Parliament &amp; Council of the European Union. (2024). Regulation (EU) 2024/1689 laying down harmonised rules on artificial intelligence (Artificial Intelligence Act). https://eur-lex.europa.eu/eli/reg/2024/1689/oj</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Blackman, R. (2022). Ethical machines: Your concise guide to totally unbiased, transparent, and respectful AI. Harvard Business Review Press.</a:t>
            </a:r>
            <a:endParaRPr lang="en-US" sz="1350" dirty="0"/>
          </a:p>
          <a:p>
            <a:pPr marL="0" indent="0">
              <a:spcBef>
                <a:spcPts val="500"/>
              </a:spcBef>
              <a:buNone/>
            </a:pPr>
            <a:r>
              <a:rPr lang="en-US" sz="1350" b="1" dirty="0">
                <a:solidFill>
                  <a:srgbClr val="1F4E79"/>
                </a:solidFill>
                <a:latin typeface="Calibri" pitchFamily="34" charset="0"/>
                <a:ea typeface="Calibri" pitchFamily="34" charset="-122"/>
                <a:cs typeface="Calibri" pitchFamily="34" charset="-120"/>
              </a:rPr>
              <a:t>Priority 2: Bias, ethics, and evidence</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Schwartz, R., Vassilev, A., Greene, K., Perine, L., Burt, A., &amp; Hall, P. (2022). Towards a standard for identifying and managing bias in artificial intelligence (NIST Special Publication 1270). https://doi.org/10.6028/NIST.SP.1270</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Stanford Institute for Human-Centered AI. (2025). The AI Index 2025 annual report. Stanford University.</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Vallor, S. (n.d.). An introduction to data ethics. Markkula Center for Applied Ethics, Santa Clara University.</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Zhang, K., Khosravi, B., Vahdati, S., &amp; Erickson, B. J. (2024). FDA review of radiologic AI algorithms: Process and challenges. Radiology, 310(1). https://doi.org/10.1148/radiol.230242</a:t>
            </a:r>
            <a:endParaRPr lang="en-US" sz="1350" dirty="0"/>
          </a:p>
          <a:p>
            <a:pPr marL="0" indent="0">
              <a:spcBef>
                <a:spcPts val="500"/>
              </a:spcBef>
              <a:buNone/>
            </a:pPr>
            <a:r>
              <a:rPr lang="en-US" sz="1350" b="1" dirty="0">
                <a:solidFill>
                  <a:srgbClr val="1F4E79"/>
                </a:solidFill>
                <a:latin typeface="Calibri" pitchFamily="34" charset="0"/>
                <a:ea typeface="Calibri" pitchFamily="34" charset="-122"/>
                <a:cs typeface="Calibri" pitchFamily="34" charset="-120"/>
              </a:rPr>
              <a:t>Priority 3: Practice, workforce, and risk cases</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Sharkey, A., &amp; Sharkey, N. (2012). Granny and the robots: Ethical issues in robot care for the elderly. Ethics and Information Technology, 14(1), 27-40. https://doi.org/10.1007/s10676-010-9234-6</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De Freitas, J., Oguz-Uguralp, Z., Uguralp, A. K., &amp; Puntoni, S. (2026). AI companions reduce loneliness. Journal of Consumer Research, 52(6), 1126-1148. https://doi.org/10.1093/jcr/ucaf040</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Dell'Acqua, F., McFowland, E., Mollick, E. R., et al. (2023). Navigating the jagged technological frontier: Field experimental evidence of the effects of AI on knowledge worker productivity and quality (Working Paper No. 24-013). Harvard Business School.</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Gartner. (2025, March 25). Gartner says CFOs should reset expectations about AI's impact on workforce productivity and headcount [Press release].</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OpenAI. (2025). Model spec.</a:t>
            </a:r>
            <a:endParaRPr lang="en-US" sz="1350" dirty="0"/>
          </a:p>
          <a:p>
            <a:pPr marL="0" indent="0">
              <a:spcAft>
                <a:spcPts val="300"/>
              </a:spcAft>
              <a:buNone/>
            </a:pPr>
            <a:r>
              <a:rPr lang="en-US" sz="1200" dirty="0">
                <a:solidFill>
                  <a:srgbClr val="262626"/>
                </a:solidFill>
                <a:latin typeface="Calibri" pitchFamily="34" charset="0"/>
                <a:ea typeface="Calibri" pitchFamily="34" charset="-122"/>
                <a:cs typeface="Calibri" pitchFamily="34" charset="-120"/>
              </a:rPr>
              <a:t>Furze, L. (2023). Digital plastic.</a:t>
            </a:r>
            <a:endParaRPr lang="en-US" sz="1350" dirty="0"/>
          </a:p>
        </p:txBody>
      </p:sp>
      <p:sp>
        <p:nvSpPr>
          <p:cNvPr id="5" name="Text 3"/>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1000" i="1" dirty="0">
                <a:solidFill>
                  <a:srgbClr val="8FA9C4"/>
                </a:solidFill>
                <a:latin typeface="Calibri" pitchFamily="34" charset="0"/>
                <a:ea typeface="Calibri" pitchFamily="34" charset="-122"/>
                <a:cs typeface="Calibri" pitchFamily="34" charset="-120"/>
              </a:rPr>
              <a:t>NovaCare Health Systems is a fictional organization created for this course case study.</a:t>
            </a:r>
            <a:endParaRPr lang="en-US" sz="1000" dirty="0"/>
          </a:p>
        </p:txBody>
      </p:sp>
      <p:sp>
        <p:nvSpPr>
          <p:cNvPr id="6" name="Text 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3275</Words>
  <Application>Microsoft Office PowerPoint</Application>
  <PresentationFormat>Widescreen</PresentationFormat>
  <Paragraphs>449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 K</cp:lastModifiedBy>
  <cp:revision>2</cp:revision>
  <dcterms:created xsi:type="dcterms:W3CDTF">2026-10-11T17:53:38Z</dcterms:created>
  <dcterms:modified xsi:type="dcterms:W3CDTF">2026-10-14T22:09:44Z</dcterms:modified>
</cp:coreProperties>
</file>