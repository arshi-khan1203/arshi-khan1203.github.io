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06240" y="1143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2D4B"/>
                </a:solidFill>
              </a:defRPr>
            </a:pPr>
            <a:r>
              <a:t>Responsible AI (RAI)</a:t>
            </a:r>
            <a:br/>
            <a:r>
              <a:t>Framework Project Introduction</a:t>
            </a:r>
          </a:p>
          <a:p>
            <a:pPr>
              <a:defRPr sz="2500">
                <a:solidFill>
                  <a:srgbClr val="1E7E8B"/>
                </a:solidFill>
              </a:defRPr>
            </a:pPr>
            <a:r>
              <a:t>NovaCare Health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60" y="4023360"/>
            <a:ext cx="5576527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rPr lang="en-US" dirty="0"/>
              <a:t>Course: Responsible Appl of AI (AIML-510-01R4A)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rPr lang="en-US" dirty="0"/>
              <a:t>Assignment: </a:t>
            </a:r>
            <a:r>
              <a:rPr lang="en-IN" sz="1500" dirty="0"/>
              <a:t>1.4 Responsible AI (RAI) Framework Project Introduction</a:t>
            </a:r>
            <a:endParaRPr lang="en-US" dirty="0"/>
          </a:p>
          <a:p>
            <a:pPr>
              <a:defRPr sz="1500">
                <a:solidFill>
                  <a:srgbClr val="222222"/>
                </a:solidFill>
              </a:defRPr>
            </a:pPr>
            <a:r>
              <a:rPr lang="en-US" dirty="0"/>
              <a:t>Date: August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FC56-0DE6-9A7B-2BF0-95E59420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0363F0-E11F-5A74-49C3-2F0014CB8AF5}"/>
              </a:ext>
            </a:extLst>
          </p:cNvPr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0761A2-F79C-CF9A-2C21-727AD0DCE717}"/>
              </a:ext>
            </a:extLst>
          </p:cNvPr>
          <p:cNvGraphicFramePr>
            <a:graphicFrameLocks noGrp="1"/>
          </p:cNvGraphicFramePr>
          <p:nvPr/>
        </p:nvGraphicFramePr>
        <p:xfrm>
          <a:off x="530942" y="358562"/>
          <a:ext cx="11130115" cy="614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163">
                  <a:extLst>
                    <a:ext uri="{9D8B030D-6E8A-4147-A177-3AD203B41FA5}">
                      <a16:colId xmlns:a16="http://schemas.microsoft.com/office/drawing/2014/main" val="842754386"/>
                    </a:ext>
                  </a:extLst>
                </a:gridCol>
                <a:gridCol w="3691976">
                  <a:extLst>
                    <a:ext uri="{9D8B030D-6E8A-4147-A177-3AD203B41FA5}">
                      <a16:colId xmlns:a16="http://schemas.microsoft.com/office/drawing/2014/main" val="1248251838"/>
                    </a:ext>
                  </a:extLst>
                </a:gridCol>
                <a:gridCol w="3691976">
                  <a:extLst>
                    <a:ext uri="{9D8B030D-6E8A-4147-A177-3AD203B41FA5}">
                      <a16:colId xmlns:a16="http://schemas.microsoft.com/office/drawing/2014/main" val="2313181722"/>
                    </a:ext>
                  </a:extLst>
                </a:gridCol>
              </a:tblGrid>
              <a:tr h="412632"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723725"/>
                  </a:ext>
                </a:extLst>
              </a:tr>
              <a:tr h="688581">
                <a:tc>
                  <a:txBody>
                    <a:bodyPr/>
                    <a:lstStyle/>
                    <a:p>
                      <a:r>
                        <a:rPr lang="en-IN" sz="1200" dirty="0"/>
                        <a:t>Vaibhavi Chirra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2926738 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Researched and developed the fictional company’s background, including its industry, size, operations, and need for a Responsible AI program.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06690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Syeda Anees Fatima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2920992 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Identified and explained the company’s proposed AI use cases, including their business benefits and potential ethical risks.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05064"/>
                  </a:ext>
                </a:extLst>
              </a:tr>
              <a:tr h="41263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Arshi Khan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2926773 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Researched the AI ethical principles adopted by five major companies and gathered reliable sources for comparison.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243235"/>
                  </a:ext>
                </a:extLst>
              </a:tr>
              <a:tr h="41263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Bhuvaneshwari Bibi Reddy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2935275 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Created the comparison chart showing the common and unique AI ethical principles followed by the five companies.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132819"/>
                  </a:ext>
                </a:extLst>
              </a:tr>
              <a:tr h="41263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Sugyeong Hong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2921747 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Developed the recommended ethical principles for the fictional company and explained why common principles were included or excluded.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433708"/>
                  </a:ext>
                </a:extLst>
              </a:tr>
              <a:tr h="41263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Tisungane Namacha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2921572 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Drafted the company’s AI ethics statement using guidance and best practices from Chapter 5 of </a:t>
                      </a:r>
                      <a:r>
                        <a:rPr lang="en-US" sz="1200" i="1" dirty="0"/>
                        <a:t>Ethical Machines</a:t>
                      </a:r>
                      <a:r>
                        <a:rPr lang="en-US" sz="1200" dirty="0"/>
                        <a:t>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853926"/>
                  </a:ext>
                </a:extLst>
              </a:tr>
              <a:tr h="41263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Laxmi Lahari Naidu Bugata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2930252 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Reviewed the DoD Responsible AI Strategy and identified suitable methods and metrics for measuring AI ethics performance.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13093"/>
                  </a:ext>
                </a:extLst>
              </a:tr>
              <a:tr h="412632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Akhila 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Chittimella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2925412 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Prepared the conclusion, summarized the difficulties and questions raised by the workshop, and reviewed the entire presentation for formatting, consistency, citations, and accuracy.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700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800"/>
                        </a:spcAft>
                        <a:buNone/>
                      </a:pP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68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41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Framework Context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970"/>
                </a:solidFill>
              </a:defRPr>
            </a:pPr>
            <a:r>
              <a:t>Continuing the NovaCare healthcare case study from Workshop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NovaCare is a large U.S. healthcare network using AI for medical imaging, patient-risk prediction, clinical documentation, and operational optimization.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RAI principles established in Workshop 1.3: patient safety &amp; reliability, fairness &amp; equity, privacy &amp; security, transparency &amp; explainability, human oversight, accountability, and governability.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Framework objective: convert those principles into accountable roles, repeatable controls, measurable KPIs, and lifecycle governance.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NIST AI RMF structure used as the operating backbone: GOVERN, MAP, MEASURE, and MANAGE.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Risk-based approach: higher-impact clinical AI receives stronger review, validation, monitoring, and executive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Top Seven RAI Roles – Leadership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987552"/>
          </a:xfrm>
          <a:prstGeom prst="roundRect">
            <a:avLst/>
          </a:prstGeom>
          <a:solidFill>
            <a:srgbClr val="F2F6F8"/>
          </a:solidFill>
          <a:ln>
            <a:solidFill>
              <a:srgbClr val="1E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16152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D4B"/>
                </a:solidFill>
              </a:defRPr>
            </a:pPr>
            <a:r>
              <a:t>1. Chief Responsible AI Officer</a:t>
            </a:r>
          </a:p>
          <a:p>
            <a:pPr>
              <a:defRPr sz="1300">
                <a:solidFill>
                  <a:srgbClr val="262A2E"/>
                </a:solidFill>
              </a:defRPr>
            </a:pPr>
            <a:r>
              <a:t>Enterprise accountability; AI governance, policy, executive communication, risk management, healthcare regulation.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0972800" cy="987552"/>
          </a:xfrm>
          <a:prstGeom prst="roundRect">
            <a:avLst/>
          </a:prstGeom>
          <a:solidFill>
            <a:srgbClr val="F2F6F8"/>
          </a:solidFill>
          <a:ln>
            <a:solidFill>
              <a:srgbClr val="1E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50591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D4B"/>
                </a:solidFill>
              </a:defRPr>
            </a:pPr>
            <a:r>
              <a:t>2. RAI Governance &amp; Ethics Lead</a:t>
            </a:r>
          </a:p>
          <a:p>
            <a:pPr>
              <a:defRPr sz="1300">
                <a:solidFill>
                  <a:srgbClr val="262A2E"/>
                </a:solidFill>
              </a:defRPr>
            </a:pPr>
            <a:r>
              <a:t>Ethics reviews, policy interpretation, stakeholder analysis, facilitation, documentation, conflict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66160"/>
            <a:ext cx="10972800" cy="987552"/>
          </a:xfrm>
          <a:prstGeom prst="roundRect">
            <a:avLst/>
          </a:prstGeom>
          <a:solidFill>
            <a:srgbClr val="F2F6F8"/>
          </a:solidFill>
          <a:ln>
            <a:solidFill>
              <a:srgbClr val="1E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85032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D4B"/>
                </a:solidFill>
              </a:defRPr>
            </a:pPr>
            <a:r>
              <a:t>3. AI Risk &amp; Compliance Manager</a:t>
            </a:r>
          </a:p>
          <a:p>
            <a:pPr>
              <a:defRPr sz="1300">
                <a:solidFill>
                  <a:srgbClr val="262A2E"/>
                </a:solidFill>
              </a:defRPr>
            </a:pPr>
            <a:r>
              <a:t>NIST AI RMF, HIPAA/privacy awareness, risk assessments, audit readiness, vendor risk, regulatory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800600"/>
            <a:ext cx="10972800" cy="987552"/>
          </a:xfrm>
          <a:prstGeom prst="roundRect">
            <a:avLst/>
          </a:prstGeom>
          <a:solidFill>
            <a:srgbClr val="F2F6F8"/>
          </a:solidFill>
          <a:ln>
            <a:solidFill>
              <a:srgbClr val="1E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D4B"/>
                </a:solidFill>
              </a:defRPr>
            </a:pPr>
            <a:r>
              <a:t>4. AI Safety &amp; Validation Lead</a:t>
            </a:r>
          </a:p>
          <a:p>
            <a:pPr>
              <a:defRPr sz="1300">
                <a:solidFill>
                  <a:srgbClr val="262A2E"/>
                </a:solidFill>
              </a:defRPr>
            </a:pPr>
            <a:r>
              <a:t>Model validation, clinical safety, testing design, robustness, drift analysis, failure-mode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Top Seven RAI Roles – Technical and Stakeholder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789920" cy="1188720"/>
          </a:xfrm>
          <a:prstGeom prst="roundRect">
            <a:avLst/>
          </a:prstGeom>
          <a:solidFill>
            <a:srgbClr val="F2F6F8"/>
          </a:solidFill>
          <a:ln>
            <a:solidFill>
              <a:srgbClr val="46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80744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D4B"/>
                </a:solidFill>
              </a:defRPr>
            </a:pPr>
            <a:r>
              <a:t>5. Data Governance &amp; Privacy Lead</a:t>
            </a:r>
          </a:p>
          <a:p>
            <a:pPr>
              <a:defRPr sz="1400">
                <a:solidFill>
                  <a:srgbClr val="262A2E"/>
                </a:solidFill>
              </a:defRPr>
            </a:pPr>
            <a:r>
              <a:t>Data lineage, consent, minimization, access control, quality, retention, de-identification, privacy impact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0789920" cy="1188720"/>
          </a:xfrm>
          <a:prstGeom prst="roundRect">
            <a:avLst/>
          </a:prstGeom>
          <a:solidFill>
            <a:srgbClr val="F2F6F8"/>
          </a:solidFill>
          <a:ln>
            <a:solidFill>
              <a:srgbClr val="46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9504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D4B"/>
                </a:solidFill>
              </a:defRPr>
            </a:pPr>
            <a:r>
              <a:t>6. AI Security &amp; Red Team Lead</a:t>
            </a:r>
          </a:p>
          <a:p>
            <a:pPr>
              <a:defRPr sz="1400">
                <a:solidFill>
                  <a:srgbClr val="262A2E"/>
                </a:solidFill>
              </a:defRPr>
            </a:pPr>
            <a:r>
              <a:t>Threat modeling, adversarial testing, secure ML, access security, incident response, third-party AI security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51960"/>
            <a:ext cx="10789920" cy="1188720"/>
          </a:xfrm>
          <a:prstGeom prst="roundRect">
            <a:avLst/>
          </a:prstGeom>
          <a:solidFill>
            <a:srgbClr val="F2F6F8"/>
          </a:solidFill>
          <a:ln>
            <a:solidFill>
              <a:srgbClr val="46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D4B"/>
                </a:solidFill>
              </a:defRPr>
            </a:pPr>
            <a:r>
              <a:t>7. Human Factors &amp; Clinical AI Lead</a:t>
            </a:r>
          </a:p>
          <a:p>
            <a:pPr>
              <a:defRPr sz="1400">
                <a:solidFill>
                  <a:srgbClr val="262A2E"/>
                </a:solidFill>
              </a:defRPr>
            </a:pPr>
            <a:r>
              <a:t>Clinical workflow, usability, explainability needs, human oversight, training, patient/clinician feedback, change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A2E"/>
                </a:solidFill>
              </a:defRPr>
            </a:pPr>
            <a:r>
              <a:t>Cross-functional support: legal counsel, procurement, internal audit, cybersecurity operations, data science, clinical leadership, and patient representatives.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Responsible AI Organization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05840"/>
            <a:ext cx="3383280" cy="68580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62272" y="1115568"/>
            <a:ext cx="32369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Board Risk / Quality Committee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68580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62272" y="2121408"/>
            <a:ext cx="32369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Executive RAI Steering Committee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017520"/>
            <a:ext cx="3383280" cy="68580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3127248"/>
            <a:ext cx="32369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Chief Responsible AI Officer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51960"/>
            <a:ext cx="1874519" cy="822960"/>
          </a:xfrm>
          <a:prstGeom prst="roundRect">
            <a:avLst/>
          </a:prstGeom>
          <a:solidFill>
            <a:srgbClr val="46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4361688"/>
            <a:ext cx="17282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RAI Ethics &amp;</a:t>
            </a:r>
            <a:br/>
            <a:r>
              <a:t>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251960"/>
            <a:ext cx="1874519" cy="822960"/>
          </a:xfrm>
          <a:prstGeom prst="roundRect">
            <a:avLst/>
          </a:prstGeom>
          <a:solidFill>
            <a:srgbClr val="46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0632" y="4361688"/>
            <a:ext cx="17282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Risk &amp;</a:t>
            </a:r>
            <a:br/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251960"/>
            <a:ext cx="1874519" cy="822960"/>
          </a:xfrm>
          <a:prstGeom prst="roundRect">
            <a:avLst/>
          </a:prstGeom>
          <a:solidFill>
            <a:srgbClr val="46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4361688"/>
            <a:ext cx="17282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Safety &amp;</a:t>
            </a:r>
            <a:br/>
            <a:r>
              <a:t>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4251960"/>
            <a:ext cx="1874519" cy="822960"/>
          </a:xfrm>
          <a:prstGeom prst="roundRect">
            <a:avLst/>
          </a:prstGeom>
          <a:solidFill>
            <a:srgbClr val="46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4361688"/>
            <a:ext cx="17282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Privacy &amp;</a:t>
            </a:r>
            <a:br/>
            <a:r>
              <a:t>Governance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251960"/>
            <a:ext cx="1874519" cy="822960"/>
          </a:xfrm>
          <a:prstGeom prst="roundRect">
            <a:avLst/>
          </a:prstGeom>
          <a:solidFill>
            <a:srgbClr val="46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4361688"/>
            <a:ext cx="17282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Security &amp;</a:t>
            </a:r>
            <a:br/>
            <a:r>
              <a:t>Red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71900" y="5321808"/>
            <a:ext cx="4617720" cy="640080"/>
          </a:xfrm>
          <a:prstGeom prst="roundRect">
            <a:avLst/>
          </a:prstGeom>
          <a:solidFill>
            <a:srgbClr val="4A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4760" y="5504689"/>
            <a:ext cx="4471416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Clinical / Human Factors Advisory Council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62A2E"/>
                </a:solidFill>
              </a:defRPr>
            </a:pPr>
            <a:r>
              <a:rPr dirty="0"/>
              <a:t>Accountable: Executive RAI Steering Committee and business/clinical owner for each AI system.</a:t>
            </a:r>
          </a:p>
          <a:p>
            <a:pPr>
              <a:spcAft>
                <a:spcPts val="700"/>
              </a:spcAft>
              <a:defRPr sz="1100">
                <a:solidFill>
                  <a:srgbClr val="262A2E"/>
                </a:solidFill>
              </a:defRPr>
            </a:pPr>
            <a:r>
              <a:rPr dirty="0"/>
              <a:t>Responsible: product/model owner plus assigned RAI control leads.</a:t>
            </a:r>
          </a:p>
          <a:p>
            <a:pPr>
              <a:spcAft>
                <a:spcPts val="700"/>
              </a:spcAft>
              <a:defRPr sz="1100">
                <a:solidFill>
                  <a:srgbClr val="262A2E"/>
                </a:solidFill>
              </a:defRPr>
            </a:pPr>
            <a:r>
              <a:rPr dirty="0"/>
              <a:t>Independent challenge: validation, compliance, security, privacy, and internal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RAI Vetting Process – Internally Developed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417320" cy="91440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Intake &amp;</a:t>
            </a:r>
            <a:br/>
            <a:r>
              <a:t>Use-Case 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9968" y="1234440"/>
            <a:ext cx="1417320" cy="91440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84832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Risk Tier &amp;</a:t>
            </a:r>
            <a:br/>
            <a:r>
              <a:t>Impact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176" y="1234440"/>
            <a:ext cx="1417320" cy="91440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Data &amp; Privacy</a:t>
            </a:r>
            <a:br/>
            <a:r>
              <a:t>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4" y="1234440"/>
            <a:ext cx="1417320" cy="91440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3248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Build +</a:t>
            </a:r>
            <a:br/>
            <a:r>
              <a:t>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1234440"/>
            <a:ext cx="1417320" cy="91440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77456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Independent</a:t>
            </a:r>
            <a:br/>
            <a:r>
              <a:t>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234440"/>
            <a:ext cx="1417320" cy="91440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41664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RAI 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51008" y="1234440"/>
            <a:ext cx="1417320" cy="91440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05872" y="1417320"/>
            <a:ext cx="13075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Deploy +</a:t>
            </a:r>
            <a:br/>
            <a: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6032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Required evidence: intended purpose, affected populations, data lineage, model card, limitations, acceptance criteria, human-oversight design, security controls, and rollback plan.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Validation gates: performance and robustness, subgroup fairness, privacy/security, explainability/usability, clinical safety, and regulatory/compliance review.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High-risk clinical AI cannot self-approve; it requires independent validation plus RAI Steering Committee authorization.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Post-deployment monitoring includes drift, incidents, subgroup performance, override behavior, complaints, and periodic re-approval.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RAI Vetting Process – Externally Procured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1. Business need &amp; risk classification — define intended use, decision impact, users, patient exposure, and alternatives.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2. Vendor due diligence — review training-data practices, model documentation, security, privacy, certifications, incident history, and subcontractors.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3. Contractual safeguards — require audit rights, breach/incident notification, change notification, data-use limits, service levels, documentation, and termination/exit provisions.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4. Independent NovaCare testing — validate performance on representative local data; test fairness, robustness, usability, security, and integration risks.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5. Approval &amp; controlled pilot — limit initial deployment, define human oversight, collect user feedback, and confirm KPI thresholds.</a:t>
            </a:r>
          </a:p>
          <a:p>
            <a:pPr>
              <a:spcAft>
                <a:spcPts val="700"/>
              </a:spcAft>
              <a:defRPr sz="1600">
                <a:solidFill>
                  <a:srgbClr val="262A2E"/>
                </a:solidFill>
              </a:defRPr>
            </a:pPr>
            <a:r>
              <a:t>6. Ongoing vendor/model monitoring — reassess after material model updates, data changes, incidents, performance drift, or regulatory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1028" y="5257800"/>
            <a:ext cx="4471851" cy="685800"/>
          </a:xfrm>
          <a:prstGeom prst="roundRect">
            <a:avLst/>
          </a:prstGeom>
          <a:solidFill>
            <a:srgbClr val="F2F6F8"/>
          </a:solidFill>
          <a:ln>
            <a:solidFill>
              <a:srgbClr val="1E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5394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62D4B"/>
                </a:solidFill>
              </a:defRPr>
            </a:pPr>
            <a:r>
              <a:t>Procurement does not transfer accountability to the vendor.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12-Month RAI Organization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417320" cy="59436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161288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Months 1–2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051560"/>
            <a:ext cx="1417320" cy="59436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30552" y="1161288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097280"/>
            <a:ext cx="7680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2E"/>
                </a:solidFill>
              </a:defRPr>
            </a:pPr>
            <a:r>
              <a:t>Executive sponsor; RAI charter; inventory AI systems; define principles and risk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92807"/>
            <a:ext cx="1417320" cy="59436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2002536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Months 3–4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892807"/>
            <a:ext cx="1417320" cy="59436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30552" y="2002536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38527"/>
            <a:ext cx="7680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2E"/>
                </a:solidFill>
              </a:defRPr>
            </a:pPr>
            <a:r>
              <a:t>Appoint seven RAI roles; form steering committee; define RACI and escalation paths.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34056"/>
            <a:ext cx="1417320" cy="59436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2843784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Months 5–6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2734056"/>
            <a:ext cx="1417320" cy="59436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30552" y="2843784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79776"/>
            <a:ext cx="7680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2E"/>
                </a:solidFill>
              </a:defRPr>
            </a:pPr>
            <a:r>
              <a:t>Create internal/vendor vetting standards, impact assessments, documentation templates, and approval gates.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417320" cy="59436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3685032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Months 7–8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575304"/>
            <a:ext cx="1417320" cy="59436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30552" y="3685032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21024"/>
            <a:ext cx="7680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2E"/>
                </a:solidFill>
              </a:defRPr>
            </a:pPr>
            <a:r>
              <a:t>Apply framework to 2–3 AI use cases; train teams; test dashboards and incident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16552"/>
            <a:ext cx="1417320" cy="59436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Months 9–10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4416552"/>
            <a:ext cx="1417320" cy="59436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30552" y="4526280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462272"/>
            <a:ext cx="7680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2E"/>
                </a:solidFill>
              </a:defRPr>
            </a:pPr>
            <a:r>
              <a:t>Extend governance to all AI projects/vendors; integrate procurement, security, privacy, and audit.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57800"/>
            <a:ext cx="1417320" cy="59436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5367528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Months 11–12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7400" y="5257800"/>
            <a:ext cx="1417320" cy="594360"/>
          </a:xfrm>
          <a:prstGeom prst="round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30552" y="5367528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Optimize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303520"/>
            <a:ext cx="7680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2E"/>
                </a:solidFill>
              </a:defRPr>
            </a:pPr>
            <a:r>
              <a:t>Audit effectiveness; review KPI trends; close gaps; publish annual RAI report and Year-2 roadmap.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Actionable Responsible AI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51560"/>
          <a:ext cx="11338559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Principle</a:t>
                      </a:r>
                    </a:p>
                  </a:txBody>
                  <a:tcPr>
                    <a:solidFill>
                      <a:srgbClr val="16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 / Trigger</a:t>
                      </a:r>
                    </a:p>
                  </a:txBody>
                  <a:tcPr>
                    <a:solidFill>
                      <a:srgbClr val="16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Management Action</a:t>
                      </a:r>
                    </a:p>
                  </a:txBody>
                  <a:tcPr>
                    <a:solidFill>
                      <a:srgbClr val="16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Safety &amp; Reliability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Critical AI incidents; validation pass rate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0 severe incidents; ≥95% pass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Suspend/rollback; root-cause review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Fairness &amp;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Max subgroup performance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≤5 percentage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Bias investigation; retrain/restrict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Privacy &amp; Security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AI privacy/security findings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0 critical; 100% closed on time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Block release or remediate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Transparency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High-risk models with current model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Escalate missing/expired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Human Oversight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Clinician override + inappropriate automation rate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Trend within approved band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Workflow review and retraining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Accountability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AI systems with named owner &amp; current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No owner = no production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Governability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Time to disable unsafe AI after confirmed trigger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≤30 minutes for critical systems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A2E"/>
                          </a:solidFill>
                        </a:defRPr>
                      </a:pPr>
                      <a:r>
                        <a:t>Test kill switch and escalation quarterly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35508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06970"/>
                </a:solidFill>
              </a:defRPr>
            </a:pPr>
            <a:r>
              <a:t>KPI design: named owner + measurable threshold + review cadence + predefined corrective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KPI Review and Escalation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Weekly: operational model monitoring — drift, outages, alerts, overrides, and security events.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Monthly: product owner + RAI control review — KPI exceptions, subgroup performance, complaints, and corrective actions.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Quarterly: RAI Steering Committee — portfolio risk, high-risk model re-approval, vendor changes, audit findings, and trend analysis.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Annually: Board Risk / Quality Committee — RAI effectiveness, material incidents, ethical-principle alignment, resources, and framework updates.</a:t>
            </a:r>
          </a:p>
          <a:p>
            <a:pPr>
              <a:spcAft>
                <a:spcPts val="700"/>
              </a:spcAft>
              <a:defRPr sz="1800">
                <a:solidFill>
                  <a:srgbClr val="262A2E"/>
                </a:solidFill>
              </a:defRPr>
            </a:pPr>
            <a:r>
              <a:t>Escalation rule: threshold breach creates a named action owner and deadline; critical safety/privacy/security triggers can automatically pause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349240"/>
            <a:ext cx="6675120" cy="685800"/>
          </a:xfrm>
          <a:prstGeom prst="roundRect">
            <a:avLst/>
          </a:prstGeom>
          <a:solidFill>
            <a:srgbClr val="1E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16352" y="5458968"/>
            <a:ext cx="65288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Measure → Compare to Threshold → Assign Action → Verify Closure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62A2E"/>
                </a:solidFill>
              </a:defRPr>
            </a:pPr>
            <a:r>
              <a:t>NovaCare's RAI framework turns ethical principles into an operating system for AI governance.</a:t>
            </a:r>
          </a:p>
          <a:p>
            <a:pPr>
              <a:spcAft>
                <a:spcPts val="700"/>
              </a:spcAft>
              <a:defRPr sz="1900">
                <a:solidFill>
                  <a:srgbClr val="262A2E"/>
                </a:solidFill>
              </a:defRPr>
            </a:pPr>
            <a:r>
              <a:t>Seven defined roles create clear ownership while independent validation prevents product teams from approving their own high-risk systems.</a:t>
            </a:r>
          </a:p>
          <a:p>
            <a:pPr>
              <a:spcAft>
                <a:spcPts val="700"/>
              </a:spcAft>
              <a:defRPr sz="1900">
                <a:solidFill>
                  <a:srgbClr val="262A2E"/>
                </a:solidFill>
              </a:defRPr>
            </a:pPr>
            <a:r>
              <a:t>Separate internal-development and vendor-procurement processes address different sources of AI risk while maintaining the same ethical standards.</a:t>
            </a:r>
          </a:p>
          <a:p>
            <a:pPr>
              <a:spcAft>
                <a:spcPts val="700"/>
              </a:spcAft>
              <a:defRPr sz="1900">
                <a:solidFill>
                  <a:srgbClr val="262A2E"/>
                </a:solidFill>
              </a:defRPr>
            </a:pPr>
            <a:r>
              <a:t>The 12-month roadmap starts with governance foundations, pilots controls, then scales them across the enterprise.</a:t>
            </a:r>
          </a:p>
          <a:p>
            <a:pPr>
              <a:spcAft>
                <a:spcPts val="700"/>
              </a:spcAft>
              <a:defRPr sz="1900">
                <a:solidFill>
                  <a:srgbClr val="262A2E"/>
                </a:solidFill>
              </a:defRPr>
            </a:pPr>
            <a:r>
              <a:t>Actionable KPIs connect each ethical principle to a measurable threshold and a management response—making Responsible AI auditable and sustainable.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6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A2E"/>
                </a:solidFill>
              </a:defRPr>
            </a:pPr>
            <a:r>
              <a:rPr dirty="0"/>
              <a:t>National Institute of Standards and Technology. (2023). Artificial intelligence risk management framework (AI RMF 1.0) (NIST AI 100-1). U.S. Department of Commerce.</a:t>
            </a:r>
          </a:p>
          <a:p>
            <a:pPr>
              <a:spcAft>
                <a:spcPts val="700"/>
              </a:spcAft>
              <a:defRPr sz="1700">
                <a:solidFill>
                  <a:srgbClr val="262A2E"/>
                </a:solidFill>
              </a:defRPr>
            </a:pPr>
            <a:r>
              <a:rPr dirty="0"/>
              <a:t>Santa Clara University, Markkula Center for Applied Ethics. (n.d.). An ethical toolkit for engineering/design practice.</a:t>
            </a:r>
          </a:p>
          <a:p>
            <a:pPr>
              <a:spcAft>
                <a:spcPts val="700"/>
              </a:spcAft>
              <a:defRPr sz="1700">
                <a:solidFill>
                  <a:srgbClr val="262A2E"/>
                </a:solidFill>
              </a:defRPr>
            </a:pPr>
            <a:r>
              <a:rPr dirty="0"/>
              <a:t>U.S. Department of Defense. (2022). Responsible artificial intelligence strategy and implementation pathway.</a:t>
            </a:r>
          </a:p>
          <a:p>
            <a:pPr>
              <a:spcAft>
                <a:spcPts val="700"/>
              </a:spcAft>
              <a:defRPr sz="1700">
                <a:solidFill>
                  <a:srgbClr val="262A2E"/>
                </a:solidFill>
              </a:defRPr>
            </a:pPr>
            <a:r>
              <a:rPr dirty="0"/>
              <a:t>Ethical Machines, Chapter 6</a:t>
            </a:r>
            <a:r>
              <a:rPr lang="en-IN" dirty="0"/>
              <a:t>.</a:t>
            </a: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262A2E"/>
                </a:solidFill>
              </a:defRPr>
            </a:pPr>
            <a:r>
              <a:rPr dirty="0"/>
              <a:t>NovaCare Health Systems is a fictional organization created for this course case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1595</Words>
  <Application>Microsoft Office PowerPoint</Application>
  <PresentationFormat>Widescreen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cp:keywords/>
  <cp:lastModifiedBy>A K</cp:lastModifiedBy>
  <cp:revision>1</cp:revision>
  <dcterms:created xsi:type="dcterms:W3CDTF">2013-01-27T09:14:16Z</dcterms:created>
  <dcterms:modified xsi:type="dcterms:W3CDTF">2026-08-29T17:29:50Z</dcterms:modified>
  <cp:category/>
</cp:coreProperties>
</file>