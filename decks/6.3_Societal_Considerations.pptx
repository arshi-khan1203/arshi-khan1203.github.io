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58252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E79"/>
        </a:solidFill>
        <a:effectLst/>
      </p:bgPr>
    </p:bg>
    <p:spTree>
      <p:nvGrpSpPr>
        <p:cNvPr id="1" name=""/>
        <p:cNvGrpSpPr/>
        <p:nvPr/>
      </p:nvGrpSpPr>
      <p:grpSpPr>
        <a:xfrm>
          <a:off x="0" y="0"/>
          <a:ext cx="0" cy="0"/>
          <a:chOff x="0" y="0"/>
          <a:chExt cx="0" cy="0"/>
        </a:xfrm>
      </p:grpSpPr>
      <p:sp>
        <p:nvSpPr>
          <p:cNvPr id="2" name="Text 0"/>
          <p:cNvSpPr txBox="1"/>
          <p:nvPr/>
        </p:nvSpPr>
        <p:spPr>
          <a:xfrm>
            <a:off x="731520" y="1737360"/>
            <a:ext cx="10725912" cy="1920240"/>
          </a:xfrm>
          <a:prstGeom prst="rect">
            <a:avLst/>
          </a:prstGeom>
          <a:noFill/>
          <a:ln/>
        </p:spPr>
        <p:txBody>
          <a:bodyPr wrap="square" lIns="0" tIns="0" rIns="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Elara: Societal Considerations</a:t>
            </a:r>
            <a:endParaRPr lang="en-US" sz="3400" dirty="0"/>
          </a:p>
          <a:p>
            <a:pPr marL="0" indent="0" algn="ctr">
              <a:buNone/>
            </a:pPr>
            <a:r>
              <a:rPr lang="en-US" sz="3400" b="1" dirty="0">
                <a:solidFill>
                  <a:srgbClr val="FFFFFF"/>
                </a:solidFill>
                <a:latin typeface="Cambria" pitchFamily="34" charset="0"/>
                <a:ea typeface="Cambria" pitchFamily="34" charset="-122"/>
                <a:cs typeface="Cambria" pitchFamily="34" charset="-120"/>
              </a:rPr>
              <a:t>in AI Companionship for Older Adults</a:t>
            </a:r>
            <a:endParaRPr lang="en-US" sz="3400" dirty="0"/>
          </a:p>
        </p:txBody>
      </p:sp>
      <p:sp>
        <p:nvSpPr>
          <p:cNvPr id="3" name="Text 1"/>
          <p:cNvSpPr txBox="1"/>
          <p:nvPr/>
        </p:nvSpPr>
        <p:spPr>
          <a:xfrm>
            <a:off x="914400" y="3749040"/>
            <a:ext cx="10360152" cy="548640"/>
          </a:xfrm>
          <a:prstGeom prst="rect">
            <a:avLst/>
          </a:prstGeom>
          <a:noFill/>
          <a:ln/>
        </p:spPr>
        <p:txBody>
          <a:bodyPr wrap="square" lIns="0" tIns="0" rIns="0" bIns="0" rtlCol="0" anchor="ctr"/>
          <a:lstStyle/>
          <a:p>
            <a:pPr marL="0" indent="0" algn="ctr">
              <a:buNone/>
            </a:pPr>
            <a:r>
              <a:rPr lang="en-US" sz="1800" dirty="0">
                <a:solidFill>
                  <a:srgbClr val="DDEBF7"/>
                </a:solidFill>
                <a:latin typeface="Calibri" pitchFamily="34" charset="0"/>
                <a:ea typeface="Calibri" pitchFamily="34" charset="-122"/>
                <a:cs typeface="Calibri" pitchFamily="34" charset="-120"/>
              </a:rPr>
              <a:t>Applying a Responsible AI framework to the CompanionAI case</a:t>
            </a:r>
            <a:endParaRPr lang="en-US" sz="1800" dirty="0"/>
          </a:p>
        </p:txBody>
      </p:sp>
      <p:sp>
        <p:nvSpPr>
          <p:cNvPr id="4" name="Text 2"/>
          <p:cNvSpPr txBox="1"/>
          <p:nvPr/>
        </p:nvSpPr>
        <p:spPr>
          <a:xfrm>
            <a:off x="914400" y="4480560"/>
            <a:ext cx="10360152" cy="1188720"/>
          </a:xfrm>
          <a:prstGeom prst="rect">
            <a:avLst/>
          </a:prstGeom>
          <a:noFill/>
          <a:ln/>
        </p:spPr>
        <p:txBody>
          <a:bodyPr wrap="square" lIns="0" tIns="0" rIns="0" bIns="0" rtlCol="0" anchor="ctr"/>
          <a:lstStyle/>
          <a:p>
            <a:pPr marL="0" indent="0" algn="ctr">
              <a:lnSpc>
                <a:spcPct val="130000"/>
              </a:lnSpc>
              <a:buNone/>
            </a:pPr>
            <a:r>
              <a:rPr lang="en-US" sz="1400" dirty="0">
                <a:solidFill>
                  <a:srgbClr val="FFFFFF"/>
                </a:solidFill>
                <a:latin typeface="Calibri" pitchFamily="34" charset="0"/>
                <a:ea typeface="Calibri" pitchFamily="34" charset="-122"/>
                <a:cs typeface="Calibri" pitchFamily="34" charset="-120"/>
              </a:rPr>
              <a:t>Prepared by: Arshi Khan</a:t>
            </a:r>
            <a:endParaRPr lang="en-US" sz="1400" dirty="0"/>
          </a:p>
          <a:p>
            <a:pPr marL="0" indent="0" algn="ctr">
              <a:lnSpc>
                <a:spcPct val="130000"/>
              </a:lnSpc>
              <a:buNone/>
            </a:pPr>
            <a:r>
              <a:rPr lang="en-US" sz="1400" dirty="0">
                <a:solidFill>
                  <a:srgbClr val="FFFFFF"/>
                </a:solidFill>
                <a:latin typeface="Calibri" pitchFamily="34" charset="0"/>
                <a:ea typeface="Calibri" pitchFamily="34" charset="-122"/>
                <a:cs typeface="Calibri" pitchFamily="34" charset="-120"/>
              </a:rPr>
              <a:t>Discussion 6.3: Societal Considerations Case Study</a:t>
            </a:r>
            <a:endParaRPr lang="en-US" sz="1400" dirty="0"/>
          </a:p>
          <a:p>
            <a:pPr marL="0" indent="0" algn="ctr">
              <a:lnSpc>
                <a:spcPct val="130000"/>
              </a:lnSpc>
              <a:buNone/>
            </a:pPr>
            <a:r>
              <a:rPr lang="en-US" sz="1400" dirty="0">
                <a:solidFill>
                  <a:srgbClr val="FFFFFF"/>
                </a:solidFill>
                <a:latin typeface="Calibri" pitchFamily="34" charset="0"/>
                <a:ea typeface="Calibri" pitchFamily="34" charset="-122"/>
                <a:cs typeface="Calibri" pitchFamily="34" charset="-120"/>
              </a:rPr>
              <a:t>Date: October 8,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320040"/>
            <a:ext cx="11277295" cy="640080"/>
          </a:xfrm>
          <a:prstGeom prst="rect">
            <a:avLst/>
          </a:prstGeom>
          <a:noFill/>
          <a:ln/>
        </p:spPr>
        <p:txBody>
          <a:bodyPr wrap="square" lIns="0" tIns="0" rIns="0" bIns="0" rtlCol="0" anchor="ctr"/>
          <a:lstStyle/>
          <a:p>
            <a:pPr marL="0" indent="0">
              <a:buNone/>
            </a:pPr>
            <a:r>
              <a:rPr lang="en-US" sz="2600" b="1" dirty="0">
                <a:solidFill>
                  <a:srgbClr val="1F4E79"/>
                </a:solidFill>
                <a:latin typeface="Cambria" pitchFamily="34" charset="0"/>
                <a:ea typeface="Cambria" pitchFamily="34" charset="-122"/>
                <a:cs typeface="Cambria" pitchFamily="34" charset="-120"/>
              </a:rPr>
              <a:t>Case Snapshot: CompanionAI and Elara</a:t>
            </a:r>
            <a:endParaRPr lang="en-US" sz="2600" dirty="0"/>
          </a:p>
        </p:txBody>
      </p:sp>
      <p:sp>
        <p:nvSpPr>
          <p:cNvPr id="3" name="Text 1"/>
          <p:cNvSpPr txBox="1"/>
          <p:nvPr/>
        </p:nvSpPr>
        <p:spPr>
          <a:xfrm>
            <a:off x="457200" y="914400"/>
            <a:ext cx="11277295" cy="320040"/>
          </a:xfrm>
          <a:prstGeom prst="rect">
            <a:avLst/>
          </a:prstGeom>
          <a:noFill/>
          <a:ln/>
        </p:spPr>
        <p:txBody>
          <a:bodyPr wrap="square" lIns="0" tIns="0" rIns="0" bIns="0" rtlCol="0" anchor="ctr"/>
          <a:lstStyle/>
          <a:p>
            <a:pPr marL="0" indent="0">
              <a:buNone/>
            </a:pPr>
            <a:r>
              <a:rPr lang="en-US" sz="1250" i="1" dirty="0">
                <a:solidFill>
                  <a:srgbClr val="2E75B6"/>
                </a:solidFill>
                <a:latin typeface="Calibri" pitchFamily="34" charset="0"/>
                <a:ea typeface="Calibri" pitchFamily="34" charset="-122"/>
                <a:cs typeface="Calibri" pitchFamily="34" charset="-120"/>
              </a:rPr>
              <a:t>A social robot built to ease loneliness among older adults</a:t>
            </a:r>
            <a:endParaRPr lang="en-US" sz="1250" dirty="0"/>
          </a:p>
        </p:txBody>
      </p:sp>
      <p:sp>
        <p:nvSpPr>
          <p:cNvPr id="4" name="Shape 2"/>
          <p:cNvSpPr/>
          <p:nvPr/>
        </p:nvSpPr>
        <p:spPr>
          <a:xfrm>
            <a:off x="457200" y="1673352"/>
            <a:ext cx="320040" cy="320040"/>
          </a:xfrm>
          <a:prstGeom prst="ellipse">
            <a:avLst/>
          </a:prstGeom>
          <a:solidFill>
            <a:srgbClr val="2E75B6"/>
          </a:solidFill>
          <a:ln/>
        </p:spPr>
      </p:sp>
      <p:sp>
        <p:nvSpPr>
          <p:cNvPr id="5" name="Text 3"/>
          <p:cNvSpPr txBox="1"/>
          <p:nvPr/>
        </p:nvSpPr>
        <p:spPr>
          <a:xfrm>
            <a:off x="960120" y="1600200"/>
            <a:ext cx="2651760" cy="457200"/>
          </a:xfrm>
          <a:prstGeom prst="rect">
            <a:avLst/>
          </a:prstGeom>
          <a:noFill/>
          <a:ln/>
        </p:spPr>
        <p:txBody>
          <a:bodyPr wrap="square" lIns="0" tIns="0" rIns="0" bIns="0" rtlCol="0" anchor="t"/>
          <a:lstStyle/>
          <a:p>
            <a:pPr marL="0" indent="0">
              <a:buNone/>
            </a:pPr>
            <a:r>
              <a:rPr lang="en-US" sz="1500" b="1" dirty="0">
                <a:solidFill>
                  <a:srgbClr val="1F4E79"/>
                </a:solidFill>
                <a:latin typeface="Calibri" pitchFamily="34" charset="0"/>
                <a:ea typeface="Calibri" pitchFamily="34" charset="-122"/>
                <a:cs typeface="Calibri" pitchFamily="34" charset="-120"/>
              </a:rPr>
              <a:t>The product</a:t>
            </a:r>
            <a:endParaRPr lang="en-US" sz="1500" dirty="0"/>
          </a:p>
        </p:txBody>
      </p:sp>
      <p:sp>
        <p:nvSpPr>
          <p:cNvPr id="6" name="Text 4"/>
          <p:cNvSpPr txBox="1"/>
          <p:nvPr/>
        </p:nvSpPr>
        <p:spPr>
          <a:xfrm>
            <a:off x="3749040" y="1600200"/>
            <a:ext cx="7985455" cy="1051560"/>
          </a:xfrm>
          <a:prstGeom prst="rect">
            <a:avLst/>
          </a:prstGeom>
          <a:noFill/>
          <a:ln/>
        </p:spPr>
        <p:txBody>
          <a:bodyPr wrap="square" lIns="0" tIns="0" rIns="0" bIns="0" rtlCol="0" anchor="t"/>
          <a:lstStyle/>
          <a:p>
            <a:pPr marL="0" indent="0">
              <a:buNone/>
            </a:pPr>
            <a:r>
              <a:rPr lang="en-US" sz="1400" dirty="0">
                <a:solidFill>
                  <a:srgbClr val="262626"/>
                </a:solidFill>
                <a:latin typeface="Calibri" pitchFamily="34" charset="0"/>
                <a:ea typeface="Calibri" pitchFamily="34" charset="-122"/>
                <a:cs typeface="Calibri" pitchFamily="34" charset="-120"/>
              </a:rPr>
              <a:t>Elara offers companionship, emotional monitoring, medication reminders, family contact, and a secure link to clinicians</a:t>
            </a:r>
            <a:endParaRPr lang="en-US" sz="1400" dirty="0"/>
          </a:p>
        </p:txBody>
      </p:sp>
      <p:sp>
        <p:nvSpPr>
          <p:cNvPr id="7" name="Shape 5"/>
          <p:cNvSpPr/>
          <p:nvPr/>
        </p:nvSpPr>
        <p:spPr>
          <a:xfrm>
            <a:off x="457200" y="2724912"/>
            <a:ext cx="320040" cy="320040"/>
          </a:xfrm>
          <a:prstGeom prst="ellipse">
            <a:avLst/>
          </a:prstGeom>
          <a:solidFill>
            <a:srgbClr val="2E75B6"/>
          </a:solidFill>
          <a:ln/>
        </p:spPr>
      </p:sp>
      <p:sp>
        <p:nvSpPr>
          <p:cNvPr id="8" name="Text 6"/>
          <p:cNvSpPr txBox="1"/>
          <p:nvPr/>
        </p:nvSpPr>
        <p:spPr>
          <a:xfrm>
            <a:off x="960120" y="2651760"/>
            <a:ext cx="2651760" cy="457200"/>
          </a:xfrm>
          <a:prstGeom prst="rect">
            <a:avLst/>
          </a:prstGeom>
          <a:noFill/>
          <a:ln/>
        </p:spPr>
        <p:txBody>
          <a:bodyPr wrap="square" lIns="0" tIns="0" rIns="0" bIns="0" rtlCol="0" anchor="t"/>
          <a:lstStyle/>
          <a:p>
            <a:pPr marL="0" indent="0">
              <a:buNone/>
            </a:pPr>
            <a:r>
              <a:rPr lang="en-US" sz="1500" b="1" dirty="0">
                <a:solidFill>
                  <a:srgbClr val="1F4E79"/>
                </a:solidFill>
                <a:latin typeface="Calibri" pitchFamily="34" charset="0"/>
                <a:ea typeface="Calibri" pitchFamily="34" charset="-122"/>
                <a:cs typeface="Calibri" pitchFamily="34" charset="-120"/>
              </a:rPr>
              <a:t>The pilot</a:t>
            </a:r>
            <a:endParaRPr lang="en-US" sz="1500" dirty="0"/>
          </a:p>
        </p:txBody>
      </p:sp>
      <p:sp>
        <p:nvSpPr>
          <p:cNvPr id="9" name="Text 7"/>
          <p:cNvSpPr txBox="1"/>
          <p:nvPr/>
        </p:nvSpPr>
        <p:spPr>
          <a:xfrm>
            <a:off x="3749040" y="2651760"/>
            <a:ext cx="7985455" cy="1051560"/>
          </a:xfrm>
          <a:prstGeom prst="rect">
            <a:avLst/>
          </a:prstGeom>
          <a:noFill/>
          <a:ln/>
        </p:spPr>
        <p:txBody>
          <a:bodyPr wrap="square" lIns="0" tIns="0" rIns="0" bIns="0" rtlCol="0" anchor="t"/>
          <a:lstStyle/>
          <a:p>
            <a:pPr marL="0" indent="0">
              <a:buNone/>
            </a:pPr>
            <a:r>
              <a:rPr lang="en-US" sz="1400" dirty="0">
                <a:solidFill>
                  <a:srgbClr val="262626"/>
                </a:solidFill>
                <a:latin typeface="Calibri" pitchFamily="34" charset="0"/>
                <a:ea typeface="Calibri" pitchFamily="34" charset="-122"/>
                <a:cs typeface="Calibri" pitchFamily="34" charset="-120"/>
              </a:rPr>
              <a:t>50 assisted living facilities and 200 individual homes</a:t>
            </a:r>
            <a:endParaRPr lang="en-US" sz="1400" dirty="0"/>
          </a:p>
        </p:txBody>
      </p:sp>
      <p:sp>
        <p:nvSpPr>
          <p:cNvPr id="10" name="Shape 8"/>
          <p:cNvSpPr/>
          <p:nvPr/>
        </p:nvSpPr>
        <p:spPr>
          <a:xfrm>
            <a:off x="457200" y="3776472"/>
            <a:ext cx="320040" cy="320040"/>
          </a:xfrm>
          <a:prstGeom prst="ellipse">
            <a:avLst/>
          </a:prstGeom>
          <a:solidFill>
            <a:srgbClr val="2E75B6"/>
          </a:solidFill>
          <a:ln/>
        </p:spPr>
      </p:sp>
      <p:sp>
        <p:nvSpPr>
          <p:cNvPr id="11" name="Text 9"/>
          <p:cNvSpPr txBox="1"/>
          <p:nvPr/>
        </p:nvSpPr>
        <p:spPr>
          <a:xfrm>
            <a:off x="960120" y="3703320"/>
            <a:ext cx="2651760" cy="457200"/>
          </a:xfrm>
          <a:prstGeom prst="rect">
            <a:avLst/>
          </a:prstGeom>
          <a:noFill/>
          <a:ln/>
        </p:spPr>
        <p:txBody>
          <a:bodyPr wrap="square" lIns="0" tIns="0" rIns="0" bIns="0" rtlCol="0" anchor="t"/>
          <a:lstStyle/>
          <a:p>
            <a:pPr marL="0" indent="0">
              <a:buNone/>
            </a:pPr>
            <a:r>
              <a:rPr lang="en-US" sz="1500" b="1" dirty="0">
                <a:solidFill>
                  <a:srgbClr val="1F4E79"/>
                </a:solidFill>
                <a:latin typeface="Calibri" pitchFamily="34" charset="0"/>
                <a:ea typeface="Calibri" pitchFamily="34" charset="-122"/>
                <a:cs typeface="Calibri" pitchFamily="34" charset="-120"/>
              </a:rPr>
              <a:t>Early results</a:t>
            </a:r>
            <a:endParaRPr lang="en-US" sz="1500" dirty="0"/>
          </a:p>
        </p:txBody>
      </p:sp>
      <p:sp>
        <p:nvSpPr>
          <p:cNvPr id="12" name="Text 10"/>
          <p:cNvSpPr txBox="1"/>
          <p:nvPr/>
        </p:nvSpPr>
        <p:spPr>
          <a:xfrm>
            <a:off x="3749040" y="3703320"/>
            <a:ext cx="7985455" cy="1051560"/>
          </a:xfrm>
          <a:prstGeom prst="rect">
            <a:avLst/>
          </a:prstGeom>
          <a:noFill/>
          <a:ln/>
        </p:spPr>
        <p:txBody>
          <a:bodyPr wrap="square" lIns="0" tIns="0" rIns="0" bIns="0" rtlCol="0" anchor="t"/>
          <a:lstStyle/>
          <a:p>
            <a:pPr marL="0" indent="0">
              <a:buNone/>
            </a:pPr>
            <a:r>
              <a:rPr lang="en-US" sz="1400" dirty="0">
                <a:solidFill>
                  <a:srgbClr val="262626"/>
                </a:solidFill>
                <a:latin typeface="Calibri" pitchFamily="34" charset="0"/>
                <a:ea typeface="Calibri" pitchFamily="34" charset="-122"/>
                <a:cs typeface="Calibri" pitchFamily="34" charset="-120"/>
              </a:rPr>
              <a:t>Improved mood in 70% of participants after 3 months, and 20% fewer emergency medical interventions</a:t>
            </a:r>
            <a:endParaRPr lang="en-US" sz="1400" dirty="0"/>
          </a:p>
        </p:txBody>
      </p:sp>
      <p:sp>
        <p:nvSpPr>
          <p:cNvPr id="13" name="Shape 11"/>
          <p:cNvSpPr/>
          <p:nvPr/>
        </p:nvSpPr>
        <p:spPr>
          <a:xfrm>
            <a:off x="457200" y="4828032"/>
            <a:ext cx="320040" cy="320040"/>
          </a:xfrm>
          <a:prstGeom prst="ellipse">
            <a:avLst/>
          </a:prstGeom>
          <a:solidFill>
            <a:srgbClr val="2E75B6"/>
          </a:solidFill>
          <a:ln/>
        </p:spPr>
      </p:sp>
      <p:sp>
        <p:nvSpPr>
          <p:cNvPr id="14" name="Text 12"/>
          <p:cNvSpPr txBox="1"/>
          <p:nvPr/>
        </p:nvSpPr>
        <p:spPr>
          <a:xfrm>
            <a:off x="960120" y="4754880"/>
            <a:ext cx="2651760" cy="457200"/>
          </a:xfrm>
          <a:prstGeom prst="rect">
            <a:avLst/>
          </a:prstGeom>
          <a:noFill/>
          <a:ln/>
        </p:spPr>
        <p:txBody>
          <a:bodyPr wrap="square" lIns="0" tIns="0" rIns="0" bIns="0" rtlCol="0" anchor="t"/>
          <a:lstStyle/>
          <a:p>
            <a:pPr marL="0" indent="0">
              <a:buNone/>
            </a:pPr>
            <a:r>
              <a:rPr lang="en-US" sz="1500" b="1" dirty="0">
                <a:solidFill>
                  <a:srgbClr val="1F4E79"/>
                </a:solidFill>
                <a:latin typeface="Calibri" pitchFamily="34" charset="0"/>
                <a:ea typeface="Calibri" pitchFamily="34" charset="-122"/>
                <a:cs typeface="Calibri" pitchFamily="34" charset="-120"/>
              </a:rPr>
              <a:t>The concerns</a:t>
            </a:r>
            <a:endParaRPr lang="en-US" sz="1500" dirty="0"/>
          </a:p>
        </p:txBody>
      </p:sp>
      <p:sp>
        <p:nvSpPr>
          <p:cNvPr id="15" name="Text 13"/>
          <p:cNvSpPr txBox="1"/>
          <p:nvPr/>
        </p:nvSpPr>
        <p:spPr>
          <a:xfrm>
            <a:off x="3749040" y="4754880"/>
            <a:ext cx="7985455" cy="1051560"/>
          </a:xfrm>
          <a:prstGeom prst="rect">
            <a:avLst/>
          </a:prstGeom>
          <a:noFill/>
          <a:ln/>
        </p:spPr>
        <p:txBody>
          <a:bodyPr wrap="square" lIns="0" tIns="0" rIns="0" bIns="0" rtlCol="0" anchor="t"/>
          <a:lstStyle/>
          <a:p>
            <a:pPr marL="0" indent="0">
              <a:buNone/>
            </a:pPr>
            <a:r>
              <a:rPr lang="en-US" sz="1400" dirty="0">
                <a:solidFill>
                  <a:srgbClr val="262626"/>
                </a:solidFill>
                <a:latin typeface="Calibri" pitchFamily="34" charset="0"/>
                <a:ea typeface="Calibri" pitchFamily="34" charset="-122"/>
                <a:cs typeface="Calibri" pitchFamily="34" charset="-120"/>
              </a:rPr>
              <a:t>Families visiting less, constant monitoring and emotional data collection, and whether AI companionship misleads vulnerable people</a:t>
            </a:r>
            <a:endParaRPr lang="en-US" sz="1400" dirty="0"/>
          </a:p>
        </p:txBody>
      </p:sp>
      <p:sp>
        <p:nvSpPr>
          <p:cNvPr id="16" name="Text 14"/>
          <p:cNvSpPr txBox="1"/>
          <p:nvPr/>
        </p:nvSpPr>
        <p:spPr>
          <a:xfrm>
            <a:off x="11368735" y="6446520"/>
            <a:ext cx="457200" cy="320040"/>
          </a:xfrm>
          <a:prstGeom prst="rect">
            <a:avLst/>
          </a:prstGeom>
          <a:noFill/>
          <a:ln/>
        </p:spPr>
        <p:txBody>
          <a:bodyPr wrap="square" lIns="0" tIns="0" rIns="0" bIns="0" rtlCol="0" anchor="ctr"/>
          <a:lstStyle/>
          <a:p>
            <a:pPr marL="0" indent="0" algn="r">
              <a:buNone/>
            </a:pPr>
            <a:r>
              <a:rPr lang="en-US" sz="1100" dirty="0">
                <a:solidFill>
                  <a:srgbClr val="8FA9C4"/>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320040"/>
            <a:ext cx="11277295" cy="640080"/>
          </a:xfrm>
          <a:prstGeom prst="rect">
            <a:avLst/>
          </a:prstGeom>
          <a:noFill/>
          <a:ln/>
        </p:spPr>
        <p:txBody>
          <a:bodyPr wrap="square" lIns="0" tIns="0" rIns="0" bIns="0" rtlCol="0" anchor="ctr"/>
          <a:lstStyle/>
          <a:p>
            <a:pPr marL="0" indent="0">
              <a:buNone/>
            </a:pPr>
            <a:r>
              <a:rPr lang="en-US" sz="2600" b="1" dirty="0">
                <a:solidFill>
                  <a:srgbClr val="1F4E79"/>
                </a:solidFill>
                <a:latin typeface="Cambria" pitchFamily="34" charset="0"/>
                <a:ea typeface="Cambria" pitchFamily="34" charset="-122"/>
                <a:cs typeface="Cambria" pitchFamily="34" charset="-120"/>
              </a:rPr>
              <a:t>Key RAI Considerations</a:t>
            </a:r>
            <a:endParaRPr lang="en-US" sz="2600" dirty="0"/>
          </a:p>
        </p:txBody>
      </p:sp>
      <p:sp>
        <p:nvSpPr>
          <p:cNvPr id="3" name="Text 1"/>
          <p:cNvSpPr txBox="1"/>
          <p:nvPr/>
        </p:nvSpPr>
        <p:spPr>
          <a:xfrm>
            <a:off x="457200" y="914400"/>
            <a:ext cx="11277295" cy="320040"/>
          </a:xfrm>
          <a:prstGeom prst="rect">
            <a:avLst/>
          </a:prstGeom>
          <a:noFill/>
          <a:ln/>
        </p:spPr>
        <p:txBody>
          <a:bodyPr wrap="square" lIns="0" tIns="0" rIns="0" bIns="0" rtlCol="0" anchor="ctr"/>
          <a:lstStyle/>
          <a:p>
            <a:pPr marL="0" indent="0">
              <a:buNone/>
            </a:pPr>
            <a:r>
              <a:rPr lang="en-US" sz="1250" i="1" dirty="0">
                <a:solidFill>
                  <a:srgbClr val="2E75B6"/>
                </a:solidFill>
                <a:latin typeface="Calibri" pitchFamily="34" charset="0"/>
                <a:ea typeface="Calibri" pitchFamily="34" charset="-122"/>
                <a:cs typeface="Calibri" pitchFamily="34" charset="-120"/>
              </a:rPr>
              <a:t>Assessed against NovaCare framework principles, adapted for an elder-care context</a:t>
            </a:r>
            <a:endParaRPr lang="en-US" sz="12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77295" cy="4379976"/>
        </p:xfrm>
        <a:graphic>
          <a:graphicData uri="http://schemas.openxmlformats.org/drawingml/2006/table">
            <a:tbl>
              <a:tblPr/>
              <a:tblGrid>
                <a:gridCol w="2926080">
                  <a:extLst>
                    <a:ext uri="{9D8B030D-6E8A-4147-A177-3AD203B41FA5}">
                      <a16:colId xmlns:a16="http://schemas.microsoft.com/office/drawing/2014/main" val="20000"/>
                    </a:ext>
                  </a:extLst>
                </a:gridCol>
                <a:gridCol w="8351215">
                  <a:extLst>
                    <a:ext uri="{9D8B030D-6E8A-4147-A177-3AD203B41FA5}">
                      <a16:colId xmlns:a16="http://schemas.microsoft.com/office/drawing/2014/main" val="20001"/>
                    </a:ext>
                  </a:extLst>
                </a:gridCol>
              </a:tblGrid>
              <a:tr h="411480">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Principle</a:t>
                      </a:r>
                      <a:endParaRPr lang="en-US" sz="13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Consideration for Elara</a:t>
                      </a:r>
                      <a:endParaRPr lang="en-US" sz="13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566928">
                <a:tc>
                  <a:txBody>
                    <a:bodyPr/>
                    <a:lstStyle/>
                    <a:p>
                      <a:pPr marL="0" indent="0" algn="l">
                        <a:buNone/>
                      </a:pPr>
                      <a:r>
                        <a:rPr lang="en-US" sz="1200" b="1" dirty="0">
                          <a:solidFill>
                            <a:srgbClr val="1F4E79"/>
                          </a:solidFill>
                          <a:latin typeface="Calibri" pitchFamily="34" charset="0"/>
                          <a:ea typeface="Calibri" pitchFamily="34" charset="-122"/>
                          <a:cs typeface="Calibri" pitchFamily="34" charset="-120"/>
                        </a:rPr>
                        <a:t>Safety &amp; Reliability</a:t>
                      </a:r>
                      <a:endParaRPr lang="en-US" sz="12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200" dirty="0">
                          <a:solidFill>
                            <a:srgbClr val="262626"/>
                          </a:solidFill>
                          <a:latin typeface="Calibri" pitchFamily="34" charset="0"/>
                          <a:ea typeface="Calibri" pitchFamily="34" charset="-122"/>
                          <a:cs typeface="Calibri" pitchFamily="34" charset="-120"/>
                        </a:rPr>
                        <a:t>Emotion recognition can misread distress; a missed alert or a false alarm both carry real health consequences</a:t>
                      </a:r>
                      <a:endParaRPr lang="en-US" sz="12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lgn="l">
                        <a:buNone/>
                      </a:pPr>
                      <a:r>
                        <a:rPr lang="en-US" sz="1200" b="1" dirty="0">
                          <a:solidFill>
                            <a:srgbClr val="1F4E79"/>
                          </a:solidFill>
                          <a:latin typeface="Calibri" pitchFamily="34" charset="0"/>
                          <a:ea typeface="Calibri" pitchFamily="34" charset="-122"/>
                          <a:cs typeface="Calibri" pitchFamily="34" charset="-120"/>
                        </a:rPr>
                        <a:t>Fairness &amp; Equity</a:t>
                      </a:r>
                      <a:endParaRPr lang="en-US" sz="12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200" dirty="0">
                          <a:solidFill>
                            <a:srgbClr val="262626"/>
                          </a:solidFill>
                          <a:latin typeface="Calibri" pitchFamily="34" charset="0"/>
                          <a:ea typeface="Calibri" pitchFamily="34" charset="-122"/>
                          <a:cs typeface="Calibri" pitchFamily="34" charset="-120"/>
                        </a:rPr>
                        <a:t>Must work across languages, accents, cognitive conditions, and income levels, not just for easy-to-serve users</a:t>
                      </a:r>
                      <a:endParaRPr lang="en-US" sz="12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lgn="l">
                        <a:buNone/>
                      </a:pPr>
                      <a:r>
                        <a:rPr lang="en-US" sz="1200" b="1" dirty="0">
                          <a:solidFill>
                            <a:srgbClr val="1F4E79"/>
                          </a:solidFill>
                          <a:latin typeface="Calibri" pitchFamily="34" charset="0"/>
                          <a:ea typeface="Calibri" pitchFamily="34" charset="-122"/>
                          <a:cs typeface="Calibri" pitchFamily="34" charset="-120"/>
                        </a:rPr>
                        <a:t>Privacy &amp; Security</a:t>
                      </a:r>
                      <a:endParaRPr lang="en-US" sz="12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200" dirty="0">
                          <a:solidFill>
                            <a:srgbClr val="262626"/>
                          </a:solidFill>
                          <a:latin typeface="Calibri" pitchFamily="34" charset="0"/>
                          <a:ea typeface="Calibri" pitchFamily="34" charset="-122"/>
                          <a:cs typeface="Calibri" pitchFamily="34" charset="-120"/>
                        </a:rPr>
                        <a:t>Continuous emotional and behavioral data about people who may not understand what is collected</a:t>
                      </a:r>
                      <a:endParaRPr lang="en-US" sz="12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lgn="l">
                        <a:buNone/>
                      </a:pPr>
                      <a:r>
                        <a:rPr lang="en-US" sz="1200" b="1" dirty="0">
                          <a:solidFill>
                            <a:srgbClr val="1F4E79"/>
                          </a:solidFill>
                          <a:latin typeface="Calibri" pitchFamily="34" charset="0"/>
                          <a:ea typeface="Calibri" pitchFamily="34" charset="-122"/>
                          <a:cs typeface="Calibri" pitchFamily="34" charset="-120"/>
                        </a:rPr>
                        <a:t>Transparency &amp; Explainability</a:t>
                      </a:r>
                      <a:endParaRPr lang="en-US" sz="12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200" dirty="0">
                          <a:solidFill>
                            <a:srgbClr val="262626"/>
                          </a:solidFill>
                          <a:latin typeface="Calibri" pitchFamily="34" charset="0"/>
                          <a:ea typeface="Calibri" pitchFamily="34" charset="-122"/>
                          <a:cs typeface="Calibri" pitchFamily="34" charset="-120"/>
                        </a:rPr>
                        <a:t>Users and families must know Elara is an AI, what it monitors, and who sees the data</a:t>
                      </a:r>
                      <a:endParaRPr lang="en-US" sz="12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algn="l">
                        <a:buNone/>
                      </a:pPr>
                      <a:r>
                        <a:rPr lang="en-US" sz="1200" b="1" dirty="0">
                          <a:solidFill>
                            <a:srgbClr val="1F4E79"/>
                          </a:solidFill>
                          <a:latin typeface="Calibri" pitchFamily="34" charset="0"/>
                          <a:ea typeface="Calibri" pitchFamily="34" charset="-122"/>
                          <a:cs typeface="Calibri" pitchFamily="34" charset="-120"/>
                        </a:rPr>
                        <a:t>Human Oversight</a:t>
                      </a:r>
                      <a:endParaRPr lang="en-US" sz="12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200" dirty="0">
                          <a:solidFill>
                            <a:srgbClr val="262626"/>
                          </a:solidFill>
                          <a:latin typeface="Calibri" pitchFamily="34" charset="0"/>
                          <a:ea typeface="Calibri" pitchFamily="34" charset="-122"/>
                          <a:cs typeface="Calibri" pitchFamily="34" charset="-120"/>
                        </a:rPr>
                        <a:t>Clinicians and caregivers stay responsible for care decisions; Elara supports them and does not replace them</a:t>
                      </a:r>
                      <a:endParaRPr lang="en-US" sz="12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66928">
                <a:tc>
                  <a:txBody>
                    <a:bodyPr/>
                    <a:lstStyle/>
                    <a:p>
                      <a:pPr marL="0" indent="0" algn="l">
                        <a:buNone/>
                      </a:pPr>
                      <a:r>
                        <a:rPr lang="en-US" sz="1200" b="1" dirty="0">
                          <a:solidFill>
                            <a:srgbClr val="1F4E79"/>
                          </a:solidFill>
                          <a:latin typeface="Calibri" pitchFamily="34" charset="0"/>
                          <a:ea typeface="Calibri" pitchFamily="34" charset="-122"/>
                          <a:cs typeface="Calibri" pitchFamily="34" charset="-120"/>
                        </a:rPr>
                        <a:t>Accountability</a:t>
                      </a:r>
                      <a:endParaRPr lang="en-US" sz="12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200" dirty="0">
                          <a:solidFill>
                            <a:srgbClr val="262626"/>
                          </a:solidFill>
                          <a:latin typeface="Calibri" pitchFamily="34" charset="0"/>
                          <a:ea typeface="Calibri" pitchFamily="34" charset="-122"/>
                          <a:cs typeface="Calibri" pitchFamily="34" charset="-120"/>
                        </a:rPr>
                        <a:t>A named owner for what happens when an alert is missed or data is misused</a:t>
                      </a:r>
                      <a:endParaRPr lang="en-US" sz="12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66928">
                <a:tc>
                  <a:txBody>
                    <a:bodyPr/>
                    <a:lstStyle/>
                    <a:p>
                      <a:pPr marL="0" indent="0" algn="l">
                        <a:buNone/>
                      </a:pPr>
                      <a:r>
                        <a:rPr lang="en-US" sz="1200" b="1" dirty="0">
                          <a:solidFill>
                            <a:srgbClr val="1F4E79"/>
                          </a:solidFill>
                          <a:latin typeface="Calibri" pitchFamily="34" charset="0"/>
                          <a:ea typeface="Calibri" pitchFamily="34" charset="-122"/>
                          <a:cs typeface="Calibri" pitchFamily="34" charset="-120"/>
                        </a:rPr>
                        <a:t>Governability</a:t>
                      </a:r>
                      <a:endParaRPr lang="en-US" sz="12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200" dirty="0">
                          <a:solidFill>
                            <a:srgbClr val="262626"/>
                          </a:solidFill>
                          <a:latin typeface="Calibri" pitchFamily="34" charset="0"/>
                          <a:ea typeface="Calibri" pitchFamily="34" charset="-122"/>
                          <a:cs typeface="Calibri" pitchFamily="34" charset="-120"/>
                        </a:rPr>
                        <a:t>Ability to pause, correct, or retire the system, including a plan if the company shuts down</a:t>
                      </a:r>
                      <a:endParaRPr lang="en-US" sz="12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5" name="Text 2"/>
          <p:cNvSpPr txBox="1"/>
          <p:nvPr/>
        </p:nvSpPr>
        <p:spPr>
          <a:xfrm>
            <a:off x="11368735" y="6446520"/>
            <a:ext cx="457200" cy="320040"/>
          </a:xfrm>
          <a:prstGeom prst="rect">
            <a:avLst/>
          </a:prstGeom>
          <a:noFill/>
          <a:ln/>
        </p:spPr>
        <p:txBody>
          <a:bodyPr wrap="square" lIns="0" tIns="0" rIns="0" bIns="0" rtlCol="0" anchor="ctr"/>
          <a:lstStyle/>
          <a:p>
            <a:pPr marL="0" indent="0" algn="r">
              <a:buNone/>
            </a:pPr>
            <a:r>
              <a:rPr lang="en-US" sz="1100" dirty="0">
                <a:solidFill>
                  <a:srgbClr val="8FA9C4"/>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320040"/>
            <a:ext cx="11277295" cy="640080"/>
          </a:xfrm>
          <a:prstGeom prst="rect">
            <a:avLst/>
          </a:prstGeom>
          <a:noFill/>
          <a:ln/>
        </p:spPr>
        <p:txBody>
          <a:bodyPr wrap="square" lIns="0" tIns="0" rIns="0" bIns="0" rtlCol="0" anchor="ctr"/>
          <a:lstStyle/>
          <a:p>
            <a:pPr marL="0" indent="0">
              <a:buNone/>
            </a:pPr>
            <a:r>
              <a:rPr lang="en-US" sz="2600" b="1" dirty="0">
                <a:solidFill>
                  <a:srgbClr val="1F4E79"/>
                </a:solidFill>
                <a:latin typeface="Cambria" pitchFamily="34" charset="0"/>
                <a:ea typeface="Cambria" pitchFamily="34" charset="-122"/>
                <a:cs typeface="Cambria" pitchFamily="34" charset="-120"/>
              </a:rPr>
              <a:t>Specific Benefits</a:t>
            </a:r>
            <a:endParaRPr lang="en-US" sz="2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11277295" cy="4434840"/>
        </p:xfrm>
        <a:graphic>
          <a:graphicData uri="http://schemas.openxmlformats.org/drawingml/2006/table">
            <a:tbl>
              <a:tblPr/>
              <a:tblGrid>
                <a:gridCol w="2926080">
                  <a:extLst>
                    <a:ext uri="{9D8B030D-6E8A-4147-A177-3AD203B41FA5}">
                      <a16:colId xmlns:a16="http://schemas.microsoft.com/office/drawing/2014/main" val="20000"/>
                    </a:ext>
                  </a:extLst>
                </a:gridCol>
                <a:gridCol w="8351215">
                  <a:extLst>
                    <a:ext uri="{9D8B030D-6E8A-4147-A177-3AD203B41FA5}">
                      <a16:colId xmlns:a16="http://schemas.microsoft.com/office/drawing/2014/main" val="20001"/>
                    </a:ext>
                  </a:extLst>
                </a:gridCol>
              </a:tblGrid>
              <a:tr h="411480">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Benefit</a:t>
                      </a:r>
                      <a:endParaRPr lang="en-US" sz="13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Basis</a:t>
                      </a:r>
                      <a:endParaRPr lang="en-US" sz="13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777240">
                <a:tc>
                  <a:txBody>
                    <a:bodyPr/>
                    <a:lstStyle/>
                    <a:p>
                      <a:pPr marL="0" indent="0" algn="l">
                        <a:buNone/>
                      </a:pPr>
                      <a:r>
                        <a:rPr lang="en-US" sz="1200" b="1" dirty="0">
                          <a:solidFill>
                            <a:srgbClr val="1F4E79"/>
                          </a:solidFill>
                          <a:latin typeface="Calibri" pitchFamily="34" charset="0"/>
                          <a:ea typeface="Calibri" pitchFamily="34" charset="-122"/>
                          <a:cs typeface="Calibri" pitchFamily="34" charset="-120"/>
                        </a:rPr>
                        <a:t>Better mood</a:t>
                      </a:r>
                      <a:endParaRPr lang="en-US" sz="12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200" dirty="0">
                          <a:solidFill>
                            <a:srgbClr val="262626"/>
                          </a:solidFill>
                          <a:latin typeface="Calibri" pitchFamily="34" charset="0"/>
                          <a:ea typeface="Calibri" pitchFamily="34" charset="-122"/>
                          <a:cs typeface="Calibri" pitchFamily="34" charset="-120"/>
                        </a:rPr>
                        <a:t>70% of pilot participants improved after 3 months</a:t>
                      </a:r>
                      <a:endParaRPr lang="en-US" sz="12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lgn="l">
                        <a:buNone/>
                      </a:pPr>
                      <a:r>
                        <a:rPr lang="en-US" sz="1200" b="1" dirty="0">
                          <a:solidFill>
                            <a:srgbClr val="1F4E79"/>
                          </a:solidFill>
                          <a:latin typeface="Calibri" pitchFamily="34" charset="0"/>
                          <a:ea typeface="Calibri" pitchFamily="34" charset="-122"/>
                          <a:cs typeface="Calibri" pitchFamily="34" charset="-120"/>
                        </a:rPr>
                        <a:t>Fewer emergencies</a:t>
                      </a:r>
                      <a:endParaRPr lang="en-US" sz="12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200" dirty="0">
                          <a:solidFill>
                            <a:srgbClr val="262626"/>
                          </a:solidFill>
                          <a:latin typeface="Calibri" pitchFamily="34" charset="0"/>
                          <a:ea typeface="Calibri" pitchFamily="34" charset="-122"/>
                          <a:cs typeface="Calibri" pitchFamily="34" charset="-120"/>
                        </a:rPr>
                        <a:t>20% reduction in emergency medical interventions through proactive monitoring</a:t>
                      </a:r>
                      <a:endParaRPr lang="en-US" sz="12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914400">
                <a:tc>
                  <a:txBody>
                    <a:bodyPr/>
                    <a:lstStyle/>
                    <a:p>
                      <a:pPr marL="0" indent="0" algn="l">
                        <a:buNone/>
                      </a:pPr>
                      <a:r>
                        <a:rPr lang="en-US" sz="1200" b="1" dirty="0">
                          <a:solidFill>
                            <a:srgbClr val="1F4E79"/>
                          </a:solidFill>
                          <a:latin typeface="Calibri" pitchFamily="34" charset="0"/>
                          <a:ea typeface="Calibri" pitchFamily="34" charset="-122"/>
                          <a:cs typeface="Calibri" pitchFamily="34" charset="-120"/>
                        </a:rPr>
                        <a:t>Reduced loneliness</a:t>
                      </a:r>
                      <a:endParaRPr lang="en-US" sz="12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200" dirty="0">
                          <a:solidFill>
                            <a:srgbClr val="262626"/>
                          </a:solidFill>
                          <a:latin typeface="Calibri" pitchFamily="34" charset="0"/>
                          <a:ea typeface="Calibri" pitchFamily="34" charset="-122"/>
                          <a:cs typeface="Calibri" pitchFamily="34" charset="-120"/>
                        </a:rPr>
                        <a:t>Experiments found AI companions reduced loneliness about as much as talking with another person, and more than passive activities like watching videos (De Freitas et al., 2026)</a:t>
                      </a:r>
                      <a:endParaRPr lang="en-US" sz="12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77240">
                <a:tc>
                  <a:txBody>
                    <a:bodyPr/>
                    <a:lstStyle/>
                    <a:p>
                      <a:pPr marL="0" indent="0" algn="l">
                        <a:buNone/>
                      </a:pPr>
                      <a:r>
                        <a:rPr lang="en-US" sz="1200" b="1" dirty="0">
                          <a:solidFill>
                            <a:srgbClr val="1F4E79"/>
                          </a:solidFill>
                          <a:latin typeface="Calibri" pitchFamily="34" charset="0"/>
                          <a:ea typeface="Calibri" pitchFamily="34" charset="-122"/>
                          <a:cs typeface="Calibri" pitchFamily="34" charset="-120"/>
                        </a:rPr>
                        <a:t>Daily care support</a:t>
                      </a:r>
                      <a:endParaRPr lang="en-US" sz="12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200" dirty="0">
                          <a:solidFill>
                            <a:srgbClr val="262626"/>
                          </a:solidFill>
                          <a:latin typeface="Calibri" pitchFamily="34" charset="0"/>
                          <a:ea typeface="Calibri" pitchFamily="34" charset="-122"/>
                          <a:cs typeface="Calibri" pitchFamily="34" charset="-120"/>
                        </a:rPr>
                        <a:t>Medication reminders, activity suggestions, and one-touch family contact</a:t>
                      </a:r>
                      <a:endParaRPr lang="en-US" sz="12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77240">
                <a:tc>
                  <a:txBody>
                    <a:bodyPr/>
                    <a:lstStyle/>
                    <a:p>
                      <a:pPr marL="0" indent="0" algn="l">
                        <a:buNone/>
                      </a:pPr>
                      <a:r>
                        <a:rPr lang="en-US" sz="1200" b="1" dirty="0">
                          <a:solidFill>
                            <a:srgbClr val="1F4E79"/>
                          </a:solidFill>
                          <a:latin typeface="Calibri" pitchFamily="34" charset="0"/>
                          <a:ea typeface="Calibri" pitchFamily="34" charset="-122"/>
                          <a:cs typeface="Calibri" pitchFamily="34" charset="-120"/>
                        </a:rPr>
                        <a:t>Faster clinical response</a:t>
                      </a:r>
                      <a:endParaRPr lang="en-US" sz="12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200" dirty="0">
                          <a:solidFill>
                            <a:srgbClr val="262626"/>
                          </a:solidFill>
                          <a:latin typeface="Calibri" pitchFamily="34" charset="0"/>
                          <a:ea typeface="Calibri" pitchFamily="34" charset="-122"/>
                          <a:cs typeface="Calibri" pitchFamily="34" charset="-120"/>
                        </a:rPr>
                        <a:t>A secure link lets clinicians step in when well-being declines</a:t>
                      </a:r>
                      <a:endParaRPr lang="en-US" sz="12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4" name="Text 1"/>
          <p:cNvSpPr txBox="1"/>
          <p:nvPr/>
        </p:nvSpPr>
        <p:spPr>
          <a:xfrm>
            <a:off x="11368735" y="6446520"/>
            <a:ext cx="457200" cy="320040"/>
          </a:xfrm>
          <a:prstGeom prst="rect">
            <a:avLst/>
          </a:prstGeom>
          <a:noFill/>
          <a:ln/>
        </p:spPr>
        <p:txBody>
          <a:bodyPr wrap="square" lIns="0" tIns="0" rIns="0" bIns="0" rtlCol="0" anchor="ctr"/>
          <a:lstStyle/>
          <a:p>
            <a:pPr marL="0" indent="0" algn="r">
              <a:buNone/>
            </a:pPr>
            <a:r>
              <a:rPr lang="en-US" sz="1100" dirty="0">
                <a:solidFill>
                  <a:srgbClr val="8FA9C4"/>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320040"/>
            <a:ext cx="11277295" cy="640080"/>
          </a:xfrm>
          <a:prstGeom prst="rect">
            <a:avLst/>
          </a:prstGeom>
          <a:noFill/>
          <a:ln/>
        </p:spPr>
        <p:txBody>
          <a:bodyPr wrap="square" lIns="0" tIns="0" rIns="0" bIns="0" rtlCol="0" anchor="ctr"/>
          <a:lstStyle/>
          <a:p>
            <a:pPr marL="0" indent="0">
              <a:buNone/>
            </a:pPr>
            <a:r>
              <a:rPr lang="en-US" sz="2600" b="1" dirty="0">
                <a:solidFill>
                  <a:srgbClr val="1F4E79"/>
                </a:solidFill>
                <a:latin typeface="Cambria" pitchFamily="34" charset="0"/>
                <a:ea typeface="Cambria" pitchFamily="34" charset="-122"/>
                <a:cs typeface="Cambria" pitchFamily="34" charset="-120"/>
              </a:rPr>
              <a:t>Specific Risks</a:t>
            </a:r>
            <a:endParaRPr lang="en-US" sz="2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11277295" cy="4946904"/>
        </p:xfrm>
        <a:graphic>
          <a:graphicData uri="http://schemas.openxmlformats.org/drawingml/2006/table">
            <a:tbl>
              <a:tblPr/>
              <a:tblGrid>
                <a:gridCol w="3108960">
                  <a:extLst>
                    <a:ext uri="{9D8B030D-6E8A-4147-A177-3AD203B41FA5}">
                      <a16:colId xmlns:a16="http://schemas.microsoft.com/office/drawing/2014/main" val="20000"/>
                    </a:ext>
                  </a:extLst>
                </a:gridCol>
                <a:gridCol w="8168335">
                  <a:extLst>
                    <a:ext uri="{9D8B030D-6E8A-4147-A177-3AD203B41FA5}">
                      <a16:colId xmlns:a16="http://schemas.microsoft.com/office/drawing/2014/main" val="20001"/>
                    </a:ext>
                  </a:extLst>
                </a:gridCol>
              </a:tblGrid>
              <a:tr h="411480">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Risk</a:t>
                      </a:r>
                      <a:endParaRPr lang="en-US" sz="13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Why it matters</a:t>
                      </a:r>
                      <a:endParaRPr lang="en-US" sz="13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749808">
                <a:tc>
                  <a:txBody>
                    <a:bodyPr/>
                    <a:lstStyle/>
                    <a:p>
                      <a:pPr marL="0" indent="0" algn="l">
                        <a:buNone/>
                      </a:pPr>
                      <a:r>
                        <a:rPr lang="en-US" sz="1200" b="1" dirty="0">
                          <a:solidFill>
                            <a:srgbClr val="1F4E79"/>
                          </a:solidFill>
                          <a:latin typeface="Calibri" pitchFamily="34" charset="0"/>
                          <a:ea typeface="Calibri" pitchFamily="34" charset="-122"/>
                          <a:cs typeface="Calibri" pitchFamily="34" charset="-120"/>
                        </a:rPr>
                        <a:t>Substituting for human contact</a:t>
                      </a:r>
                      <a:endParaRPr lang="en-US" sz="12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200" dirty="0">
                          <a:solidFill>
                            <a:srgbClr val="262626"/>
                          </a:solidFill>
                          <a:latin typeface="Calibri" pitchFamily="34" charset="0"/>
                          <a:ea typeface="Calibri" pitchFamily="34" charset="-122"/>
                          <a:cs typeface="Calibri" pitchFamily="34" charset="-120"/>
                        </a:rPr>
                        <a:t>Caregivers report families visiting less because they assume Elara meets the emotional need; reduced human contact is the first concern Sharkey and Sharkey (2012) raise</a:t>
                      </a:r>
                      <a:endParaRPr lang="en-US" sz="12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l">
                        <a:buNone/>
                      </a:pPr>
                      <a:r>
                        <a:rPr lang="en-US" sz="1200" b="1" dirty="0">
                          <a:solidFill>
                            <a:srgbClr val="1F4E79"/>
                          </a:solidFill>
                          <a:latin typeface="Calibri" pitchFamily="34" charset="0"/>
                          <a:ea typeface="Calibri" pitchFamily="34" charset="-122"/>
                          <a:cs typeface="Calibri" pitchFamily="34" charset="-120"/>
                        </a:rPr>
                        <a:t>Overdependence</a:t>
                      </a:r>
                      <a:endParaRPr lang="en-US" sz="12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200" dirty="0">
                          <a:solidFill>
                            <a:srgbClr val="262626"/>
                          </a:solidFill>
                          <a:latin typeface="Calibri" pitchFamily="34" charset="0"/>
                          <a:ea typeface="Calibri" pitchFamily="34" charset="-122"/>
                          <a:cs typeface="Calibri" pitchFamily="34" charset="-120"/>
                        </a:rPr>
                        <a:t>A short-term comfort can become a permanent replacement</a:t>
                      </a:r>
                      <a:endParaRPr lang="en-US" sz="12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marL="0" indent="0" algn="l">
                        <a:buNone/>
                      </a:pPr>
                      <a:r>
                        <a:rPr lang="en-US" sz="1200" b="1" dirty="0">
                          <a:solidFill>
                            <a:srgbClr val="1F4E79"/>
                          </a:solidFill>
                          <a:latin typeface="Calibri" pitchFamily="34" charset="0"/>
                          <a:ea typeface="Calibri" pitchFamily="34" charset="-122"/>
                          <a:cs typeface="Calibri" pitchFamily="34" charset="-120"/>
                        </a:rPr>
                        <a:t>Privacy and loss of liberty</a:t>
                      </a:r>
                      <a:endParaRPr lang="en-US" sz="12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200" dirty="0">
                          <a:solidFill>
                            <a:srgbClr val="262626"/>
                          </a:solidFill>
                          <a:latin typeface="Calibri" pitchFamily="34" charset="0"/>
                          <a:ea typeface="Calibri" pitchFamily="34" charset="-122"/>
                          <a:cs typeface="Calibri" pitchFamily="34" charset="-120"/>
                        </a:rPr>
                        <a:t>Continuous monitoring and emotional data collection erode autonomy</a:t>
                      </a:r>
                      <a:endParaRPr lang="en-US" sz="12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40080">
                <a:tc>
                  <a:txBody>
                    <a:bodyPr/>
                    <a:lstStyle/>
                    <a:p>
                      <a:pPr marL="0" indent="0" algn="l">
                        <a:buNone/>
                      </a:pPr>
                      <a:r>
                        <a:rPr lang="en-US" sz="1200" b="1" dirty="0">
                          <a:solidFill>
                            <a:srgbClr val="1F4E79"/>
                          </a:solidFill>
                          <a:latin typeface="Calibri" pitchFamily="34" charset="0"/>
                          <a:ea typeface="Calibri" pitchFamily="34" charset="-122"/>
                          <a:cs typeface="Calibri" pitchFamily="34" charset="-120"/>
                        </a:rPr>
                        <a:t>Deception and infantilization</a:t>
                      </a:r>
                      <a:endParaRPr lang="en-US" sz="12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200" dirty="0">
                          <a:solidFill>
                            <a:srgbClr val="262626"/>
                          </a:solidFill>
                          <a:latin typeface="Calibri" pitchFamily="34" charset="0"/>
                          <a:ea typeface="Calibri" pitchFamily="34" charset="-122"/>
                          <a:cs typeface="Calibri" pitchFamily="34" charset="-120"/>
                        </a:rPr>
                        <a:t>Vulnerable users, especially those with cognitive decline, may believe Elara truly cares</a:t>
                      </a:r>
                      <a:endParaRPr lang="en-US" sz="12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48640">
                <a:tc>
                  <a:txBody>
                    <a:bodyPr/>
                    <a:lstStyle/>
                    <a:p>
                      <a:pPr marL="0" indent="0" algn="l">
                        <a:buNone/>
                      </a:pPr>
                      <a:r>
                        <a:rPr lang="en-US" sz="1200" b="1" dirty="0">
                          <a:solidFill>
                            <a:srgbClr val="1F4E79"/>
                          </a:solidFill>
                          <a:latin typeface="Calibri" pitchFamily="34" charset="0"/>
                          <a:ea typeface="Calibri" pitchFamily="34" charset="-122"/>
                          <a:cs typeface="Calibri" pitchFamily="34" charset="-120"/>
                        </a:rPr>
                        <a:t>Weak consent</a:t>
                      </a:r>
                      <a:endParaRPr lang="en-US" sz="12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200" dirty="0">
                          <a:solidFill>
                            <a:srgbClr val="262626"/>
                          </a:solidFill>
                          <a:latin typeface="Calibri" pitchFamily="34" charset="0"/>
                          <a:ea typeface="Calibri" pitchFamily="34" charset="-122"/>
                          <a:cs typeface="Calibri" pitchFamily="34" charset="-120"/>
                        </a:rPr>
                        <a:t>Residents may not be able to understand or refuse monitoring</a:t>
                      </a:r>
                      <a:endParaRPr lang="en-US" sz="12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749808">
                <a:tc>
                  <a:txBody>
                    <a:bodyPr/>
                    <a:lstStyle/>
                    <a:p>
                      <a:pPr marL="0" indent="0" algn="l">
                        <a:buNone/>
                      </a:pPr>
                      <a:r>
                        <a:rPr lang="en-US" sz="1200" b="1" dirty="0">
                          <a:solidFill>
                            <a:srgbClr val="1F4E79"/>
                          </a:solidFill>
                          <a:latin typeface="Calibri" pitchFamily="34" charset="0"/>
                          <a:ea typeface="Calibri" pitchFamily="34" charset="-122"/>
                          <a:cs typeface="Calibri" pitchFamily="34" charset="-120"/>
                        </a:rPr>
                        <a:t>Abandonment</a:t>
                      </a:r>
                      <a:endParaRPr lang="en-US" sz="12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200" dirty="0">
                          <a:solidFill>
                            <a:srgbClr val="262626"/>
                          </a:solidFill>
                          <a:latin typeface="Calibri" pitchFamily="34" charset="0"/>
                          <a:ea typeface="Calibri" pitchFamily="34" charset="-122"/>
                          <a:cs typeface="Calibri" pitchFamily="34" charset="-120"/>
                        </a:rPr>
                        <a:t>If a startup folds or disables the device, attached users lose support, as in the emotional support robot case from earlier in this course</a:t>
                      </a:r>
                      <a:endParaRPr lang="en-US" sz="12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749808">
                <a:tc>
                  <a:txBody>
                    <a:bodyPr/>
                    <a:lstStyle/>
                    <a:p>
                      <a:pPr marL="0" indent="0" algn="l">
                        <a:buNone/>
                      </a:pPr>
                      <a:r>
                        <a:rPr lang="en-US" sz="1200" b="1" dirty="0">
                          <a:solidFill>
                            <a:srgbClr val="1F4E79"/>
                          </a:solidFill>
                          <a:latin typeface="Calibri" pitchFamily="34" charset="0"/>
                          <a:ea typeface="Calibri" pitchFamily="34" charset="-122"/>
                          <a:cs typeface="Calibri" pitchFamily="34" charset="-120"/>
                        </a:rPr>
                        <a:t>Limited evidence</a:t>
                      </a:r>
                      <a:endParaRPr lang="en-US" sz="12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200" dirty="0">
                          <a:solidFill>
                            <a:srgbClr val="262626"/>
                          </a:solidFill>
                          <a:latin typeface="Calibri" pitchFamily="34" charset="0"/>
                          <a:ea typeface="Calibri" pitchFamily="34" charset="-122"/>
                          <a:cs typeface="Calibri" pitchFamily="34" charset="-120"/>
                        </a:rPr>
                        <a:t>Loneliness effects were measured over a day and a week, and the pilot results are early with no comparison group described</a:t>
                      </a:r>
                      <a:endParaRPr lang="en-US" sz="12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4" name="Text 1"/>
          <p:cNvSpPr txBox="1"/>
          <p:nvPr/>
        </p:nvSpPr>
        <p:spPr>
          <a:xfrm>
            <a:off x="11368735" y="6446520"/>
            <a:ext cx="457200" cy="320040"/>
          </a:xfrm>
          <a:prstGeom prst="rect">
            <a:avLst/>
          </a:prstGeom>
          <a:noFill/>
          <a:ln/>
        </p:spPr>
        <p:txBody>
          <a:bodyPr wrap="square" lIns="0" tIns="0" rIns="0" bIns="0" rtlCol="0" anchor="ctr"/>
          <a:lstStyle/>
          <a:p>
            <a:pPr marL="0" indent="0" algn="r">
              <a:buNone/>
            </a:pPr>
            <a:r>
              <a:rPr lang="en-US" sz="1100" dirty="0">
                <a:solidFill>
                  <a:srgbClr val="8FA9C4"/>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320040"/>
            <a:ext cx="11277295" cy="640080"/>
          </a:xfrm>
          <a:prstGeom prst="rect">
            <a:avLst/>
          </a:prstGeom>
          <a:noFill/>
          <a:ln/>
        </p:spPr>
        <p:txBody>
          <a:bodyPr wrap="square" lIns="0" tIns="0" rIns="0" bIns="0" rtlCol="0" anchor="ctr"/>
          <a:lstStyle/>
          <a:p>
            <a:pPr marL="0" indent="0">
              <a:buNone/>
            </a:pPr>
            <a:r>
              <a:rPr lang="en-US" sz="2600" b="1" dirty="0">
                <a:solidFill>
                  <a:srgbClr val="1F4E79"/>
                </a:solidFill>
                <a:latin typeface="Cambria" pitchFamily="34" charset="0"/>
                <a:ea typeface="Cambria" pitchFamily="34" charset="-122"/>
                <a:cs typeface="Cambria" pitchFamily="34" charset="-120"/>
              </a:rPr>
              <a:t>Recommended Way Forward</a:t>
            </a:r>
            <a:endParaRPr lang="en-US" sz="2600" dirty="0"/>
          </a:p>
        </p:txBody>
      </p:sp>
      <p:sp>
        <p:nvSpPr>
          <p:cNvPr id="3" name="Text 1"/>
          <p:cNvSpPr txBox="1"/>
          <p:nvPr/>
        </p:nvSpPr>
        <p:spPr>
          <a:xfrm>
            <a:off x="457200" y="914400"/>
            <a:ext cx="11277295" cy="320040"/>
          </a:xfrm>
          <a:prstGeom prst="rect">
            <a:avLst/>
          </a:prstGeom>
          <a:noFill/>
          <a:ln/>
        </p:spPr>
        <p:txBody>
          <a:bodyPr wrap="square" lIns="0" tIns="0" rIns="0" bIns="0" rtlCol="0" anchor="ctr"/>
          <a:lstStyle/>
          <a:p>
            <a:pPr marL="0" indent="0">
              <a:buNone/>
            </a:pPr>
            <a:r>
              <a:rPr lang="en-US" sz="1250" i="1" dirty="0">
                <a:solidFill>
                  <a:srgbClr val="2E75B6"/>
                </a:solidFill>
                <a:latin typeface="Calibri" pitchFamily="34" charset="0"/>
                <a:ea typeface="Calibri" pitchFamily="34" charset="-122"/>
                <a:cs typeface="Calibri" pitchFamily="34" charset="-120"/>
              </a:rPr>
              <a:t>Expand in a limited, guarded way: Elara as a bridge to people, not a replacement. Numeric thresholds are proposed targets</a:t>
            </a:r>
            <a:endParaRPr lang="en-US" sz="12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77295" cy="4471416"/>
        </p:xfrm>
        <a:graphic>
          <a:graphicData uri="http://schemas.openxmlformats.org/drawingml/2006/table">
            <a:tbl>
              <a:tblPr/>
              <a:tblGrid>
                <a:gridCol w="2743200">
                  <a:extLst>
                    <a:ext uri="{9D8B030D-6E8A-4147-A177-3AD203B41FA5}">
                      <a16:colId xmlns:a16="http://schemas.microsoft.com/office/drawing/2014/main" val="20000"/>
                    </a:ext>
                  </a:extLst>
                </a:gridCol>
                <a:gridCol w="8534095">
                  <a:extLst>
                    <a:ext uri="{9D8B030D-6E8A-4147-A177-3AD203B41FA5}">
                      <a16:colId xmlns:a16="http://schemas.microsoft.com/office/drawing/2014/main" val="20001"/>
                    </a:ext>
                  </a:extLst>
                </a:gridCol>
              </a:tblGrid>
              <a:tr h="411480">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Element</a:t>
                      </a:r>
                      <a:endParaRPr lang="en-US" sz="130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What CompanionAI does</a:t>
                      </a:r>
                      <a:endParaRPr lang="en-US" sz="130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603504">
                <a:tc>
                  <a:txBody>
                    <a:bodyPr/>
                    <a:lstStyle/>
                    <a:p>
                      <a:pPr marL="0" indent="0" algn="l">
                        <a:buNone/>
                      </a:pPr>
                      <a:r>
                        <a:rPr lang="en-US" sz="1150" b="1" dirty="0">
                          <a:solidFill>
                            <a:srgbClr val="1F4E79"/>
                          </a:solidFill>
                          <a:latin typeface="Calibri" pitchFamily="34" charset="0"/>
                          <a:ea typeface="Calibri" pitchFamily="34" charset="-122"/>
                          <a:cs typeface="Calibri" pitchFamily="34" charset="-120"/>
                        </a:rPr>
                        <a:t>Keep humans in the loop</a:t>
                      </a:r>
                      <a:endParaRPr lang="en-US" sz="11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150" dirty="0">
                          <a:solidFill>
                            <a:srgbClr val="262626"/>
                          </a:solidFill>
                          <a:latin typeface="Calibri" pitchFamily="34" charset="0"/>
                          <a:ea typeface="Calibri" pitchFamily="34" charset="-122"/>
                          <a:cs typeface="Calibri" pitchFamily="34" charset="-120"/>
                        </a:rPr>
                        <a:t>Elara prompts and schedules family and caregiver contact; if family visits or calls drop more than 25% from baseline over 4 weeks, the care team is alerted</a:t>
                      </a:r>
                      <a:endParaRPr lang="en-US" sz="11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l">
                        <a:buNone/>
                      </a:pPr>
                      <a:r>
                        <a:rPr lang="en-US" sz="1150" b="1" dirty="0">
                          <a:solidFill>
                            <a:srgbClr val="1F4E79"/>
                          </a:solidFill>
                          <a:latin typeface="Calibri" pitchFamily="34" charset="0"/>
                          <a:ea typeface="Calibri" pitchFamily="34" charset="-122"/>
                          <a:cs typeface="Calibri" pitchFamily="34" charset="-120"/>
                        </a:rPr>
                        <a:t>Honest design</a:t>
                      </a:r>
                      <a:endParaRPr lang="en-US" sz="11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150" dirty="0">
                          <a:solidFill>
                            <a:srgbClr val="262626"/>
                          </a:solidFill>
                          <a:latin typeface="Calibri" pitchFamily="34" charset="0"/>
                          <a:ea typeface="Calibri" pitchFamily="34" charset="-122"/>
                          <a:cs typeface="Calibri" pitchFamily="34" charset="-120"/>
                        </a:rPr>
                        <a:t>Elara states it is an AI at setup and in regular reminders, and never claims feelings it does not have</a:t>
                      </a:r>
                      <a:endParaRPr lang="en-US" sz="11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03504">
                <a:tc>
                  <a:txBody>
                    <a:bodyPr/>
                    <a:lstStyle/>
                    <a:p>
                      <a:pPr marL="0" indent="0" algn="l">
                        <a:buNone/>
                      </a:pPr>
                      <a:r>
                        <a:rPr lang="en-US" sz="1150" b="1" dirty="0">
                          <a:solidFill>
                            <a:srgbClr val="1F4E79"/>
                          </a:solidFill>
                          <a:latin typeface="Calibri" pitchFamily="34" charset="0"/>
                          <a:ea typeface="Calibri" pitchFamily="34" charset="-122"/>
                          <a:cs typeface="Calibri" pitchFamily="34" charset="-120"/>
                        </a:rPr>
                        <a:t>Real consent</a:t>
                      </a:r>
                      <a:endParaRPr lang="en-US" sz="11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150" dirty="0">
                          <a:solidFill>
                            <a:srgbClr val="262626"/>
                          </a:solidFill>
                          <a:latin typeface="Calibri" pitchFamily="34" charset="0"/>
                          <a:ea typeface="Calibri" pitchFamily="34" charset="-122"/>
                          <a:cs typeface="Calibri" pitchFamily="34" charset="-120"/>
                        </a:rPr>
                        <a:t>Plain-language consent from the resident and family or guardian, with a capacity check for residents with cognitive impairment; residents can pause monitoring</a:t>
                      </a:r>
                      <a:endParaRPr lang="en-US" sz="11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l">
                        <a:buNone/>
                      </a:pPr>
                      <a:r>
                        <a:rPr lang="en-US" sz="1150" b="1" dirty="0">
                          <a:solidFill>
                            <a:srgbClr val="1F4E79"/>
                          </a:solidFill>
                          <a:latin typeface="Calibri" pitchFamily="34" charset="0"/>
                          <a:ea typeface="Calibri" pitchFamily="34" charset="-122"/>
                          <a:cs typeface="Calibri" pitchFamily="34" charset="-120"/>
                        </a:rPr>
                        <a:t>Data minimization</a:t>
                      </a:r>
                      <a:endParaRPr lang="en-US" sz="11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150" dirty="0">
                          <a:solidFill>
                            <a:srgbClr val="262626"/>
                          </a:solidFill>
                          <a:latin typeface="Calibri" pitchFamily="34" charset="0"/>
                          <a:ea typeface="Calibri" pitchFamily="34" charset="-122"/>
                          <a:cs typeface="Calibri" pitchFamily="34" charset="-120"/>
                        </a:rPr>
                        <a:t>Clinicians see summaries and alerts, not transcripts; raw conversations are deleted after 90 days</a:t>
                      </a:r>
                      <a:endParaRPr lang="en-US" sz="11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48640">
                <a:tc>
                  <a:txBody>
                    <a:bodyPr/>
                    <a:lstStyle/>
                    <a:p>
                      <a:pPr marL="0" indent="0" algn="l">
                        <a:buNone/>
                      </a:pPr>
                      <a:r>
                        <a:rPr lang="en-US" sz="1150" b="1" dirty="0">
                          <a:solidFill>
                            <a:srgbClr val="1F4E79"/>
                          </a:solidFill>
                          <a:latin typeface="Calibri" pitchFamily="34" charset="0"/>
                          <a:ea typeface="Calibri" pitchFamily="34" charset="-122"/>
                          <a:cs typeface="Calibri" pitchFamily="34" charset="-120"/>
                        </a:rPr>
                        <a:t>Dependency watch</a:t>
                      </a:r>
                      <a:endParaRPr lang="en-US" sz="11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150" dirty="0">
                          <a:solidFill>
                            <a:srgbClr val="262626"/>
                          </a:solidFill>
                          <a:latin typeface="Calibri" pitchFamily="34" charset="0"/>
                          <a:ea typeface="Calibri" pitchFamily="34" charset="-122"/>
                          <a:cs typeface="Calibri" pitchFamily="34" charset="-120"/>
                        </a:rPr>
                        <a:t>Flag use above 4 hours a day or use that replaces scheduled activities; a clinician reviews flagged cases</a:t>
                      </a:r>
                      <a:endParaRPr lang="en-US" sz="11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03504">
                <a:tc>
                  <a:txBody>
                    <a:bodyPr/>
                    <a:lstStyle/>
                    <a:p>
                      <a:pPr marL="0" indent="0" algn="l">
                        <a:buNone/>
                      </a:pPr>
                      <a:r>
                        <a:rPr lang="en-US" sz="1150" b="1" dirty="0">
                          <a:solidFill>
                            <a:srgbClr val="1F4E79"/>
                          </a:solidFill>
                          <a:latin typeface="Calibri" pitchFamily="34" charset="0"/>
                          <a:ea typeface="Calibri" pitchFamily="34" charset="-122"/>
                          <a:cs typeface="Calibri" pitchFamily="34" charset="-120"/>
                        </a:rPr>
                        <a:t>Evidence before scale</a:t>
                      </a:r>
                      <a:endParaRPr lang="en-US" sz="11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150" dirty="0">
                          <a:solidFill>
                            <a:srgbClr val="262626"/>
                          </a:solidFill>
                          <a:latin typeface="Calibri" pitchFamily="34" charset="0"/>
                          <a:ea typeface="Calibri" pitchFamily="34" charset="-122"/>
                          <a:cs typeface="Calibri" pitchFamily="34" charset="-120"/>
                        </a:rPr>
                        <a:t>12-month study with a comparison group, measuring loneliness and human contact, reviewed by an independent ethics board</a:t>
                      </a:r>
                      <a:endParaRPr lang="en-US" sz="11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603504">
                <a:tc>
                  <a:txBody>
                    <a:bodyPr/>
                    <a:lstStyle/>
                    <a:p>
                      <a:pPr marL="0" indent="0" algn="l">
                        <a:buNone/>
                      </a:pPr>
                      <a:r>
                        <a:rPr lang="en-US" sz="1150" b="1" dirty="0">
                          <a:solidFill>
                            <a:srgbClr val="1F4E79"/>
                          </a:solidFill>
                          <a:latin typeface="Calibri" pitchFamily="34" charset="0"/>
                          <a:ea typeface="Calibri" pitchFamily="34" charset="-122"/>
                          <a:cs typeface="Calibri" pitchFamily="34" charset="-120"/>
                        </a:rPr>
                        <a:t>Continuity commitment</a:t>
                      </a:r>
                      <a:endParaRPr lang="en-US" sz="11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150" dirty="0">
                          <a:solidFill>
                            <a:srgbClr val="262626"/>
                          </a:solidFill>
                          <a:latin typeface="Calibri" pitchFamily="34" charset="0"/>
                          <a:ea typeface="Calibri" pitchFamily="34" charset="-122"/>
                          <a:cs typeface="Calibri" pitchFamily="34" charset="-120"/>
                        </a:rPr>
                        <a:t>Contractual plan for service continuity, or a funded transition and data export, if CompanionAI ends support</a:t>
                      </a:r>
                      <a:endParaRPr lang="en-US" sz="115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5" name="Text 2"/>
          <p:cNvSpPr txBox="1"/>
          <p:nvPr/>
        </p:nvSpPr>
        <p:spPr>
          <a:xfrm>
            <a:off x="11368735" y="6446520"/>
            <a:ext cx="457200" cy="320040"/>
          </a:xfrm>
          <a:prstGeom prst="rect">
            <a:avLst/>
          </a:prstGeom>
          <a:noFill/>
          <a:ln/>
        </p:spPr>
        <p:txBody>
          <a:bodyPr wrap="square" lIns="0" tIns="0" rIns="0" bIns="0" rtlCol="0" anchor="ctr"/>
          <a:lstStyle/>
          <a:p>
            <a:pPr marL="0" indent="0" algn="r">
              <a:buNone/>
            </a:pPr>
            <a:r>
              <a:rPr lang="en-US" sz="1100" dirty="0">
                <a:solidFill>
                  <a:srgbClr val="8FA9C4"/>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320040"/>
            <a:ext cx="11277295" cy="640080"/>
          </a:xfrm>
          <a:prstGeom prst="rect">
            <a:avLst/>
          </a:prstGeom>
          <a:noFill/>
          <a:ln/>
        </p:spPr>
        <p:txBody>
          <a:bodyPr wrap="square" lIns="0" tIns="0" rIns="0" bIns="0" rtlCol="0" anchor="ctr"/>
          <a:lstStyle/>
          <a:p>
            <a:pPr marL="0" indent="0">
              <a:buNone/>
            </a:pPr>
            <a:r>
              <a:rPr lang="en-US" sz="2600" b="1" dirty="0">
                <a:solidFill>
                  <a:srgbClr val="1F4E79"/>
                </a:solidFill>
                <a:latin typeface="Cambria" pitchFamily="34" charset="0"/>
                <a:ea typeface="Cambria" pitchFamily="34" charset="-122"/>
                <a:cs typeface="Cambria" pitchFamily="34" charset="-120"/>
              </a:rPr>
              <a:t>Justification for the Recommendation</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11277295" cy="4526280"/>
        </p:xfrm>
        <a:graphic>
          <a:graphicData uri="http://schemas.openxmlformats.org/drawingml/2006/table">
            <a:tbl>
              <a:tblPr/>
              <a:tblGrid>
                <a:gridCol w="2926080">
                  <a:extLst>
                    <a:ext uri="{9D8B030D-6E8A-4147-A177-3AD203B41FA5}">
                      <a16:colId xmlns:a16="http://schemas.microsoft.com/office/drawing/2014/main" val="20000"/>
                    </a:ext>
                  </a:extLst>
                </a:gridCol>
                <a:gridCol w="8351215">
                  <a:extLst>
                    <a:ext uri="{9D8B030D-6E8A-4147-A177-3AD203B41FA5}">
                      <a16:colId xmlns:a16="http://schemas.microsoft.com/office/drawing/2014/main" val="20001"/>
                    </a:ext>
                  </a:extLst>
                </a:gridCol>
              </a:tblGrid>
              <a:tr h="411480">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Basis</a:t>
                      </a:r>
                      <a:endParaRPr lang="en-US" sz="13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Why it supports a guarded expansion</a:t>
                      </a:r>
                      <a:endParaRPr lang="en-US" sz="1350" dirty="0">
                        <a:latin typeface="Calibri" charset="0"/>
                        <a:ea typeface="Calibri" charset="0"/>
                        <a:cs typeface="Calibri" charset="0"/>
                      </a:endParaRPr>
                    </a:p>
                  </a:txBody>
                  <a:tcPr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1097280">
                <a:tc>
                  <a:txBody>
                    <a:bodyPr/>
                    <a:lstStyle/>
                    <a:p>
                      <a:pPr marL="0" indent="0" algn="l">
                        <a:buNone/>
                      </a:pPr>
                      <a:r>
                        <a:rPr lang="en-US" sz="1200" b="1" dirty="0">
                          <a:solidFill>
                            <a:srgbClr val="1F4E79"/>
                          </a:solidFill>
                          <a:latin typeface="Calibri" pitchFamily="34" charset="0"/>
                          <a:ea typeface="Calibri" pitchFamily="34" charset="-122"/>
                          <a:cs typeface="Calibri" pitchFamily="34" charset="-120"/>
                        </a:rPr>
                        <a:t>De Freitas et al. (2026)</a:t>
                      </a:r>
                      <a:endParaRPr lang="en-US" sz="12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200" dirty="0">
                          <a:solidFill>
                            <a:srgbClr val="262626"/>
                          </a:solidFill>
                          <a:latin typeface="Calibri" pitchFamily="34" charset="0"/>
                          <a:ea typeface="Calibri" pitchFamily="34" charset="-122"/>
                          <a:cs typeface="Calibri" pitchFamily="34" charset="-120"/>
                        </a:rPr>
                        <a:t>AI companions can relieve loneliness about as well as human interaction over a day and a week, and the effect is stronger when users feel heard. That supports keeping Elara as a supplement for people who are isolated now, while showing the evidence is short-term</a:t>
                      </a:r>
                      <a:endParaRPr lang="en-US" sz="12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371600">
                <a:tc>
                  <a:txBody>
                    <a:bodyPr/>
                    <a:lstStyle/>
                    <a:p>
                      <a:pPr marL="0" indent="0" algn="l">
                        <a:buNone/>
                      </a:pPr>
                      <a:r>
                        <a:rPr lang="en-US" sz="1200" b="1" dirty="0">
                          <a:solidFill>
                            <a:srgbClr val="1F4E79"/>
                          </a:solidFill>
                          <a:latin typeface="Calibri" pitchFamily="34" charset="0"/>
                          <a:ea typeface="Calibri" pitchFamily="34" charset="-122"/>
                          <a:cs typeface="Calibri" pitchFamily="34" charset="-120"/>
                        </a:rPr>
                        <a:t>Sharkey and Sharkey (2012)</a:t>
                      </a:r>
                      <a:endParaRPr lang="en-US" sz="12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200" dirty="0">
                          <a:solidFill>
                            <a:srgbClr val="262626"/>
                          </a:solidFill>
                          <a:latin typeface="Calibri" pitchFamily="34" charset="0"/>
                          <a:ea typeface="Calibri" pitchFamily="34" charset="-122"/>
                          <a:cs typeface="Calibri" pitchFamily="34" charset="-120"/>
                        </a:rPr>
                        <a:t>They identify six ethical concerns with elder-care robots: less human contact, objectification and loss of control, loss of privacy, loss of liberty, deception and infantilization, and who controls the robot. They conclude robots can improve elderly lives if introduced with foresight and careful guidelines. Most elements on the previous slide respond directly to these concerns</a:t>
                      </a:r>
                      <a:endParaRPr lang="en-US" sz="12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68680">
                <a:tc>
                  <a:txBody>
                    <a:bodyPr/>
                    <a:lstStyle/>
                    <a:p>
                      <a:pPr marL="0" indent="0" algn="l">
                        <a:buNone/>
                      </a:pPr>
                      <a:r>
                        <a:rPr lang="en-US" sz="1200" b="1" dirty="0">
                          <a:solidFill>
                            <a:srgbClr val="1F4E79"/>
                          </a:solidFill>
                          <a:latin typeface="Calibri" pitchFamily="34" charset="0"/>
                          <a:ea typeface="Calibri" pitchFamily="34" charset="-122"/>
                          <a:cs typeface="Calibri" pitchFamily="34" charset="-120"/>
                        </a:rPr>
                        <a:t>The case itself</a:t>
                      </a:r>
                      <a:endParaRPr lang="en-US" sz="12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200" dirty="0">
                          <a:solidFill>
                            <a:srgbClr val="262626"/>
                          </a:solidFill>
                          <a:latin typeface="Calibri" pitchFamily="34" charset="0"/>
                          <a:ea typeface="Calibri" pitchFamily="34" charset="-122"/>
                          <a:cs typeface="Calibri" pitchFamily="34" charset="-120"/>
                        </a:rPr>
                        <a:t>Early warning signs are already visible: families are visiting less, and the benefit that makes Elara appealing is the same thing that makes substitution likely</a:t>
                      </a:r>
                      <a:endParaRPr lang="en-US" sz="12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77240">
                <a:tc>
                  <a:txBody>
                    <a:bodyPr/>
                    <a:lstStyle/>
                    <a:p>
                      <a:pPr marL="0" indent="0" algn="l">
                        <a:buNone/>
                      </a:pPr>
                      <a:r>
                        <a:rPr lang="en-US" sz="1200" b="1" dirty="0">
                          <a:solidFill>
                            <a:srgbClr val="1F4E79"/>
                          </a:solidFill>
                          <a:latin typeface="Calibri" pitchFamily="34" charset="0"/>
                          <a:ea typeface="Calibri" pitchFamily="34" charset="-122"/>
                          <a:cs typeface="Calibri" pitchFamily="34" charset="-120"/>
                        </a:rPr>
                        <a:t>Expansion gates (proposed)</a:t>
                      </a:r>
                      <a:endParaRPr lang="en-US" sz="12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F7"/>
                    </a:solidFill>
                  </a:tcPr>
                </a:tc>
                <a:tc>
                  <a:txBody>
                    <a:bodyPr/>
                    <a:lstStyle/>
                    <a:p>
                      <a:pPr marL="0" indent="0" algn="l">
                        <a:buNone/>
                      </a:pPr>
                      <a:r>
                        <a:rPr lang="en-US" sz="1200" dirty="0">
                          <a:solidFill>
                            <a:srgbClr val="262626"/>
                          </a:solidFill>
                          <a:latin typeface="Calibri" pitchFamily="34" charset="0"/>
                          <a:ea typeface="Calibri" pitchFamily="34" charset="-122"/>
                          <a:cs typeface="Calibri" pitchFamily="34" charset="-120"/>
                        </a:rPr>
                        <a:t>Mood benefit holds against the comparison group, human contact falls no more than 10%, and there is no unresolved privacy incident</a:t>
                      </a:r>
                      <a:endParaRPr lang="en-US" sz="1200" dirty="0">
                        <a:latin typeface="Calibri" charset="0"/>
                        <a:ea typeface="Calibri" charset="0"/>
                        <a:cs typeface="Calibri" charset="0"/>
                      </a:endParaRPr>
                    </a:p>
                  </a:txBody>
                  <a:tcP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4" name="Text 1"/>
          <p:cNvSpPr txBox="1"/>
          <p:nvPr/>
        </p:nvSpPr>
        <p:spPr>
          <a:xfrm>
            <a:off x="11368735" y="6446520"/>
            <a:ext cx="457200" cy="320040"/>
          </a:xfrm>
          <a:prstGeom prst="rect">
            <a:avLst/>
          </a:prstGeom>
          <a:noFill/>
          <a:ln/>
        </p:spPr>
        <p:txBody>
          <a:bodyPr wrap="square" lIns="0" tIns="0" rIns="0" bIns="0" rtlCol="0" anchor="ctr"/>
          <a:lstStyle/>
          <a:p>
            <a:pPr marL="0" indent="0" algn="r">
              <a:buNone/>
            </a:pPr>
            <a:r>
              <a:rPr lang="en-US" sz="1100" dirty="0">
                <a:solidFill>
                  <a:srgbClr val="8FA9C4"/>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320040"/>
            <a:ext cx="11277295" cy="640080"/>
          </a:xfrm>
          <a:prstGeom prst="rect">
            <a:avLst/>
          </a:prstGeom>
          <a:noFill/>
          <a:ln/>
        </p:spPr>
        <p:txBody>
          <a:bodyPr wrap="square" lIns="0" tIns="0" rIns="0" bIns="0" rtlCol="0" anchor="ctr"/>
          <a:lstStyle/>
          <a:p>
            <a:pPr marL="0" indent="0">
              <a:buNone/>
            </a:pPr>
            <a:r>
              <a:rPr lang="en-US" sz="2600" b="1" dirty="0">
                <a:solidFill>
                  <a:srgbClr val="1F4E79"/>
                </a:solidFill>
                <a:latin typeface="Cambria" pitchFamily="34" charset="0"/>
                <a:ea typeface="Cambria" pitchFamily="34" charset="-122"/>
                <a:cs typeface="Cambria" pitchFamily="34" charset="-120"/>
              </a:rPr>
              <a:t>References</a:t>
            </a:r>
            <a:endParaRPr lang="en-US" sz="2600" dirty="0"/>
          </a:p>
        </p:txBody>
      </p:sp>
      <p:sp>
        <p:nvSpPr>
          <p:cNvPr id="3" name="Text 1"/>
          <p:cNvSpPr txBox="1"/>
          <p:nvPr/>
        </p:nvSpPr>
        <p:spPr>
          <a:xfrm>
            <a:off x="457200" y="1463040"/>
            <a:ext cx="11277295" cy="914400"/>
          </a:xfrm>
          <a:prstGeom prst="rect">
            <a:avLst/>
          </a:prstGeom>
          <a:noFill/>
          <a:ln/>
        </p:spPr>
        <p:txBody>
          <a:bodyPr wrap="square" lIns="0" tIns="0" rIns="0" bIns="0" rtlCol="0" anchor="t"/>
          <a:lstStyle/>
          <a:p>
            <a:pPr marL="342900" indent="-342900">
              <a:buSzPct val="100000"/>
              <a:buChar char="•"/>
            </a:pPr>
            <a:r>
              <a:rPr lang="en-US" sz="1300" dirty="0">
                <a:solidFill>
                  <a:srgbClr val="262626"/>
                </a:solidFill>
                <a:latin typeface="Calibri" pitchFamily="34" charset="0"/>
                <a:ea typeface="Calibri" pitchFamily="34" charset="-122"/>
                <a:cs typeface="Calibri" pitchFamily="34" charset="-120"/>
              </a:rPr>
              <a:t>De Freitas, J., Oğuz-Uğuralp, Z., Uğuralp, A. K., &amp; Puntoni, S. (2026). AI companions reduce loneliness. Journal of Consumer Research, 52(6), 1126-1148. https://doi.org/10.1093/jcr/ucaf040</a:t>
            </a:r>
            <a:endParaRPr lang="en-US" sz="1300" dirty="0"/>
          </a:p>
        </p:txBody>
      </p:sp>
      <p:sp>
        <p:nvSpPr>
          <p:cNvPr id="4" name="Text 2"/>
          <p:cNvSpPr txBox="1"/>
          <p:nvPr/>
        </p:nvSpPr>
        <p:spPr>
          <a:xfrm>
            <a:off x="457200" y="2651760"/>
            <a:ext cx="11277295" cy="914400"/>
          </a:xfrm>
          <a:prstGeom prst="rect">
            <a:avLst/>
          </a:prstGeom>
          <a:noFill/>
          <a:ln/>
        </p:spPr>
        <p:txBody>
          <a:bodyPr wrap="square" lIns="0" tIns="0" rIns="0" bIns="0" rtlCol="0" anchor="t"/>
          <a:lstStyle/>
          <a:p>
            <a:pPr marL="342900" indent="-342900">
              <a:buSzPct val="100000"/>
              <a:buChar char="•"/>
            </a:pPr>
            <a:r>
              <a:rPr lang="en-US" sz="1300" dirty="0">
                <a:solidFill>
                  <a:srgbClr val="262626"/>
                </a:solidFill>
                <a:latin typeface="Calibri" pitchFamily="34" charset="0"/>
                <a:ea typeface="Calibri" pitchFamily="34" charset="-122"/>
                <a:cs typeface="Calibri" pitchFamily="34" charset="-120"/>
              </a:rPr>
              <a:t>Sharkey, A., &amp; Sharkey, N. (2012). Granny and the robots: Ethical issues in robot care for the elderly. Ethics and Information Technology, 14(1), 27-40. https://doi.org/10.1007/s10676-010-9234-6</a:t>
            </a:r>
            <a:endParaRPr lang="en-US" sz="1300" dirty="0"/>
          </a:p>
        </p:txBody>
      </p:sp>
      <p:sp>
        <p:nvSpPr>
          <p:cNvPr id="5" name="Text 3"/>
          <p:cNvSpPr txBox="1"/>
          <p:nvPr/>
        </p:nvSpPr>
        <p:spPr>
          <a:xfrm>
            <a:off x="11368735" y="6446520"/>
            <a:ext cx="457200" cy="320040"/>
          </a:xfrm>
          <a:prstGeom prst="rect">
            <a:avLst/>
          </a:prstGeom>
          <a:noFill/>
          <a:ln/>
        </p:spPr>
        <p:txBody>
          <a:bodyPr wrap="square" lIns="0" tIns="0" rIns="0" bIns="0" rtlCol="0" anchor="ctr"/>
          <a:lstStyle/>
          <a:p>
            <a:pPr marL="0" indent="0" algn="r">
              <a:buNone/>
            </a:pPr>
            <a:r>
              <a:rPr lang="en-US" sz="1100" dirty="0">
                <a:solidFill>
                  <a:srgbClr val="8FA9C4"/>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4E79"/>
        </a:solidFill>
        <a:effectLst/>
      </p:bgPr>
    </p:bg>
    <p:spTree>
      <p:nvGrpSpPr>
        <p:cNvPr id="1" name=""/>
        <p:cNvGrpSpPr/>
        <p:nvPr/>
      </p:nvGrpSpPr>
      <p:grpSpPr>
        <a:xfrm>
          <a:off x="0" y="0"/>
          <a:ext cx="0" cy="0"/>
          <a:chOff x="0" y="0"/>
          <a:chExt cx="0" cy="0"/>
        </a:xfrm>
      </p:grpSpPr>
      <p:sp>
        <p:nvSpPr>
          <p:cNvPr id="2" name="Text 0"/>
          <p:cNvSpPr txBox="1"/>
          <p:nvPr/>
        </p:nvSpPr>
        <p:spPr>
          <a:xfrm>
            <a:off x="457200" y="457200"/>
            <a:ext cx="11277295"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Conclusion</a:t>
            </a:r>
            <a:endParaRPr lang="en-US" sz="3200" dirty="0"/>
          </a:p>
        </p:txBody>
      </p:sp>
      <p:sp>
        <p:nvSpPr>
          <p:cNvPr id="3" name="Text 1"/>
          <p:cNvSpPr txBox="1"/>
          <p:nvPr/>
        </p:nvSpPr>
        <p:spPr>
          <a:xfrm>
            <a:off x="457200" y="1143000"/>
            <a:ext cx="11277295" cy="365760"/>
          </a:xfrm>
          <a:prstGeom prst="rect">
            <a:avLst/>
          </a:prstGeom>
          <a:noFill/>
          <a:ln/>
        </p:spPr>
        <p:txBody>
          <a:bodyPr wrap="square" lIns="0" tIns="0" rIns="0" bIns="0" rtlCol="0" anchor="ctr"/>
          <a:lstStyle/>
          <a:p>
            <a:pPr marL="0" indent="0">
              <a:buNone/>
            </a:pPr>
            <a:r>
              <a:rPr lang="en-US" sz="1500" i="1" dirty="0">
                <a:solidFill>
                  <a:srgbClr val="DDEBF7"/>
                </a:solidFill>
                <a:latin typeface="Calibri" pitchFamily="34" charset="0"/>
                <a:ea typeface="Calibri" pitchFamily="34" charset="-122"/>
                <a:cs typeface="Calibri" pitchFamily="34" charset="-120"/>
              </a:rPr>
              <a:t>Difficulties and open questions from this workshop</a:t>
            </a:r>
            <a:endParaRPr lang="en-US" sz="1500" dirty="0"/>
          </a:p>
        </p:txBody>
      </p:sp>
      <p:sp>
        <p:nvSpPr>
          <p:cNvPr id="4" name="Shape 2"/>
          <p:cNvSpPr/>
          <p:nvPr/>
        </p:nvSpPr>
        <p:spPr>
          <a:xfrm>
            <a:off x="457200" y="1737360"/>
            <a:ext cx="11277295" cy="4389120"/>
          </a:xfrm>
          <a:prstGeom prst="roundRect">
            <a:avLst>
              <a:gd name="adj" fmla="val 1667"/>
            </a:avLst>
          </a:prstGeom>
          <a:solidFill>
            <a:srgbClr val="FFFFFF"/>
          </a:solidFill>
          <a:ln/>
        </p:spPr>
      </p:sp>
      <p:sp>
        <p:nvSpPr>
          <p:cNvPr id="5" name="Text 3"/>
          <p:cNvSpPr txBox="1"/>
          <p:nvPr/>
        </p:nvSpPr>
        <p:spPr>
          <a:xfrm>
            <a:off x="868680" y="1965960"/>
            <a:ext cx="10454335" cy="3931920"/>
          </a:xfrm>
          <a:prstGeom prst="rect">
            <a:avLst/>
          </a:prstGeom>
          <a:noFill/>
          <a:ln/>
        </p:spPr>
        <p:txBody>
          <a:bodyPr wrap="square" lIns="0" tIns="0" rIns="0" bIns="0" rtlCol="0" anchor="t"/>
          <a:lstStyle/>
          <a:p>
            <a:pPr marL="279400" indent="-279400">
              <a:spcAft>
                <a:spcPts val="1200"/>
              </a:spcAft>
              <a:buSzPct val="100000"/>
              <a:buChar char="•"/>
            </a:pPr>
            <a:r>
              <a:rPr lang="en-US" sz="1600" dirty="0">
                <a:solidFill>
                  <a:srgbClr val="262626"/>
                </a:solidFill>
                <a:latin typeface="Calibri" pitchFamily="34" charset="0"/>
                <a:ea typeface="Calibri" pitchFamily="34" charset="-122"/>
                <a:cs typeface="Calibri" pitchFamily="34" charset="-120"/>
              </a:rPr>
              <a:t>The hardest part was that the evidence says Elara helps, yet the risks come from the same strength. The more comforting it is, the more families may step back.</a:t>
            </a:r>
            <a:endParaRPr lang="en-US" sz="1600" dirty="0"/>
          </a:p>
          <a:p>
            <a:pPr marL="279400" indent="-279400">
              <a:spcAft>
                <a:spcPts val="1200"/>
              </a:spcAft>
              <a:buSzPct val="100000"/>
              <a:buChar char="•"/>
            </a:pPr>
            <a:r>
              <a:rPr lang="en-US" sz="1600" dirty="0">
                <a:solidFill>
                  <a:srgbClr val="262626"/>
                </a:solidFill>
                <a:latin typeface="Calibri" pitchFamily="34" charset="0"/>
                <a:ea typeface="Calibri" pitchFamily="34" charset="-122"/>
                <a:cs typeface="Calibri" pitchFamily="34" charset="-120"/>
              </a:rPr>
              <a:t>Setting numbers like a 25% drop in family contact felt like a guess. I am not sure where the line between a helpful reminder and surveillance sits.</a:t>
            </a:r>
            <a:endParaRPr lang="en-US" sz="1600" dirty="0"/>
          </a:p>
          <a:p>
            <a:pPr marL="279400" indent="-279400">
              <a:spcAft>
                <a:spcPts val="1200"/>
              </a:spcAft>
              <a:buSzPct val="100000"/>
              <a:buChar char="•"/>
            </a:pPr>
            <a:r>
              <a:rPr lang="en-US" sz="1600" dirty="0">
                <a:solidFill>
                  <a:srgbClr val="262626"/>
                </a:solidFill>
                <a:latin typeface="Calibri" pitchFamily="34" charset="0"/>
                <a:ea typeface="Calibri" pitchFamily="34" charset="-122"/>
                <a:cs typeface="Calibri" pitchFamily="34" charset="-120"/>
              </a:rPr>
              <a:t>Consent for residents with cognitive decline is difficult. Can someone truly agree to being monitored by a companion they may believe is a person?</a:t>
            </a:r>
            <a:endParaRPr lang="en-US" sz="1600" dirty="0"/>
          </a:p>
          <a:p>
            <a:pPr marL="279400" indent="-279400">
              <a:spcAft>
                <a:spcPts val="1200"/>
              </a:spcAft>
              <a:buSzPct val="100000"/>
              <a:buChar char="•"/>
            </a:pPr>
            <a:r>
              <a:rPr lang="en-US" sz="1600" dirty="0">
                <a:solidFill>
                  <a:srgbClr val="262626"/>
                </a:solidFill>
                <a:latin typeface="Calibri" pitchFamily="34" charset="0"/>
                <a:ea typeface="Calibri" pitchFamily="34" charset="-122"/>
                <a:cs typeface="Calibri" pitchFamily="34" charset="-120"/>
              </a:rPr>
              <a:t>Open question: if a lonely person feels better, does it matter that the companion is not real, or is that the very problem?</a:t>
            </a:r>
            <a:endParaRPr lang="en-US" sz="1600" dirty="0"/>
          </a:p>
          <a:p>
            <a:pPr marL="279400" indent="-279400">
              <a:spcAft>
                <a:spcPts val="1200"/>
              </a:spcAft>
              <a:buSzPct val="100000"/>
              <a:buChar char="•"/>
            </a:pPr>
            <a:r>
              <a:rPr lang="en-US" sz="1600" dirty="0">
                <a:solidFill>
                  <a:srgbClr val="262626"/>
                </a:solidFill>
                <a:latin typeface="Calibri" pitchFamily="34" charset="0"/>
                <a:ea typeface="Calibri" pitchFamily="34" charset="-122"/>
                <a:cs typeface="Calibri" pitchFamily="34" charset="-120"/>
              </a:rPr>
              <a:t>Open question: who should decide when a company must keep supporting a companion product like this, instead of just shutting it down?</a:t>
            </a:r>
            <a:endParaRPr lang="en-US" sz="1600" dirty="0"/>
          </a:p>
        </p:txBody>
      </p:sp>
      <p:sp>
        <p:nvSpPr>
          <p:cNvPr id="6" name="Text 4"/>
          <p:cNvSpPr txBox="1"/>
          <p:nvPr/>
        </p:nvSpPr>
        <p:spPr>
          <a:xfrm>
            <a:off x="11368735" y="6446520"/>
            <a:ext cx="457200" cy="320040"/>
          </a:xfrm>
          <a:prstGeom prst="rect">
            <a:avLst/>
          </a:prstGeom>
          <a:noFill/>
          <a:ln/>
        </p:spPr>
        <p:txBody>
          <a:bodyPr wrap="square" lIns="0" tIns="0" rIns="0" bIns="0" rtlCol="0" anchor="ctr"/>
          <a:lstStyle/>
          <a:p>
            <a:pPr marL="0" indent="0" algn="r">
              <a:buNone/>
            </a:pPr>
            <a:r>
              <a:rPr lang="en-US" sz="1100" dirty="0">
                <a:solidFill>
                  <a:srgbClr val="8FA9C4"/>
                </a:solidFill>
                <a:latin typeface="Calibri" pitchFamily="34" charset="0"/>
                <a:ea typeface="Calibri" pitchFamily="34" charset="-122"/>
                <a:cs typeface="Calibri" pitchFamily="34" charset="-120"/>
              </a:rPr>
              <a:t>9</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1154</Words>
  <Application>Microsoft Office PowerPoint</Application>
  <PresentationFormat>Widescreen</PresentationFormat>
  <Paragraphs>120</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 K</cp:lastModifiedBy>
  <cp:revision>2</cp:revision>
  <dcterms:created xsi:type="dcterms:W3CDTF">2026-10-08T19:50:02Z</dcterms:created>
  <dcterms:modified xsi:type="dcterms:W3CDTF">2026-10-09T01:03:43Z</dcterms:modified>
</cp:coreProperties>
</file>